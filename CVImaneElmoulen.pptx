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241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D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2"/>
    <p:restoredTop sz="94586"/>
  </p:normalViewPr>
  <p:slideViewPr>
    <p:cSldViewPr snapToGrid="0" snapToObjects="1">
      <p:cViewPr varScale="1">
        <p:scale>
          <a:sx n="102" d="100"/>
          <a:sy n="102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 Moul, Imane" userId="f1b25f33-0674-4437-8977-4da522b4ca1b" providerId="ADAL" clId="{927ABF5E-2672-0F4A-B666-8523BEBE0467}"/>
    <pc:docChg chg="modSld">
      <pc:chgData name="El Moul, Imane" userId="f1b25f33-0674-4437-8977-4da522b4ca1b" providerId="ADAL" clId="{927ABF5E-2672-0F4A-B666-8523BEBE0467}" dt="2025-02-05T09:42:15.097" v="5" actId="20577"/>
      <pc:docMkLst>
        <pc:docMk/>
      </pc:docMkLst>
      <pc:sldChg chg="modSp mod">
        <pc:chgData name="El Moul, Imane" userId="f1b25f33-0674-4437-8977-4da522b4ca1b" providerId="ADAL" clId="{927ABF5E-2672-0F4A-B666-8523BEBE0467}" dt="2025-02-05T09:42:15.097" v="5" actId="20577"/>
        <pc:sldMkLst>
          <pc:docMk/>
          <pc:sldMk cId="4100024143" sldId="3241"/>
        </pc:sldMkLst>
        <pc:spChg chg="mod">
          <ac:chgData name="El Moul, Imane" userId="f1b25f33-0674-4437-8977-4da522b4ca1b" providerId="ADAL" clId="{927ABF5E-2672-0F4A-B666-8523BEBE0467}" dt="2025-02-05T09:42:15.097" v="5" actId="20577"/>
          <ac:spMkLst>
            <pc:docMk/>
            <pc:sldMk cId="4100024143" sldId="3241"/>
            <ac:spMk id="8" creationId="{1650E4EA-931C-3704-AA72-312268945C08}"/>
          </ac:spMkLst>
        </pc:spChg>
      </pc:sldChg>
    </pc:docChg>
  </pc:docChgLst>
  <pc:docChgLst>
    <pc:chgData name="El Moul, Imane" userId="f1b25f33-0674-4437-8977-4da522b4ca1b" providerId="ADAL" clId="{35846DF2-D6CF-494B-B157-A490E410A4C3}"/>
    <pc:docChg chg="undo custSel modSld">
      <pc:chgData name="El Moul, Imane" userId="f1b25f33-0674-4437-8977-4da522b4ca1b" providerId="ADAL" clId="{35846DF2-D6CF-494B-B157-A490E410A4C3}" dt="2024-10-01T08:51:21.072" v="352" actId="1076"/>
      <pc:docMkLst>
        <pc:docMk/>
      </pc:docMkLst>
      <pc:sldChg chg="addSp delSp modSp mod">
        <pc:chgData name="El Moul, Imane" userId="f1b25f33-0674-4437-8977-4da522b4ca1b" providerId="ADAL" clId="{35846DF2-D6CF-494B-B157-A490E410A4C3}" dt="2024-10-01T08:51:21.072" v="352" actId="1076"/>
        <pc:sldMkLst>
          <pc:docMk/>
          <pc:sldMk cId="4100024143" sldId="3241"/>
        </pc:sldMkLst>
      </pc:sldChg>
    </pc:docChg>
  </pc:docChgLst>
  <pc:docChgLst>
    <pc:chgData name="El Moul, Imane" userId="f1b25f33-0674-4437-8977-4da522b4ca1b" providerId="ADAL" clId="{9962AA43-89A1-E543-8B2C-B303D56CE11B}"/>
    <pc:docChg chg="modSld">
      <pc:chgData name="El Moul, Imane" userId="f1b25f33-0674-4437-8977-4da522b4ca1b" providerId="ADAL" clId="{9962AA43-89A1-E543-8B2C-B303D56CE11B}" dt="2024-10-28T13:33:25.062" v="29" actId="1035"/>
      <pc:docMkLst>
        <pc:docMk/>
      </pc:docMkLst>
      <pc:sldChg chg="modSp mod">
        <pc:chgData name="El Moul, Imane" userId="f1b25f33-0674-4437-8977-4da522b4ca1b" providerId="ADAL" clId="{9962AA43-89A1-E543-8B2C-B303D56CE11B}" dt="2024-10-28T13:33:25.062" v="29" actId="1035"/>
        <pc:sldMkLst>
          <pc:docMk/>
          <pc:sldMk cId="4100024143" sldId="324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8F2F4-5040-4249-96F1-D4AFFE1B5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FC36D5-BAE7-E447-98C3-A335C7DDD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3EB396-0AAE-0B44-AC15-92E7E736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CB2648-9A65-0F4F-A541-434F96C2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1386CF-B6A5-BA40-A781-26862B3C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17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64EF70-07C7-A249-81C8-94C16CF5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7E7980-0384-3F44-89B1-67C917317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C368D9-A2DF-AE4C-B03B-5617BB57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5665B4-72D5-524D-8F5C-9E302840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EFFD14-EA69-A44E-9E81-58CB5AA1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56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408109-095B-3349-9B1D-AD5BB1E2F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31FFA4-E372-EA41-8CC7-C8A919575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E3111E-3311-3E41-8707-5FA5F97C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183363-90FD-B74E-943C-76CFCCD5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D92DD-C332-CF4B-A608-19B5E9B7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997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195CB-08B5-7F45-8D31-7632B456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59F51B-A5C4-5547-ABB5-CD9631458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9810EA-ABF0-6A4C-AD0F-85C5D615B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266FDE-FD4D-0C40-8B43-F03B2467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B3C268-433A-0349-B9C1-8C4909DD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E70FD2-9B02-A040-A1C6-0A5F1B21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819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F7C14-6215-924C-9474-E4231109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07C1AC-D518-4340-82EC-09D2B9B26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E1C5E0-E547-8747-8536-52BD8B6B2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4BD86E-0911-6B48-90A3-2D15CE608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948A9C5-7A44-0249-8D46-40A637CF2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66D873F-8CC7-2244-8FC4-326B9D4E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276C6B2-5D83-A24C-92A1-5995149C1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793D71-60DE-104E-A511-0ECB3889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795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F4EA29-93D3-5F4A-ACED-35EF57C7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33B55EC-860A-3F41-9600-69F15A20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F87092-DF3A-7540-BA8F-F21E0FA1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5297D5-D6B5-7A4C-9DA6-B85F7E75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65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A4C40CE-41CD-AE4D-A5B4-2A512645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23E572-4151-F14B-9668-D9FD18BFF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A7A2BC-7810-C54C-89B5-F0D75FF7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13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A2C69-B0ED-5D47-B993-44C8C9FE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C8817C-9094-A74E-8B57-22E09DAA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92AD2C-CFFC-EC40-9879-072B032A6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40F2F4-1F60-0248-883F-B519971D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9CE3E0-CD16-BA43-8F4B-ADD2D72E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98EA3C-91B0-6D4B-ABBA-AEF3074C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573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3B6504-89DC-E54F-9532-40845C84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98F0C99-CC81-AA49-84A9-5ED302E3E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F9DFFA-E83B-4E42-BEBD-30E77AB1D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F44029-60F2-7843-8DE5-B87ED953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DA3671-FD52-A641-8DB6-E2DD60DA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2072D0-3B6B-AF41-91C2-C1C25476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A8237-E5C0-5242-BBAA-476AE38A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2E5492-01B0-9D48-A840-CAC424823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9A0C55-17D1-4743-BCD3-00DE015B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49DF55-4F95-0044-B2B6-32FB16A6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8E673D-8EDB-7949-890A-656041D9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20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A457AD5-FD7B-1641-818D-7A48640B3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DCAD1D-F9EB-6C4D-9187-3F408498D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6FA76B-2676-404B-83B4-3674CB79B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26D39D-BC1C-2F48-8D37-FE22310A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93ECFB-94BD-BA48-846D-DB7DFA50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632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head: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EC5EC5A-100A-7147-B3DC-6BBBC38A8B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2959100"/>
            <a:ext cx="3009900" cy="171450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/>
            </a:lvl1pPr>
          </a:lstStyle>
          <a:p>
            <a:pPr lvl="0"/>
            <a:r>
              <a:rPr lang="en-US"/>
              <a:t>7 lines running intro text. Morbi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, porta ac </a:t>
            </a:r>
            <a:r>
              <a:rPr lang="en-US" err="1"/>
              <a:t>consectetur</a:t>
            </a:r>
            <a:r>
              <a:rPr lang="en-US"/>
              <a:t> ac, vestibulum at eros. Donec sed </a:t>
            </a:r>
            <a:r>
              <a:rPr lang="en-US" err="1"/>
              <a:t>odio</a:t>
            </a:r>
            <a:r>
              <a:rPr lang="en-US"/>
              <a:t> dui. </a:t>
            </a:r>
            <a:r>
              <a:rPr lang="en-US" err="1"/>
              <a:t>odio</a:t>
            </a:r>
            <a:r>
              <a:rPr lang="en-US"/>
              <a:t> dui.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cursus magna, vel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et. Sed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at </a:t>
            </a:r>
            <a:r>
              <a:rPr lang="en-US" err="1"/>
              <a:t>lobortis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cursus magna, vel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et.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0A1F4-8F2A-B944-8910-489459DDC3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571500"/>
            <a:ext cx="3009900" cy="2190750"/>
          </a:xfrm>
        </p:spPr>
        <p:txBody>
          <a:bodyPr anchor="b"/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n-US"/>
              <a:t>Click to edit slide heading</a:t>
            </a:r>
          </a:p>
        </p:txBody>
      </p:sp>
    </p:spTree>
    <p:extLst>
      <p:ext uri="{BB962C8B-B14F-4D97-AF65-F5344CB8AC3E}">
        <p14:creationId xmlns:p14="http://schemas.microsoft.com/office/powerpoint/2010/main" val="218048278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EE1B78-63CC-344A-87A5-4D78D6EA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928ACD-83FB-0D46-96FA-C562167EA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C05834-54CB-8F4E-B285-41B3918A0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8531F-1A05-BA49-872D-7D3DD55460DE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7DCD17-658A-4546-B8B1-9D7CC7159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437AAE-AC26-B94B-8427-C71AB769F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47EFA-7107-1240-9CF5-7541002293C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16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About…">
            <a:extLst>
              <a:ext uri="{FF2B5EF4-FFF2-40B4-BE49-F238E27FC236}">
                <a16:creationId xmlns:a16="http://schemas.microsoft.com/office/drawing/2014/main" id="{A6A6C634-E5EB-094C-96E1-2BDA1425C628}"/>
              </a:ext>
            </a:extLst>
          </p:cNvPr>
          <p:cNvSpPr txBox="1"/>
          <p:nvPr/>
        </p:nvSpPr>
        <p:spPr>
          <a:xfrm>
            <a:off x="2744920" y="5715389"/>
            <a:ext cx="4099595" cy="236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marL="0" lvl="2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en-GB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Frensh</a:t>
            </a:r>
            <a:r>
              <a:rPr lang="en-GB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– English - Arabic</a:t>
            </a:r>
            <a:endParaRPr lang="en-GB" sz="1200" dirty="0">
              <a:solidFill>
                <a:srgbClr val="000000"/>
              </a:solidFill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61" name="About…">
            <a:extLst>
              <a:ext uri="{FF2B5EF4-FFF2-40B4-BE49-F238E27FC236}">
                <a16:creationId xmlns:a16="http://schemas.microsoft.com/office/drawing/2014/main" id="{446D9C5B-4694-A04F-99D3-6F1543C628A8}"/>
              </a:ext>
            </a:extLst>
          </p:cNvPr>
          <p:cNvSpPr txBox="1"/>
          <p:nvPr/>
        </p:nvSpPr>
        <p:spPr>
          <a:xfrm>
            <a:off x="3302605" y="5357482"/>
            <a:ext cx="1874398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200" dirty="0"/>
              <a:t>langages</a:t>
            </a:r>
          </a:p>
        </p:txBody>
      </p:sp>
      <p:pic>
        <p:nvPicPr>
          <p:cNvPr id="46" name="Picture 20">
            <a:extLst>
              <a:ext uri="{FF2B5EF4-FFF2-40B4-BE49-F238E27FC236}">
                <a16:creationId xmlns:a16="http://schemas.microsoft.com/office/drawing/2014/main" id="{4EE7EE9F-DAEC-E542-B57E-6C8DABE6616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11840783" y="0"/>
            <a:ext cx="351217" cy="6858000"/>
          </a:xfrm>
          <a:prstGeom prst="rect">
            <a:avLst/>
          </a:prstGeom>
        </p:spPr>
      </p:pic>
      <p:sp>
        <p:nvSpPr>
          <p:cNvPr id="47" name="Studio Lead">
            <a:extLst>
              <a:ext uri="{FF2B5EF4-FFF2-40B4-BE49-F238E27FC236}">
                <a16:creationId xmlns:a16="http://schemas.microsoft.com/office/drawing/2014/main" id="{1EE7651B-2FF5-4C42-A54E-BCB23C01E80B}"/>
              </a:ext>
            </a:extLst>
          </p:cNvPr>
          <p:cNvSpPr txBox="1"/>
          <p:nvPr/>
        </p:nvSpPr>
        <p:spPr>
          <a:xfrm>
            <a:off x="497602" y="4728783"/>
            <a:ext cx="2283723" cy="44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lnSpc>
                <a:spcPct val="1100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fr-FR" sz="1200" dirty="0" err="1"/>
              <a:t>Mulesoft</a:t>
            </a:r>
            <a:r>
              <a:rPr lang="fr-FR" sz="1200" dirty="0"/>
              <a:t>/Salesforce</a:t>
            </a:r>
          </a:p>
          <a:p>
            <a:r>
              <a:rPr lang="fr-FR" sz="1200" dirty="0"/>
              <a:t>Consultant</a:t>
            </a:r>
          </a:p>
        </p:txBody>
      </p:sp>
      <p:sp>
        <p:nvSpPr>
          <p:cNvPr id="51" name="Studio Lead">
            <a:extLst>
              <a:ext uri="{FF2B5EF4-FFF2-40B4-BE49-F238E27FC236}">
                <a16:creationId xmlns:a16="http://schemas.microsoft.com/office/drawing/2014/main" id="{4CFAA0C0-E343-C24A-9EE0-B0909695E587}"/>
              </a:ext>
            </a:extLst>
          </p:cNvPr>
          <p:cNvSpPr txBox="1"/>
          <p:nvPr/>
        </p:nvSpPr>
        <p:spPr>
          <a:xfrm>
            <a:off x="497603" y="3792778"/>
            <a:ext cx="1826286" cy="841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lnSpc>
                <a:spcPct val="1100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fr-FR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Imane</a:t>
            </a:r>
          </a:p>
          <a:p>
            <a:r>
              <a:rPr lang="fr-FR" sz="24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EL MOUL</a:t>
            </a:r>
            <a:endParaRPr lang="fr-FR" sz="24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2" name="Straight Connector 52">
            <a:extLst>
              <a:ext uri="{FF2B5EF4-FFF2-40B4-BE49-F238E27FC236}">
                <a16:creationId xmlns:a16="http://schemas.microsoft.com/office/drawing/2014/main" id="{72C35DAC-7E28-EA4E-AB5D-241F7E246651}"/>
              </a:ext>
            </a:extLst>
          </p:cNvPr>
          <p:cNvCxnSpPr>
            <a:cxnSpLocks/>
          </p:cNvCxnSpPr>
          <p:nvPr/>
        </p:nvCxnSpPr>
        <p:spPr>
          <a:xfrm flipH="1">
            <a:off x="2781326" y="677265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bout…">
            <a:extLst>
              <a:ext uri="{FF2B5EF4-FFF2-40B4-BE49-F238E27FC236}">
                <a16:creationId xmlns:a16="http://schemas.microsoft.com/office/drawing/2014/main" id="{1B7E2BB2-6866-1040-BA82-642BA448E82D}"/>
              </a:ext>
            </a:extLst>
          </p:cNvPr>
          <p:cNvSpPr txBox="1"/>
          <p:nvPr/>
        </p:nvSpPr>
        <p:spPr>
          <a:xfrm>
            <a:off x="3280953" y="2821024"/>
            <a:ext cx="2793396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200" dirty="0" err="1">
                <a:latin typeface="Open Sans Bold"/>
                <a:ea typeface="Open Sans Bold"/>
                <a:cs typeface="Open Sans Bold"/>
              </a:rPr>
              <a:t>Career</a:t>
            </a:r>
            <a:r>
              <a:rPr lang="fr-FR" sz="1200" dirty="0">
                <a:latin typeface="Open Sans Bold"/>
                <a:ea typeface="Open Sans Bold"/>
                <a:cs typeface="Open Sans Bold"/>
              </a:rPr>
              <a:t> Path and Education</a:t>
            </a:r>
          </a:p>
        </p:txBody>
      </p:sp>
      <p:sp>
        <p:nvSpPr>
          <p:cNvPr id="56" name="About…">
            <a:extLst>
              <a:ext uri="{FF2B5EF4-FFF2-40B4-BE49-F238E27FC236}">
                <a16:creationId xmlns:a16="http://schemas.microsoft.com/office/drawing/2014/main" id="{7DCE1DF3-E2EB-9C4B-9509-CC5156743034}"/>
              </a:ext>
            </a:extLst>
          </p:cNvPr>
          <p:cNvSpPr txBox="1"/>
          <p:nvPr/>
        </p:nvSpPr>
        <p:spPr>
          <a:xfrm>
            <a:off x="3302605" y="556698"/>
            <a:ext cx="1587441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200" dirty="0" err="1"/>
              <a:t>Abount</a:t>
            </a:r>
            <a:r>
              <a:rPr lang="fr-FR" sz="1200" dirty="0"/>
              <a:t> Me</a:t>
            </a:r>
          </a:p>
        </p:txBody>
      </p:sp>
      <p:sp>
        <p:nvSpPr>
          <p:cNvPr id="59" name="About…">
            <a:extLst>
              <a:ext uri="{FF2B5EF4-FFF2-40B4-BE49-F238E27FC236}">
                <a16:creationId xmlns:a16="http://schemas.microsoft.com/office/drawing/2014/main" id="{B483751B-FC47-1542-B9C0-878EEDA29244}"/>
              </a:ext>
            </a:extLst>
          </p:cNvPr>
          <p:cNvSpPr txBox="1"/>
          <p:nvPr/>
        </p:nvSpPr>
        <p:spPr>
          <a:xfrm>
            <a:off x="7841435" y="556700"/>
            <a:ext cx="2375705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lang="fr-FR" sz="1200" dirty="0" err="1"/>
              <a:t>Skills</a:t>
            </a:r>
            <a:endParaRPr lang="fr-FR" sz="1200" dirty="0"/>
          </a:p>
        </p:txBody>
      </p:sp>
      <p:sp>
        <p:nvSpPr>
          <p:cNvPr id="63" name="About…">
            <a:extLst>
              <a:ext uri="{FF2B5EF4-FFF2-40B4-BE49-F238E27FC236}">
                <a16:creationId xmlns:a16="http://schemas.microsoft.com/office/drawing/2014/main" id="{F508D63A-217B-C74E-8239-DD7511CFF103}"/>
              </a:ext>
            </a:extLst>
          </p:cNvPr>
          <p:cNvSpPr txBox="1"/>
          <p:nvPr/>
        </p:nvSpPr>
        <p:spPr>
          <a:xfrm>
            <a:off x="7781677" y="4795050"/>
            <a:ext cx="2056032" cy="23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r>
              <a:rPr lang="fr-FR" sz="1200" dirty="0">
                <a:latin typeface="Open Sans Bold"/>
                <a:ea typeface="Open Sans Bold"/>
                <a:cs typeface="Open Sans Bold"/>
              </a:rPr>
              <a:t>Principal</a:t>
            </a:r>
            <a:r>
              <a:rPr lang="fr-FR" sz="1050" b="1" dirty="0"/>
              <a:t> </a:t>
            </a:r>
            <a:r>
              <a:rPr lang="fr-FR" sz="1200" dirty="0">
                <a:latin typeface="Open Sans Bold"/>
                <a:ea typeface="Open Sans Bold"/>
                <a:cs typeface="Open Sans Bold"/>
              </a:rPr>
              <a:t>Clients</a:t>
            </a:r>
          </a:p>
        </p:txBody>
      </p:sp>
      <p:cxnSp>
        <p:nvCxnSpPr>
          <p:cNvPr id="65" name="Straight Connector 52">
            <a:extLst>
              <a:ext uri="{FF2B5EF4-FFF2-40B4-BE49-F238E27FC236}">
                <a16:creationId xmlns:a16="http://schemas.microsoft.com/office/drawing/2014/main" id="{10095D3A-E1E2-FE4C-BF9A-39FC3288CB31}"/>
              </a:ext>
            </a:extLst>
          </p:cNvPr>
          <p:cNvCxnSpPr>
            <a:cxnSpLocks/>
          </p:cNvCxnSpPr>
          <p:nvPr/>
        </p:nvCxnSpPr>
        <p:spPr>
          <a:xfrm flipH="1">
            <a:off x="2759674" y="2954445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52">
            <a:extLst>
              <a:ext uri="{FF2B5EF4-FFF2-40B4-BE49-F238E27FC236}">
                <a16:creationId xmlns:a16="http://schemas.microsoft.com/office/drawing/2014/main" id="{13E9A055-F7B3-CD44-B15D-8930FC1451C0}"/>
              </a:ext>
            </a:extLst>
          </p:cNvPr>
          <p:cNvCxnSpPr>
            <a:cxnSpLocks/>
          </p:cNvCxnSpPr>
          <p:nvPr/>
        </p:nvCxnSpPr>
        <p:spPr>
          <a:xfrm flipH="1">
            <a:off x="2763123" y="5503966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52">
            <a:extLst>
              <a:ext uri="{FF2B5EF4-FFF2-40B4-BE49-F238E27FC236}">
                <a16:creationId xmlns:a16="http://schemas.microsoft.com/office/drawing/2014/main" id="{9A5BC44D-F853-9042-A8F8-533083E3C50B}"/>
              </a:ext>
            </a:extLst>
          </p:cNvPr>
          <p:cNvCxnSpPr>
            <a:cxnSpLocks/>
          </p:cNvCxnSpPr>
          <p:nvPr/>
        </p:nvCxnSpPr>
        <p:spPr>
          <a:xfrm flipH="1">
            <a:off x="7301955" y="681221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52">
            <a:extLst>
              <a:ext uri="{FF2B5EF4-FFF2-40B4-BE49-F238E27FC236}">
                <a16:creationId xmlns:a16="http://schemas.microsoft.com/office/drawing/2014/main" id="{320EAA41-DBD8-4F4D-8E30-C3AF31587B8D}"/>
              </a:ext>
            </a:extLst>
          </p:cNvPr>
          <p:cNvCxnSpPr>
            <a:cxnSpLocks/>
          </p:cNvCxnSpPr>
          <p:nvPr/>
        </p:nvCxnSpPr>
        <p:spPr>
          <a:xfrm flipH="1">
            <a:off x="7242197" y="4946281"/>
            <a:ext cx="422119" cy="0"/>
          </a:xfrm>
          <a:prstGeom prst="line">
            <a:avLst/>
          </a:prstGeom>
          <a:ln w="19050">
            <a:solidFill>
              <a:srgbClr val="9DD4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36E14F0-C9E3-1D48-AECD-F1B7A26457D1}"/>
              </a:ext>
            </a:extLst>
          </p:cNvPr>
          <p:cNvSpPr/>
          <p:nvPr/>
        </p:nvSpPr>
        <p:spPr>
          <a:xfrm>
            <a:off x="497602" y="662340"/>
            <a:ext cx="1826287" cy="27427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ED9F2F1-5B06-DD4C-A6FD-E51440976500}"/>
              </a:ext>
            </a:extLst>
          </p:cNvPr>
          <p:cNvSpPr txBox="1"/>
          <p:nvPr/>
        </p:nvSpPr>
        <p:spPr>
          <a:xfrm>
            <a:off x="1039008" y="1849049"/>
            <a:ext cx="743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Photo</a:t>
            </a:r>
          </a:p>
        </p:txBody>
      </p:sp>
      <p:sp>
        <p:nvSpPr>
          <p:cNvPr id="11" name="Deloitte Digital…">
            <a:extLst>
              <a:ext uri="{FF2B5EF4-FFF2-40B4-BE49-F238E27FC236}">
                <a16:creationId xmlns:a16="http://schemas.microsoft.com/office/drawing/2014/main" id="{5576BAEE-8FFE-C315-59A9-028AFA806336}"/>
              </a:ext>
            </a:extLst>
          </p:cNvPr>
          <p:cNvSpPr txBox="1"/>
          <p:nvPr/>
        </p:nvSpPr>
        <p:spPr>
          <a:xfrm>
            <a:off x="499867" y="5256548"/>
            <a:ext cx="1824022" cy="649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10000"/>
              </a:lnSpc>
              <a:defRPr sz="2200" b="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rPr sz="1200" dirty="0"/>
              <a:t>Deloitte Digital</a:t>
            </a:r>
          </a:p>
          <a:p>
            <a:pPr algn="l">
              <a:lnSpc>
                <a:spcPct val="1100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pPr>
            <a:r>
              <a:rPr sz="1200" dirty="0"/>
              <a:t>+33</a:t>
            </a:r>
            <a:r>
              <a:rPr lang="fr-FR" sz="1200" dirty="0"/>
              <a:t> 6 05 67 5118</a:t>
            </a:r>
          </a:p>
          <a:p>
            <a:pPr algn="l">
              <a:lnSpc>
                <a:spcPct val="1100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fr-FR" sz="1200" dirty="0" err="1"/>
              <a:t>ielmoul@deloitte.fr</a:t>
            </a:r>
            <a:endParaRPr sz="1200" dirty="0"/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F39756EA-799A-0473-9AF2-87A9EF258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391" y="1025627"/>
            <a:ext cx="4120124" cy="1638298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ts val="1500"/>
              </a:lnSpc>
              <a:defRPr sz="2200" b="0">
                <a:latin typeface="Open Sans"/>
                <a:ea typeface="Open Sans"/>
                <a:cs typeface="Open Sans"/>
                <a:sym typeface="Open Sans"/>
              </a:defRPr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Imane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is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 consultant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specializing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in Salesforce and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MuleSoft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She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joined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Deloitte Digital in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February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2021 as an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intern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where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she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discovered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Salesforce and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then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MuleSoft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Imane has a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strong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technical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background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that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allows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her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to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address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various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technical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requests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and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quickly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new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skills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when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needed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She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also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has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functional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expertise,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enabling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her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to support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her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clients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from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the design phase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through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to solution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implementation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9A059DB-8F3B-94DE-4D5B-C257D0D30A90}"/>
              </a:ext>
            </a:extLst>
          </p:cNvPr>
          <p:cNvSpPr txBox="1">
            <a:spLocks/>
          </p:cNvSpPr>
          <p:nvPr/>
        </p:nvSpPr>
        <p:spPr>
          <a:xfrm>
            <a:off x="2744920" y="3091705"/>
            <a:ext cx="4099595" cy="11558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9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Since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February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8, 2021: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Technical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Consultant in Salesforce/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MuleSoft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at Deloitte Digital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2021: Engineering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degree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in Software Engineering – ENSIIE</a:t>
            </a:r>
            <a:b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2018: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two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years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degree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in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Systems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and Network Administration – ESTO</a:t>
            </a:r>
          </a:p>
          <a:p>
            <a:pPr algn="just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2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Certification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 marL="171450" indent="-171450" algn="just" fontAlgn="base"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Mulesoft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certified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developer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–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level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1</a:t>
            </a:r>
          </a:p>
          <a:p>
            <a:pPr marL="171450" indent="-171450" algn="just" fontAlgn="base"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Mulesoft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certified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developer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–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level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2</a:t>
            </a:r>
          </a:p>
          <a:p>
            <a:pPr marL="171450" indent="-171450" algn="just" fontAlgn="base"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Associate Salesforce and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Mulesoft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marL="171450" indent="-171450" algn="just" fontAlgn="base"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Salesforce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Associsate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IA.</a:t>
            </a:r>
            <a:endParaRPr lang="fr-FR" sz="1000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lvl="2" indent="0" algn="just" defTabSz="91440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fr-FR" sz="1000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59B478D2-6C16-FCB9-0F1E-CBEB5B563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5494" y="911025"/>
            <a:ext cx="4685289" cy="374854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fr-FR" sz="1100" b="1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Technical</a:t>
            </a:r>
            <a:r>
              <a:rPr lang="fr-FR" sz="11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100" b="1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Skills</a:t>
            </a:r>
            <a:r>
              <a:rPr lang="fr-FR" sz="11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</a:p>
          <a:p>
            <a:endParaRPr lang="fr-FR" sz="1200" b="1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171450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Apex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Development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(Classes, Triggers, Test Classes)</a:t>
            </a:r>
          </a:p>
          <a:p>
            <a:pPr marL="171450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Salesforce Administration (Flow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Creation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Salesforce Platform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Customization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</a:t>
            </a:r>
          </a:p>
          <a:p>
            <a:pPr marL="171450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API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Development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with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MuleSoft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on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Anypoint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Studio</a:t>
            </a:r>
          </a:p>
          <a:p>
            <a:pPr marL="171450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APIManagement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on API Manager (RAML Design, Security, Access Management, etc.)</a:t>
            </a:r>
          </a:p>
          <a:p>
            <a:pPr marL="171450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Development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of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MUnit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Unit Tests</a:t>
            </a:r>
          </a:p>
          <a:p>
            <a:pPr marL="171450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Technical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Performance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Testing</a:t>
            </a:r>
            <a:endParaRPr lang="fr-FR" sz="1200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171450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Git: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Deployment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with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Pipelines</a:t>
            </a:r>
          </a:p>
          <a:p>
            <a:pPr marL="171450" indent="-17145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Kafka</a:t>
            </a:r>
          </a:p>
          <a:p>
            <a:endParaRPr lang="fr-FR" sz="1200" b="1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1100" b="1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Functional</a:t>
            </a:r>
            <a:r>
              <a:rPr lang="fr-FR" sz="11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100" b="1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Skills</a:t>
            </a:r>
            <a:r>
              <a:rPr lang="fr-FR" sz="1100" b="1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Supporting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clients in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defining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their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needs</a:t>
            </a:r>
            <a:endParaRPr lang="fr-FR" sz="1200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Conducting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functional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testing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and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identifying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pain points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Creating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technical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specifications</a:t>
            </a:r>
            <a:endParaRPr lang="fr-FR" sz="1200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Defining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use cases, 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prioritization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and estimation</a:t>
            </a:r>
          </a:p>
          <a:p>
            <a:pPr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</a:pPr>
            <a:endParaRPr lang="fr-FR" sz="1200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1650E4EA-931C-3704-AA72-312268945C08}"/>
              </a:ext>
            </a:extLst>
          </p:cNvPr>
          <p:cNvSpPr txBox="1">
            <a:spLocks/>
          </p:cNvSpPr>
          <p:nvPr/>
        </p:nvSpPr>
        <p:spPr>
          <a:xfrm>
            <a:off x="7202999" y="5173934"/>
            <a:ext cx="4811832" cy="11975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9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defTabSz="91440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buNone/>
              <a:defRPr/>
            </a:pPr>
            <a:endParaRPr lang="fr-FR" sz="1200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2" defTabSz="91440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Boulanger</a:t>
            </a:r>
          </a:p>
          <a:p>
            <a:pPr lvl="2" defTabSz="91440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Olympic/</a:t>
            </a:r>
            <a:r>
              <a:rPr lang="fr-FR" sz="1200" dirty="0" err="1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Paralympic</a:t>
            </a: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Games Paris 2024</a:t>
            </a:r>
          </a:p>
          <a:p>
            <a:pPr lvl="2" defTabSz="91440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Toray</a:t>
            </a:r>
          </a:p>
          <a:p>
            <a:pPr lvl="2" defTabSz="91440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SzPct val="50000"/>
              <a:defRPr/>
            </a:pPr>
            <a:r>
              <a:rPr lang="fr-FR" sz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Vallourec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1836A64-E5E7-FBE5-ECEC-8650FE834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26" y="653110"/>
            <a:ext cx="1827703" cy="274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2414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cteur_x0020_d_x0027_activit_x00e9_ xmlns="219e5075-d7ea-4fe6-b14c-de5cb05f7e51" xsi:nil="true"/>
    <Tribu xmlns="219e5075-d7ea-4fe6-b14c-de5cb05f7e51" xsi:nil="true"/>
    <Methode xmlns="219e5075-d7ea-4fe6-b14c-de5cb05f7e51" xsi:nil="true"/>
    <TaxCatchAll xmlns="fa55e756-efee-41bb-bac7-0c7530776ae9" xsi:nil="true"/>
    <lcf76f155ced4ddcb4097134ff3c332f xmlns="219e5075-d7ea-4fe6-b14c-de5cb05f7e5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6BBFE413087D428BD8EE5DF5897624" ma:contentTypeVersion="26" ma:contentTypeDescription="Crée un document." ma:contentTypeScope="" ma:versionID="5dc0e1711b83c98385370027ea8e4333">
  <xsd:schema xmlns:xsd="http://www.w3.org/2001/XMLSchema" xmlns:xs="http://www.w3.org/2001/XMLSchema" xmlns:p="http://schemas.microsoft.com/office/2006/metadata/properties" xmlns:ns2="219e5075-d7ea-4fe6-b14c-de5cb05f7e51" xmlns:ns3="fa55e756-efee-41bb-bac7-0c7530776ae9" targetNamespace="http://schemas.microsoft.com/office/2006/metadata/properties" ma:root="true" ma:fieldsID="aeee036dadd40764b341ffaf3b726a2d" ns2:_="" ns3:_="">
    <xsd:import namespace="219e5075-d7ea-4fe6-b14c-de5cb05f7e51"/>
    <xsd:import namespace="fa55e756-efee-41bb-bac7-0c7530776ae9"/>
    <xsd:element name="properties">
      <xsd:complexType>
        <xsd:sequence>
          <xsd:element name="documentManagement">
            <xsd:complexType>
              <xsd:all>
                <xsd:element ref="ns2:Tribu" minOccurs="0"/>
                <xsd:element ref="ns2:Secteur_x0020_d_x0027_activit_x00e9_" minOccurs="0"/>
                <xsd:element ref="ns2:Method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9e5075-d7ea-4fe6-b14c-de5cb05f7e51" elementFormDefault="qualified">
    <xsd:import namespace="http://schemas.microsoft.com/office/2006/documentManagement/types"/>
    <xsd:import namespace="http://schemas.microsoft.com/office/infopath/2007/PartnerControls"/>
    <xsd:element name="Tribu" ma:index="2" nillable="true" ma:displayName="Tribu" ma:format="Dropdown" ma:internalName="Tribu">
      <xsd:simpleType>
        <xsd:restriction base="dms:Choice">
          <xsd:enumeration value="C&amp;AD - Customer &amp; Applied Design"/>
          <xsd:enumeration value="AM&amp;C - Advertising, Marketing &amp; Commerce"/>
          <xsd:enumeration value="DC - Digital Customer"/>
        </xsd:restriction>
      </xsd:simpleType>
    </xsd:element>
    <xsd:element name="Secteur_x0020_d_x0027_activit_x00e9_" ma:index="3" nillable="true" ma:displayName="Secteur d'activité" ma:format="Dropdown" ma:internalName="Secteur_x0020_d_x0027_activit_x00e9_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onsumer"/>
                    <xsd:enumeration value="ER&amp;I"/>
                    <xsd:enumeration value="FSI"/>
                    <xsd:enumeration value="GPS"/>
                    <xsd:enumeration value="LSHC"/>
                    <xsd:enumeration value="TMT"/>
                  </xsd:restriction>
                </xsd:simpleType>
              </xsd:element>
            </xsd:sequence>
          </xsd:extension>
        </xsd:complexContent>
      </xsd:complexType>
    </xsd:element>
    <xsd:element name="Methode" ma:index="4" nillable="true" ma:displayName="Keywords" ma:internalName="Methode">
      <xsd:simpleType>
        <xsd:restriction base="dms:Note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Balises d’image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55e756-efee-41bb-bac7-0c7530776ae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8bf2912b-fa46-4289-8967-b88efa97b0eb}" ma:internalName="TaxCatchAll" ma:showField="CatchAllData" ma:web="fa55e756-efee-41bb-bac7-0c7530776a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8" ma:displayName="Type de contenu"/>
        <xsd:element ref="dc:title" minOccurs="0" maxOccurs="1" ma:index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0BCE22-EDA3-4535-A283-DF65696C392A}">
  <ds:schemaRefs>
    <ds:schemaRef ds:uri="fa55e756-efee-41bb-bac7-0c7530776ae9"/>
    <ds:schemaRef ds:uri="http://schemas.openxmlformats.org/package/2006/metadata/core-properties"/>
    <ds:schemaRef ds:uri="http://schemas.microsoft.com/office/2006/documentManagement/types"/>
    <ds:schemaRef ds:uri="219e5075-d7ea-4fe6-b14c-de5cb05f7e51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077EF69-617D-4E7F-B0D5-886C2776B4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9e5075-d7ea-4fe6-b14c-de5cb05f7e51"/>
    <ds:schemaRef ds:uri="fa55e756-efee-41bb-bac7-0c7530776a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F48EB1-C881-4C10-9DB0-728F4B23F83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262</Words>
  <Application>Microsoft Macintosh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Open Sans Bold</vt:lpstr>
      <vt:lpstr>Open Sans Extrabold</vt:lpstr>
      <vt:lpstr>Open Sans Light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Vincent, Melissa</dc:creator>
  <cp:lastModifiedBy>El Moul, Imane</cp:lastModifiedBy>
  <cp:revision>50</cp:revision>
  <dcterms:created xsi:type="dcterms:W3CDTF">2021-05-04T10:02:55Z</dcterms:created>
  <dcterms:modified xsi:type="dcterms:W3CDTF">2026-01-05T08:59:26Z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2021-05-04T10:02:55Z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29188583-9a55-43f3-82d2-930e5f98a091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0x010100226BBFE413087D428BD8EE5DF5897624</vt:lpwstr>
  </property>
  <property fmtid="{D5CDD505-2E9C-101B-9397-08002B2CF9AE}" pid="10" name="MediaServiceImageTags">
    <vt:lpwstr/>
  </property>
</Properties>
</file>