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5"/>
  </p:sldMasterIdLst>
  <p:notesMasterIdLst>
    <p:notesMasterId r:id="rId7"/>
  </p:notesMasterIdLst>
  <p:handoutMasterIdLst>
    <p:handoutMasterId r:id="rId8"/>
  </p:handoutMasterIdLst>
  <p:sldIdLst>
    <p:sldId id="44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enderson , Turi (US - Seattle)" initia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300"/>
    <a:srgbClr val="FFC901"/>
    <a:srgbClr val="3EFAC5"/>
    <a:srgbClr val="34F0FF"/>
    <a:srgbClr val="00EBDF"/>
    <a:srgbClr val="86F200"/>
    <a:srgbClr val="000000"/>
    <a:srgbClr val="75C82D"/>
    <a:srgbClr val="FFFFFD"/>
    <a:srgbClr val="FFAE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29" autoAdjust="0"/>
    <p:restoredTop sz="95652" autoAdjust="0"/>
  </p:normalViewPr>
  <p:slideViewPr>
    <p:cSldViewPr snapToGrid="0" snapToObjects="1" showGuides="1">
      <p:cViewPr varScale="1">
        <p:scale>
          <a:sx n="121" d="100"/>
          <a:sy n="121" d="100"/>
        </p:scale>
        <p:origin x="1264" y="336"/>
      </p:cViewPr>
      <p:guideLst/>
    </p:cSldViewPr>
  </p:slideViewPr>
  <p:outlineViewPr>
    <p:cViewPr>
      <p:scale>
        <a:sx n="33" d="100"/>
        <a:sy n="33" d="100"/>
      </p:scale>
      <p:origin x="0" y="0"/>
    </p:cViewPr>
  </p:outlineViewPr>
  <p:notesTextViewPr>
    <p:cViewPr>
      <p:scale>
        <a:sx n="33" d="100"/>
        <a:sy n="33" d="100"/>
      </p:scale>
      <p:origin x="0" y="0"/>
    </p:cViewPr>
  </p:notesTextViewPr>
  <p:sorterViewPr>
    <p:cViewPr>
      <p:scale>
        <a:sx n="190" d="100"/>
        <a:sy n="190" d="100"/>
      </p:scale>
      <p:origin x="0" y="-3291"/>
    </p:cViewPr>
  </p:sorterViewPr>
  <p:notesViewPr>
    <p:cSldViewPr snapToGrid="0" snapToObjects="1">
      <p:cViewPr varScale="1">
        <p:scale>
          <a:sx n="65" d="100"/>
          <a:sy n="65" d="100"/>
        </p:scale>
        <p:origin x="2811"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3EEADE-084D-EF46-9E06-49157D51E4F3}" type="datetimeFigureOut">
              <a:rPr lang="en-US" smtClean="0"/>
              <a:t>11/1/24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25D719-9150-F743-805E-17E4DF1A376C}" type="slidenum">
              <a:rPr lang="en-US" smtClean="0"/>
              <a:t>‹#›</a:t>
            </a:fld>
            <a:endParaRPr lang="en-US"/>
          </a:p>
        </p:txBody>
      </p:sp>
    </p:spTree>
    <p:extLst>
      <p:ext uri="{BB962C8B-B14F-4D97-AF65-F5344CB8AC3E}">
        <p14:creationId xmlns:p14="http://schemas.microsoft.com/office/powerpoint/2010/main" val="334385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03A04-0626-44D4-B6D6-43B9D98023FD}" type="datetimeFigureOut">
              <a:rPr lang="en-US" smtClean="0"/>
              <a:t>11/1/24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A34052-12FB-4B01-8A2E-D87AD7371E95}" type="slidenum">
              <a:rPr lang="en-US" smtClean="0"/>
              <a:t>‹#›</a:t>
            </a:fld>
            <a:endParaRPr lang="en-US"/>
          </a:p>
        </p:txBody>
      </p:sp>
    </p:spTree>
    <p:extLst>
      <p:ext uri="{BB962C8B-B14F-4D97-AF65-F5344CB8AC3E}">
        <p14:creationId xmlns:p14="http://schemas.microsoft.com/office/powerpoint/2010/main" val="490210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a:prstGeom prst="rect">
            <a:avLst/>
          </a:prstGeo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246991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4" name="Text Placeholder 8"/>
          <p:cNvSpPr>
            <a:spLocks noGrp="1"/>
          </p:cNvSpPr>
          <p:nvPr>
            <p:ph type="body" sz="quarter" idx="14"/>
          </p:nvPr>
        </p:nvSpPr>
        <p:spPr>
          <a:xfrm>
            <a:off x="914721" y="1353312"/>
            <a:ext cx="10362880" cy="475488"/>
          </a:xfrm>
          <a:prstGeom prst="rect">
            <a:avLst/>
          </a:prstGeo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8" name="Text Placeholder 5"/>
          <p:cNvSpPr>
            <a:spLocks noGrp="1"/>
          </p:cNvSpPr>
          <p:nvPr>
            <p:ph type="body" sz="quarter" idx="15" hasCustomPrompt="1"/>
          </p:nvPr>
        </p:nvSpPr>
        <p:spPr>
          <a:xfrm>
            <a:off x="914971" y="466344"/>
            <a:ext cx="3355848" cy="203200"/>
          </a:xfrm>
          <a:prstGeom prst="rect">
            <a:avLst/>
          </a:prstGeo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dirty="0"/>
              <a:t>BREADCRUMBS</a:t>
            </a:r>
          </a:p>
        </p:txBody>
      </p:sp>
    </p:spTree>
    <p:extLst>
      <p:ext uri="{BB962C8B-B14F-4D97-AF65-F5344CB8AC3E}">
        <p14:creationId xmlns:p14="http://schemas.microsoft.com/office/powerpoint/2010/main" val="4092428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4" name="Text Placeholder 4"/>
          <p:cNvSpPr>
            <a:spLocks noGrp="1"/>
          </p:cNvSpPr>
          <p:nvPr>
            <p:ph type="body" sz="quarter" idx="16" hasCustomPrompt="1"/>
          </p:nvPr>
        </p:nvSpPr>
        <p:spPr>
          <a:xfrm>
            <a:off x="914400" y="2743200"/>
            <a:ext cx="3355975" cy="1169988"/>
          </a:xfrm>
          <a:prstGeom prst="rect">
            <a:avLst/>
          </a:prstGeom>
        </p:spPr>
        <p:txBody>
          <a:bodyPr/>
          <a:lstStyle>
            <a:lvl1pPr marL="0" indent="0">
              <a:lnSpc>
                <a:spcPct val="130000"/>
              </a:lnSpc>
              <a:buNone/>
              <a:defRPr sz="1200" baseline="0"/>
            </a:lvl1pPr>
          </a:lstStyle>
          <a:p>
            <a:pPr lvl="0"/>
            <a:r>
              <a:rPr lang="en-US" dirty="0"/>
              <a:t>Click to edit Master text styles</a:t>
            </a:r>
          </a:p>
        </p:txBody>
      </p:sp>
    </p:spTree>
    <p:extLst>
      <p:ext uri="{BB962C8B-B14F-4D97-AF65-F5344CB8AC3E}">
        <p14:creationId xmlns:p14="http://schemas.microsoft.com/office/powerpoint/2010/main" val="3951846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8" name="Text Placeholder 5"/>
          <p:cNvSpPr>
            <a:spLocks noGrp="1"/>
          </p:cNvSpPr>
          <p:nvPr>
            <p:ph type="body" sz="quarter" idx="15" hasCustomPrompt="1"/>
          </p:nvPr>
        </p:nvSpPr>
        <p:spPr>
          <a:xfrm>
            <a:off x="914971" y="466344"/>
            <a:ext cx="3355848" cy="203200"/>
          </a:xfrm>
          <a:prstGeom prst="rect">
            <a:avLst/>
          </a:prstGeo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dirty="0"/>
              <a:t>BREADCRUMBS</a:t>
            </a:r>
          </a:p>
        </p:txBody>
      </p:sp>
      <p:sp>
        <p:nvSpPr>
          <p:cNvPr id="5" name="Text Placeholder 4"/>
          <p:cNvSpPr>
            <a:spLocks noGrp="1"/>
          </p:cNvSpPr>
          <p:nvPr>
            <p:ph type="body" sz="quarter" idx="16" hasCustomPrompt="1"/>
          </p:nvPr>
        </p:nvSpPr>
        <p:spPr>
          <a:xfrm>
            <a:off x="914400" y="2743200"/>
            <a:ext cx="3355975" cy="1169988"/>
          </a:xfrm>
          <a:prstGeom prst="rect">
            <a:avLst/>
          </a:prstGeom>
        </p:spPr>
        <p:txBody>
          <a:bodyPr/>
          <a:lstStyle>
            <a:lvl1pPr marL="0" indent="0">
              <a:lnSpc>
                <a:spcPct val="130000"/>
              </a:lnSpc>
              <a:buNone/>
              <a:defRPr sz="1200" baseline="0"/>
            </a:lvl1pPr>
          </a:lstStyle>
          <a:p>
            <a:pPr lvl="0"/>
            <a:r>
              <a:rPr lang="en-US" dirty="0"/>
              <a:t>Click to edit Master text styles</a:t>
            </a:r>
          </a:p>
        </p:txBody>
      </p:sp>
    </p:spTree>
    <p:extLst>
      <p:ext uri="{BB962C8B-B14F-4D97-AF65-F5344CB8AC3E}">
        <p14:creationId xmlns:p14="http://schemas.microsoft.com/office/powerpoint/2010/main" val="2173107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696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912" y="2953463"/>
            <a:ext cx="10362688" cy="371628"/>
          </a:xfrm>
        </p:spPr>
        <p:txBody>
          <a:bodyPr/>
          <a:lstStyle>
            <a:lvl1pPr algn="ctr">
              <a:defRPr sz="3600"/>
            </a:lvl1pPr>
          </a:lstStyle>
          <a:p>
            <a:r>
              <a:rPr lang="en-US" dirty="0"/>
              <a:t>Click to edit Master title style</a:t>
            </a:r>
            <a:endParaRPr lang="fr-FR" dirty="0"/>
          </a:p>
        </p:txBody>
      </p:sp>
    </p:spTree>
    <p:extLst>
      <p:ext uri="{BB962C8B-B14F-4D97-AF65-F5344CB8AC3E}">
        <p14:creationId xmlns:p14="http://schemas.microsoft.com/office/powerpoint/2010/main" val="354318504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en-US" dirty="0"/>
              <a:t>Thank You </a:t>
            </a:r>
            <a:br>
              <a:rPr lang="en-US" dirty="0"/>
            </a:br>
            <a:r>
              <a:rPr lang="en-US" dirty="0"/>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en-US" sz="700" dirty="0">
                <a:latin typeface="Open Sans" charset="0"/>
                <a:ea typeface="Open Sans" charset="0"/>
                <a:cs typeface="Open Sans" charset="0"/>
              </a:rPr>
              <a:t>This publication contains general information only, and none of the member firms of Deloitte </a:t>
            </a:r>
            <a:r>
              <a:rPr lang="en-US" sz="700" dirty="0" err="1">
                <a:latin typeface="Open Sans" charset="0"/>
                <a:ea typeface="Open Sans" charset="0"/>
                <a:cs typeface="Open Sans" charset="0"/>
              </a:rPr>
              <a:t>Touche</a:t>
            </a:r>
            <a:r>
              <a:rPr lang="en-US" sz="700" dirty="0">
                <a:latin typeface="Open Sans" charset="0"/>
                <a:ea typeface="Open Sans" charset="0"/>
                <a:cs typeface="Open Sans" charset="0"/>
              </a:rPr>
              <a:t>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en-US" sz="700" dirty="0">
                <a:latin typeface="Open Sans" charset="0"/>
                <a:ea typeface="Open Sans" charset="0"/>
                <a:cs typeface="Open Sans" charset="0"/>
              </a:rPr>
            </a:br>
            <a:br>
              <a:rPr lang="en-US" sz="700" dirty="0">
                <a:latin typeface="Open Sans" charset="0"/>
                <a:ea typeface="Open Sans" charset="0"/>
                <a:cs typeface="Open Sans" charset="0"/>
              </a:rPr>
            </a:br>
            <a:endParaRPr lang="en-US" sz="700" dirty="0">
              <a:latin typeface="Open Sans" charset="0"/>
              <a:ea typeface="Open Sans" charset="0"/>
              <a:cs typeface="Open Sans" charset="0"/>
            </a:endParaRPr>
          </a:p>
          <a:p>
            <a:pPr>
              <a:lnSpc>
                <a:spcPct val="120000"/>
              </a:lnSpc>
            </a:pPr>
            <a:r>
              <a:rPr lang="en-US" sz="700" dirty="0">
                <a:latin typeface="Open Sans" charset="0"/>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en-US" sz="700" dirty="0">
                <a:latin typeface="Open Sans" charset="0"/>
                <a:ea typeface="Open Sans" charset="0"/>
                <a:cs typeface="Open Sans" charset="0"/>
              </a:rPr>
            </a:br>
            <a:r>
              <a:rPr lang="en-US" sz="700" dirty="0">
                <a:latin typeface="Open Sans" charset="0"/>
                <a:ea typeface="Open Sans" charset="0"/>
                <a:cs typeface="Open Sans" charset="0"/>
              </a:rPr>
              <a:t>the rules and regulations of public accounting.</a:t>
            </a:r>
          </a:p>
          <a:p>
            <a:endParaRPr lang="en-US" sz="700" dirty="0">
              <a:latin typeface="Open Sans" charset="0"/>
              <a:ea typeface="Open Sans" charset="0"/>
              <a:cs typeface="Open Sans" charset="0"/>
              <a:sym typeface="Frutiger Next Pro Light" charset="0"/>
            </a:endParaRPr>
          </a:p>
          <a:p>
            <a:r>
              <a:rPr lang="en-US" sz="700" b="1" dirty="0">
                <a:latin typeface="Open Sans" charset="0"/>
                <a:ea typeface="Open Sans" charset="0"/>
                <a:cs typeface="Open Sans" charset="0"/>
                <a:sym typeface="Frutiger Next Pro Light" charset="0"/>
              </a:rPr>
              <a:t>Copyright © 2017 Deloitte Development LLC. </a:t>
            </a:r>
            <a:br>
              <a:rPr lang="en-US" sz="700" dirty="0">
                <a:latin typeface="Open Sans" charset="0"/>
                <a:ea typeface="Open Sans" charset="0"/>
                <a:cs typeface="Open Sans" charset="0"/>
                <a:sym typeface="Frutiger Next Pro Light" charset="0"/>
              </a:rPr>
            </a:br>
            <a:r>
              <a:rPr lang="en-US" sz="700" b="1" dirty="0">
                <a:latin typeface="Open Sans" charset="0"/>
                <a:ea typeface="Open Sans" charset="0"/>
                <a:cs typeface="Open Sans" charset="0"/>
                <a:sym typeface="Frutiger Next Pro Light" charset="0"/>
              </a:rPr>
              <a:t>All rights reserved. </a:t>
            </a:r>
            <a:r>
              <a:rPr lang="en-US" sz="700" b="1" dirty="0">
                <a:latin typeface="Open Sans" charset="0"/>
                <a:ea typeface="Open Sans" charset="0"/>
                <a:cs typeface="Open Sans" charset="0"/>
              </a:rPr>
              <a:t>Member of Deloitte </a:t>
            </a:r>
            <a:r>
              <a:rPr lang="en-US" sz="700" b="1" dirty="0" err="1">
                <a:latin typeface="Open Sans" charset="0"/>
                <a:ea typeface="Open Sans" charset="0"/>
                <a:cs typeface="Open Sans" charset="0"/>
              </a:rPr>
              <a:t>Touche</a:t>
            </a:r>
            <a:r>
              <a:rPr lang="en-US" sz="700" b="1" dirty="0">
                <a:latin typeface="Open Sans" charset="0"/>
                <a:ea typeface="Open Sans" charset="0"/>
                <a:cs typeface="Open Sans" charset="0"/>
              </a:rPr>
              <a:t> Tohmatsu Limited</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126712831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en-US" sz="11500" b="1" dirty="0"/>
              <a:t>Do not use this</a:t>
            </a:r>
            <a:r>
              <a:rPr lang="en-US" sz="11500" b="1" baseline="0" dirty="0"/>
              <a:t> layout</a:t>
            </a:r>
          </a:p>
          <a:p>
            <a:pPr algn="ctr"/>
            <a:endParaRPr lang="en-US" sz="3200" b="1" baseline="0" dirty="0"/>
          </a:p>
          <a:p>
            <a:pPr algn="ctr"/>
            <a:r>
              <a:rPr lang="en-US" sz="3200" b="0" baseline="0" dirty="0"/>
              <a:t>Delete any master slides that occur after this layout</a:t>
            </a:r>
            <a:endParaRPr lang="en-US" sz="3200" b="0" dirty="0"/>
          </a:p>
        </p:txBody>
      </p:sp>
    </p:spTree>
    <p:extLst>
      <p:ext uri="{BB962C8B-B14F-4D97-AF65-F5344CB8AC3E}">
        <p14:creationId xmlns:p14="http://schemas.microsoft.com/office/powerpoint/2010/main" val="3358896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3858" y="367281"/>
            <a:ext cx="10362688" cy="879756"/>
          </a:xfrm>
          <a:prstGeom prst="rect">
            <a:avLst/>
          </a:prstGeom>
        </p:spPr>
        <p:txBody>
          <a:bodyPr vert="horz" lIns="0" tIns="45720" rIns="91440" bIns="0" rtlCol="0" anchor="t" anchorCtr="0">
            <a:noAutofit/>
          </a:bodyPr>
          <a:lstStyle/>
          <a:p>
            <a:r>
              <a:rPr lang="en-US" dirty="0"/>
              <a:t>Click To Edit Master Title</a:t>
            </a:r>
          </a:p>
        </p:txBody>
      </p:sp>
    </p:spTree>
    <p:extLst>
      <p:ext uri="{BB962C8B-B14F-4D97-AF65-F5344CB8AC3E}">
        <p14:creationId xmlns:p14="http://schemas.microsoft.com/office/powerpoint/2010/main" val="2052937708"/>
      </p:ext>
    </p:extLst>
  </p:cSld>
  <p:clrMap bg1="lt1" tx1="dk1" bg2="lt2" tx2="dk2" accent1="accent1" accent2="accent2" accent3="accent3" accent4="accent4" accent5="accent5" accent6="accent6" hlink="hlink" folHlink="folHlink"/>
  <p:sldLayoutIdLst>
    <p:sldLayoutId id="2147483808" r:id="rId1"/>
    <p:sldLayoutId id="2147483810" r:id="rId2"/>
    <p:sldLayoutId id="2147483809" r:id="rId3"/>
    <p:sldLayoutId id="2147483828" r:id="rId4"/>
    <p:sldLayoutId id="2147483814" r:id="rId5"/>
    <p:sldLayoutId id="2147483829" r:id="rId6"/>
    <p:sldLayoutId id="2147483815" r:id="rId7"/>
    <p:sldLayoutId id="2147483827" r:id="rId8"/>
  </p:sldLayoutIdLst>
  <p:txStyles>
    <p:titleStyle>
      <a:lvl1pPr algn="l" defTabSz="914400" rtl="0" eaLnBrk="1" latinLnBrk="0" hangingPunct="1">
        <a:lnSpc>
          <a:spcPct val="80000"/>
        </a:lnSpc>
        <a:spcBef>
          <a:spcPct val="0"/>
        </a:spcBef>
        <a:buNone/>
        <a:defRPr sz="32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6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93095" y="355935"/>
            <a:ext cx="1401512" cy="1380460"/>
          </a:xfrm>
          <a:prstGeom prst="ellipse">
            <a:avLst/>
          </a:prstGeom>
        </p:spPr>
      </p:pic>
      <p:cxnSp>
        <p:nvCxnSpPr>
          <p:cNvPr id="81" name="Straight Connector 80"/>
          <p:cNvCxnSpPr>
            <a:stCxn id="88" idx="42"/>
          </p:cNvCxnSpPr>
          <p:nvPr/>
        </p:nvCxnSpPr>
        <p:spPr>
          <a:xfrm>
            <a:off x="6383160" y="515390"/>
            <a:ext cx="0" cy="597600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96F3DE4-E136-4031-A795-F2C2AA077709}"/>
              </a:ext>
            </a:extLst>
          </p:cNvPr>
          <p:cNvCxnSpPr/>
          <p:nvPr/>
        </p:nvCxnSpPr>
        <p:spPr>
          <a:xfrm>
            <a:off x="6631223" y="427217"/>
            <a:ext cx="3824341" cy="0"/>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79" name="Text Box 11"/>
          <p:cNvSpPr txBox="1">
            <a:spLocks noChangeArrowheads="1"/>
          </p:cNvSpPr>
          <p:nvPr/>
        </p:nvSpPr>
        <p:spPr bwMode="auto">
          <a:xfrm>
            <a:off x="6600000" y="551332"/>
            <a:ext cx="4811833" cy="3374945"/>
          </a:xfrm>
          <a:prstGeom prst="rect">
            <a:avLst/>
          </a:prstGeom>
          <a:noFill/>
          <a:ln w="3175" algn="ctr">
            <a:noFill/>
            <a:miter lim="800000"/>
            <a:headEnd/>
            <a:tailEnd/>
          </a:ln>
        </p:spPr>
        <p:txBody>
          <a:bodyPr lIns="0" tIns="0" rIns="0" bIns="0"/>
          <a:lstStyle/>
          <a:p>
            <a:pPr fontAlgn="base">
              <a:spcBef>
                <a:spcPct val="0"/>
              </a:spcBef>
              <a:spcAft>
                <a:spcPts val="200"/>
              </a:spcAft>
            </a:pPr>
            <a:r>
              <a:rPr lang="fr-FR" sz="1000" dirty="0">
                <a:solidFill>
                  <a:srgbClr val="000000"/>
                </a:solidFill>
                <a:ea typeface="Open Sans Extrabold" panose="020B0906030804020204" pitchFamily="34" charset="0"/>
                <a:cs typeface="Open Sans Extrabold" panose="020B0906030804020204" pitchFamily="34" charset="0"/>
              </a:rPr>
              <a:t>Program / Project Management</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Management of complex and large CRM projects</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Team direction,</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Responsibility for contact with the customer, from the pre-sales phase to the final delivery.</a:t>
            </a:r>
          </a:p>
          <a:p>
            <a:pPr fontAlgn="base">
              <a:spcBef>
                <a:spcPct val="0"/>
              </a:spcBef>
              <a:spcAft>
                <a:spcPts val="200"/>
              </a:spcAft>
              <a:buSzPct val="50000"/>
            </a:pPr>
            <a:b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br>
            <a:r>
              <a:rPr lang="fr-FR" sz="1000" dirty="0">
                <a:solidFill>
                  <a:srgbClr val="000000"/>
                </a:solidFill>
                <a:ea typeface="Open Sans Extrabold" panose="020B0906030804020204" pitchFamily="34" charset="0"/>
                <a:cs typeface="Open Sans Extrabold" panose="020B0906030804020204" pitchFamily="34" charset="0"/>
              </a:rPr>
              <a:t>Business </a:t>
            </a:r>
            <a:r>
              <a:rPr lang="fr-FR" sz="1000" dirty="0" err="1">
                <a:solidFill>
                  <a:srgbClr val="000000"/>
                </a:solidFill>
                <a:ea typeface="Open Sans Extrabold" panose="020B0906030804020204" pitchFamily="34" charset="0"/>
                <a:cs typeface="Open Sans Extrabold" panose="020B0906030804020204" pitchFamily="34" charset="0"/>
              </a:rPr>
              <a:t>Development</a:t>
            </a:r>
            <a:r>
              <a:rPr lang="fr-FR" sz="1000" dirty="0">
                <a:solidFill>
                  <a:srgbClr val="000000"/>
                </a:solidFill>
                <a:ea typeface="Open Sans Extrabold" panose="020B0906030804020204" pitchFamily="34" charset="0"/>
                <a:cs typeface="Open Sans Extrabold" panose="020B0906030804020204" pitchFamily="34" charset="0"/>
              </a:rPr>
              <a:t> and Monitoring</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Commercial strategy, pre-sales (development of commercial offers, definition of target solutions, demonstrations, oral presentations, etc.),</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Development of the partnership with the entire Salesforce and MuleSoft ecosystem (publisher and ISV).</a:t>
            </a:r>
          </a:p>
          <a:p>
            <a:pPr fontAlgn="base">
              <a:spcBef>
                <a:spcPct val="0"/>
              </a:spcBef>
              <a:spcAft>
                <a:spcPts val="200"/>
              </a:spcAft>
            </a:pPr>
            <a:endParaRPr lang="fr-FR" sz="5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fontAlgn="base">
              <a:spcBef>
                <a:spcPct val="0"/>
              </a:spcBef>
              <a:spcAft>
                <a:spcPts val="200"/>
              </a:spcAft>
            </a:pPr>
            <a:r>
              <a:rPr lang="fr-FR" sz="1000" dirty="0" err="1">
                <a:solidFill>
                  <a:srgbClr val="000000"/>
                </a:solidFill>
                <a:ea typeface="Open Sans Extrabold" panose="020B0906030804020204" pitchFamily="34" charset="0"/>
                <a:cs typeface="Open Sans Extrabold" panose="020B0906030804020204" pitchFamily="34" charset="0"/>
              </a:rPr>
              <a:t>Technical</a:t>
            </a:r>
            <a:r>
              <a:rPr lang="fr-FR" sz="1000" dirty="0">
                <a:solidFill>
                  <a:srgbClr val="000000"/>
                </a:solidFill>
                <a:ea typeface="Open Sans Extrabold" panose="020B0906030804020204" pitchFamily="34" charset="0"/>
                <a:cs typeface="Open Sans Extrabold" panose="020B0906030804020204" pitchFamily="34" charset="0"/>
              </a:rPr>
              <a:t> expertise</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SI architecture design around Salesforce and MuleSoft,</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Technical Master of Salesforce (Sales, Service, Force.com, ...).</a:t>
            </a:r>
          </a:p>
          <a:p>
            <a:pPr marL="87313" indent="-87313" fontAlgn="base">
              <a:spcBef>
                <a:spcPct val="0"/>
              </a:spcBef>
              <a:spcAft>
                <a:spcPts val="200"/>
              </a:spcAft>
              <a:buSzPct val="50000"/>
              <a:buFont typeface="Arial" panose="020B0604020202020204" pitchFamily="34" charset="0"/>
              <a:buChar char="•"/>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Coding: </a:t>
            </a:r>
            <a:r>
              <a:rPr lang="en-GB"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Apex, JavaScript, AngularJS, SOQL….</a:t>
            </a:r>
          </a:p>
          <a:p>
            <a:pPr marL="87313" indent="-87313" fontAlgn="base">
              <a:spcBef>
                <a:spcPct val="0"/>
              </a:spcBef>
              <a:spcAft>
                <a:spcPts val="200"/>
              </a:spcAft>
              <a:buSzPct val="50000"/>
              <a:buFont typeface="Arial" panose="020B0604020202020204" pitchFamily="34" charset="0"/>
              <a:buChar char="•"/>
            </a:pPr>
            <a:endParaRPr lang="en-GB" sz="5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fontAlgn="base">
              <a:spcBef>
                <a:spcPct val="0"/>
              </a:spcBef>
              <a:spcAft>
                <a:spcPts val="200"/>
              </a:spcAft>
              <a:buSzPct val="50000"/>
            </a:pPr>
            <a:r>
              <a:rPr lang="fr-FR" sz="1000" dirty="0" err="1">
                <a:solidFill>
                  <a:srgbClr val="000000"/>
                </a:solidFill>
                <a:ea typeface="Open Sans Extrabold" panose="020B0906030804020204" pitchFamily="34" charset="0"/>
                <a:cs typeface="Open Sans Extrabold" panose="020B0906030804020204" pitchFamily="34" charset="0"/>
              </a:rPr>
              <a:t>Functional</a:t>
            </a:r>
            <a:r>
              <a:rPr lang="fr-FR" sz="1000" dirty="0">
                <a:solidFill>
                  <a:srgbClr val="000000"/>
                </a:solidFill>
                <a:ea typeface="Open Sans Extrabold" panose="020B0906030804020204" pitchFamily="34" charset="0"/>
                <a:cs typeface="Open Sans Extrabold" panose="020B0906030804020204" pitchFamily="34" charset="0"/>
              </a:rPr>
              <a:t> expertise</a:t>
            </a:r>
          </a:p>
          <a:p>
            <a:pPr marL="171450" indent="-171450" fontAlgn="base">
              <a:spcBef>
                <a:spcPct val="0"/>
              </a:spcBef>
              <a:spcAft>
                <a:spcPts val="200"/>
              </a:spcAft>
              <a:buSzPct val="50000"/>
              <a:buFontTx/>
              <a:buChar cha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Analyze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Plan &amp; Design of CRM applications, and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Integration</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landscapes</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indent="-171450" fontAlgn="base">
              <a:spcBef>
                <a:spcPct val="0"/>
              </a:spcBef>
              <a:spcAft>
                <a:spcPts val="200"/>
              </a:spcAft>
              <a:buSzPct val="50000"/>
              <a:buFontTx/>
              <a:buChar cha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Change management and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definition</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of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deployment</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strategies</a:t>
            </a:r>
            <a:endPar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fontAlgn="base">
              <a:spcBef>
                <a:spcPct val="0"/>
              </a:spcBef>
              <a:spcAft>
                <a:spcPts val="200"/>
              </a:spcAft>
              <a:buSzPct val="50000"/>
            </a:pP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2" name="Text Box 11"/>
          <p:cNvSpPr txBox="1">
            <a:spLocks noChangeArrowheads="1"/>
          </p:cNvSpPr>
          <p:nvPr/>
        </p:nvSpPr>
        <p:spPr bwMode="auto">
          <a:xfrm>
            <a:off x="6643922" y="297886"/>
            <a:ext cx="3876906" cy="253447"/>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en-GB" sz="1050" spc="300" dirty="0">
                <a:solidFill>
                  <a:srgbClr val="000000"/>
                </a:solidFill>
                <a:ea typeface="Open Sans bold" panose="020B0806030504020204" pitchFamily="34" charset="0"/>
                <a:cs typeface="Open Sans bold" panose="020B0806030504020204" pitchFamily="34" charset="0"/>
              </a:rPr>
              <a:t>PROFESSIONAL SKILLS AND EXPERIENCE</a:t>
            </a:r>
            <a:endParaRPr lang="fr-FR" sz="1050" spc="300" dirty="0">
              <a:solidFill>
                <a:srgbClr val="000000"/>
              </a:solidFill>
              <a:ea typeface="Open Sans bold" panose="020B0806030504020204" pitchFamily="34" charset="0"/>
              <a:cs typeface="Open Sans bold" panose="020B0806030504020204" pitchFamily="34" charset="0"/>
            </a:endParaRPr>
          </a:p>
        </p:txBody>
      </p:sp>
      <p:sp>
        <p:nvSpPr>
          <p:cNvPr id="86" name="Oval 85"/>
          <p:cNvSpPr/>
          <p:nvPr/>
        </p:nvSpPr>
        <p:spPr>
          <a:xfrm>
            <a:off x="6200361" y="199732"/>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Freeform 22"/>
          <p:cNvSpPr>
            <a:spLocks noEditPoints="1"/>
          </p:cNvSpPr>
          <p:nvPr/>
        </p:nvSpPr>
        <p:spPr bwMode="auto">
          <a:xfrm>
            <a:off x="6233437" y="232354"/>
            <a:ext cx="299445" cy="30035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 name="Group 5"/>
          <p:cNvGrpSpPr/>
          <p:nvPr/>
        </p:nvGrpSpPr>
        <p:grpSpPr>
          <a:xfrm>
            <a:off x="6195600" y="3806697"/>
            <a:ext cx="5216232" cy="1273654"/>
            <a:chOff x="6765432" y="3189876"/>
            <a:chExt cx="5216232" cy="1273654"/>
          </a:xfrm>
        </p:grpSpPr>
        <p:cxnSp>
          <p:nvCxnSpPr>
            <p:cNvPr id="45" name="Straight Connector 44">
              <a:extLst>
                <a:ext uri="{FF2B5EF4-FFF2-40B4-BE49-F238E27FC236}">
                  <a16:creationId xmlns:a16="http://schemas.microsoft.com/office/drawing/2014/main" id="{296F3DE4-E136-4031-A795-F2C2AA077709}"/>
                </a:ext>
              </a:extLst>
            </p:cNvPr>
            <p:cNvCxnSpPr/>
            <p:nvPr/>
          </p:nvCxnSpPr>
          <p:spPr>
            <a:xfrm>
              <a:off x="7196294" y="3437118"/>
              <a:ext cx="2434411" cy="0"/>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47" name="Text Placeholder 15"/>
            <p:cNvSpPr txBox="1">
              <a:spLocks/>
            </p:cNvSpPr>
            <p:nvPr/>
          </p:nvSpPr>
          <p:spPr>
            <a:xfrm>
              <a:off x="7169832" y="3555474"/>
              <a:ext cx="4811832" cy="908056"/>
            </a:xfrm>
            <a:prstGeom prst="rect">
              <a:avLst/>
            </a:prstGeom>
          </p:spPr>
          <p:txBody>
            <a:bodyPr vert="horz" lIns="0" tIns="0" rIns="0" bIns="0" rtlCol="0" anchor="t">
              <a:noAutofit/>
            </a:bodyPr>
            <a:lstStyle>
              <a:lvl1pPr marL="0" indent="0" algn="l" defTabSz="990571" rtl="0" eaLnBrk="1" latinLnBrk="0" hangingPunct="1">
                <a:spcBef>
                  <a:spcPts val="0"/>
                </a:spcBef>
                <a:spcAft>
                  <a:spcPts val="300"/>
                </a:spcAft>
                <a:buSzPct val="100000"/>
                <a:buFont typeface="Arial" panose="020B0604020202020204" pitchFamily="34" charset="0"/>
                <a:buNone/>
                <a:defRPr sz="900" b="0" kern="1200" baseline="0">
                  <a:solidFill>
                    <a:schemeClr val="tx1"/>
                  </a:solidFill>
                  <a:latin typeface="+mn-lt"/>
                  <a:ea typeface="+mn-ea"/>
                  <a:cs typeface="+mn-cs"/>
                </a:defRPr>
              </a:lvl1pPr>
              <a:lvl2pPr marL="0" indent="0" algn="l" defTabSz="990571" rtl="0" eaLnBrk="1" latinLnBrk="0" hangingPunct="1">
                <a:spcBef>
                  <a:spcPts val="0"/>
                </a:spcBef>
                <a:spcAft>
                  <a:spcPts val="300"/>
                </a:spcAft>
                <a:buClrTx/>
                <a:buSzPct val="100000"/>
                <a:buFont typeface="Arial"/>
                <a:buNone/>
                <a:defRPr lang="en-US" sz="900" b="1" kern="1200">
                  <a:solidFill>
                    <a:schemeClr val="tx1"/>
                  </a:solidFill>
                  <a:latin typeface="+mn-lt"/>
                  <a:ea typeface="+mn-ea"/>
                  <a:cs typeface="+mn-cs"/>
                </a:defRPr>
              </a:lvl2pPr>
              <a:lvl3pPr marL="191094" indent="-191094" algn="l" defTabSz="990571" rtl="0" eaLnBrk="1" latinLnBrk="0" hangingPunct="1">
                <a:spcBef>
                  <a:spcPts val="0"/>
                </a:spcBef>
                <a:spcAft>
                  <a:spcPts val="300"/>
                </a:spcAft>
                <a:buClrTx/>
                <a:buSzPct val="100000"/>
                <a:buFont typeface="Arial" panose="020B0604020202020204" pitchFamily="34" charset="0"/>
                <a:buChar char="•"/>
                <a:defRPr lang="en-US" sz="900" kern="1200">
                  <a:solidFill>
                    <a:schemeClr val="tx1"/>
                  </a:solidFill>
                  <a:latin typeface="+mn-lt"/>
                  <a:ea typeface="+mn-ea"/>
                  <a:cs typeface="+mn-cs"/>
                </a:defRPr>
              </a:lvl3pPr>
              <a:lvl4pPr marL="386089" indent="-191094" algn="l" defTabSz="990571"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82" indent="-191094" algn="l" defTabSz="865030"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FSI: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Franfinance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La Banque Postale Financement, Groupama, Generali,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Amundi</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Pharma: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Boehringer</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Ingelheim</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Laboratoires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Servier</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Schering</a:t>
              </a:r>
            </a:p>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Manufacturing</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BIC</a:t>
              </a:r>
            </a:p>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Service: Amadeus, Accor</a:t>
              </a:r>
            </a:p>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Energy</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Areva</a:t>
              </a:r>
            </a:p>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Telco</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Media &amp;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Ent</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SFR,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Paritel</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Les Cinémas Pathé Gaumont, PMU</a:t>
              </a:r>
            </a:p>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Retail</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Groupe Rocher</a:t>
              </a:r>
            </a:p>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Transports: Dassault Aviation</a:t>
              </a:r>
            </a:p>
          </p:txBody>
        </p:sp>
        <p:sp>
          <p:nvSpPr>
            <p:cNvPr id="48" name="Text Box 11"/>
            <p:cNvSpPr txBox="1">
              <a:spLocks noChangeArrowheads="1"/>
            </p:cNvSpPr>
            <p:nvPr/>
          </p:nvSpPr>
          <p:spPr bwMode="auto">
            <a:xfrm>
              <a:off x="7208993" y="3309401"/>
              <a:ext cx="2532547" cy="183183"/>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fr-FR" sz="1050" spc="300" dirty="0">
                  <a:solidFill>
                    <a:srgbClr val="000000"/>
                  </a:solidFill>
                  <a:ea typeface="Open Sans bold" panose="020B0806030504020204" pitchFamily="34" charset="0"/>
                  <a:cs typeface="Open Sans bold" panose="020B0806030504020204" pitchFamily="34" charset="0"/>
                </a:rPr>
                <a:t>REPRESENTATIVE CLIENTS</a:t>
              </a:r>
            </a:p>
          </p:txBody>
        </p:sp>
        <p:sp>
          <p:nvSpPr>
            <p:cNvPr id="49" name="Oval 48"/>
            <p:cNvSpPr/>
            <p:nvPr/>
          </p:nvSpPr>
          <p:spPr>
            <a:xfrm>
              <a:off x="6765432" y="3189876"/>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reeform 22"/>
            <p:cNvSpPr>
              <a:spLocks noEditPoints="1"/>
            </p:cNvSpPr>
            <p:nvPr/>
          </p:nvSpPr>
          <p:spPr bwMode="auto">
            <a:xfrm>
              <a:off x="6798509" y="3222498"/>
              <a:ext cx="299445" cy="30035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26"/>
            <p:cNvSpPr>
              <a:spLocks noEditPoints="1"/>
            </p:cNvSpPr>
            <p:nvPr/>
          </p:nvSpPr>
          <p:spPr bwMode="auto">
            <a:xfrm>
              <a:off x="6872673" y="3295533"/>
              <a:ext cx="151116" cy="154284"/>
            </a:xfrm>
            <a:custGeom>
              <a:avLst/>
              <a:gdLst>
                <a:gd name="T0" fmla="*/ 4 w 285"/>
                <a:gd name="T1" fmla="*/ 173 h 293"/>
                <a:gd name="T2" fmla="*/ 12 w 285"/>
                <a:gd name="T3" fmla="*/ 191 h 293"/>
                <a:gd name="T4" fmla="*/ 32 w 285"/>
                <a:gd name="T5" fmla="*/ 198 h 293"/>
                <a:gd name="T6" fmla="*/ 35 w 285"/>
                <a:gd name="T7" fmla="*/ 214 h 293"/>
                <a:gd name="T8" fmla="*/ 56 w 285"/>
                <a:gd name="T9" fmla="*/ 226 h 293"/>
                <a:gd name="T10" fmla="*/ 62 w 285"/>
                <a:gd name="T11" fmla="*/ 241 h 293"/>
                <a:gd name="T12" fmla="*/ 83 w 285"/>
                <a:gd name="T13" fmla="*/ 253 h 293"/>
                <a:gd name="T14" fmla="*/ 89 w 285"/>
                <a:gd name="T15" fmla="*/ 267 h 293"/>
                <a:gd name="T16" fmla="*/ 110 w 285"/>
                <a:gd name="T17" fmla="*/ 279 h 293"/>
                <a:gd name="T18" fmla="*/ 129 w 285"/>
                <a:gd name="T19" fmla="*/ 270 h 293"/>
                <a:gd name="T20" fmla="*/ 161 w 285"/>
                <a:gd name="T21" fmla="*/ 293 h 293"/>
                <a:gd name="T22" fmla="*/ 179 w 285"/>
                <a:gd name="T23" fmla="*/ 285 h 293"/>
                <a:gd name="T24" fmla="*/ 188 w 285"/>
                <a:gd name="T25" fmla="*/ 266 h 293"/>
                <a:gd name="T26" fmla="*/ 205 w 285"/>
                <a:gd name="T27" fmla="*/ 258 h 293"/>
                <a:gd name="T28" fmla="*/ 212 w 285"/>
                <a:gd name="T29" fmla="*/ 238 h 293"/>
                <a:gd name="T30" fmla="*/ 228 w 285"/>
                <a:gd name="T31" fmla="*/ 235 h 293"/>
                <a:gd name="T32" fmla="*/ 239 w 285"/>
                <a:gd name="T33" fmla="*/ 214 h 293"/>
                <a:gd name="T34" fmla="*/ 247 w 285"/>
                <a:gd name="T35" fmla="*/ 211 h 293"/>
                <a:gd name="T36" fmla="*/ 265 w 285"/>
                <a:gd name="T37" fmla="*/ 196 h 293"/>
                <a:gd name="T38" fmla="*/ 259 w 285"/>
                <a:gd name="T39" fmla="*/ 171 h 293"/>
                <a:gd name="T40" fmla="*/ 278 w 285"/>
                <a:gd name="T41" fmla="*/ 137 h 293"/>
                <a:gd name="T42" fmla="*/ 285 w 285"/>
                <a:gd name="T43" fmla="*/ 90 h 293"/>
                <a:gd name="T44" fmla="*/ 263 w 285"/>
                <a:gd name="T45" fmla="*/ 36 h 293"/>
                <a:gd name="T46" fmla="*/ 201 w 285"/>
                <a:gd name="T47" fmla="*/ 1 h 293"/>
                <a:gd name="T48" fmla="*/ 129 w 285"/>
                <a:gd name="T49" fmla="*/ 4 h 293"/>
                <a:gd name="T50" fmla="*/ 42 w 285"/>
                <a:gd name="T51" fmla="*/ 19 h 293"/>
                <a:gd name="T52" fmla="*/ 1 w 285"/>
                <a:gd name="T53" fmla="*/ 89 h 293"/>
                <a:gd name="T54" fmla="*/ 171 w 285"/>
                <a:gd name="T55" fmla="*/ 278 h 293"/>
                <a:gd name="T56" fmla="*/ 136 w 285"/>
                <a:gd name="T57" fmla="*/ 262 h 293"/>
                <a:gd name="T58" fmla="*/ 171 w 285"/>
                <a:gd name="T59" fmla="*/ 258 h 293"/>
                <a:gd name="T60" fmla="*/ 38 w 285"/>
                <a:gd name="T61" fmla="*/ 36 h 293"/>
                <a:gd name="T62" fmla="*/ 94 w 285"/>
                <a:gd name="T63" fmla="*/ 11 h 293"/>
                <a:gd name="T64" fmla="*/ 114 w 285"/>
                <a:gd name="T65" fmla="*/ 30 h 293"/>
                <a:gd name="T66" fmla="*/ 46 w 285"/>
                <a:gd name="T67" fmla="*/ 103 h 293"/>
                <a:gd name="T68" fmla="*/ 81 w 285"/>
                <a:gd name="T69" fmla="*/ 112 h 293"/>
                <a:gd name="T70" fmla="*/ 118 w 285"/>
                <a:gd name="T71" fmla="*/ 93 h 293"/>
                <a:gd name="T72" fmla="*/ 184 w 285"/>
                <a:gd name="T73" fmla="*/ 106 h 293"/>
                <a:gd name="T74" fmla="*/ 251 w 285"/>
                <a:gd name="T75" fmla="*/ 198 h 293"/>
                <a:gd name="T76" fmla="*/ 208 w 285"/>
                <a:gd name="T77" fmla="*/ 173 h 293"/>
                <a:gd name="T78" fmla="*/ 200 w 285"/>
                <a:gd name="T79" fmla="*/ 173 h 293"/>
                <a:gd name="T80" fmla="*/ 224 w 285"/>
                <a:gd name="T81" fmla="*/ 204 h 293"/>
                <a:gd name="T82" fmla="*/ 224 w 285"/>
                <a:gd name="T83" fmla="*/ 224 h 293"/>
                <a:gd name="T84" fmla="*/ 181 w 285"/>
                <a:gd name="T85" fmla="*/ 200 h 293"/>
                <a:gd name="T86" fmla="*/ 172 w 285"/>
                <a:gd name="T87" fmla="*/ 202 h 293"/>
                <a:gd name="T88" fmla="*/ 200 w 285"/>
                <a:gd name="T89" fmla="*/ 236 h 293"/>
                <a:gd name="T90" fmla="*/ 193 w 285"/>
                <a:gd name="T91" fmla="*/ 254 h 293"/>
                <a:gd name="T92" fmla="*/ 146 w 285"/>
                <a:gd name="T93" fmla="*/ 218 h 293"/>
                <a:gd name="T94" fmla="*/ 130 w 285"/>
                <a:gd name="T95" fmla="*/ 210 h 293"/>
                <a:gd name="T96" fmla="*/ 125 w 285"/>
                <a:gd name="T97" fmla="*/ 198 h 293"/>
                <a:gd name="T98" fmla="*/ 107 w 285"/>
                <a:gd name="T99" fmla="*/ 184 h 293"/>
                <a:gd name="T100" fmla="*/ 101 w 285"/>
                <a:gd name="T101" fmla="*/ 180 h 293"/>
                <a:gd name="T102" fmla="*/ 90 w 285"/>
                <a:gd name="T103" fmla="*/ 160 h 293"/>
                <a:gd name="T104" fmla="*/ 74 w 285"/>
                <a:gd name="T105" fmla="*/ 156 h 293"/>
                <a:gd name="T106" fmla="*/ 63 w 285"/>
                <a:gd name="T107" fmla="*/ 133 h 293"/>
                <a:gd name="T108" fmla="*/ 40 w 285"/>
                <a:gd name="T109" fmla="*/ 132 h 293"/>
                <a:gd name="T110" fmla="*/ 13 w 285"/>
                <a:gd name="T111" fmla="*/ 117 h 293"/>
                <a:gd name="T112" fmla="*/ 38 w 285"/>
                <a:gd name="T113" fmla="*/ 36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5" h="293">
                  <a:moveTo>
                    <a:pt x="12" y="157"/>
                  </a:moveTo>
                  <a:lnTo>
                    <a:pt x="12" y="157"/>
                  </a:lnTo>
                  <a:lnTo>
                    <a:pt x="9" y="160"/>
                  </a:lnTo>
                  <a:lnTo>
                    <a:pt x="7" y="164"/>
                  </a:lnTo>
                  <a:lnTo>
                    <a:pt x="5" y="169"/>
                  </a:lnTo>
                  <a:lnTo>
                    <a:pt x="4" y="173"/>
                  </a:lnTo>
                  <a:lnTo>
                    <a:pt x="4" y="173"/>
                  </a:lnTo>
                  <a:lnTo>
                    <a:pt x="5" y="179"/>
                  </a:lnTo>
                  <a:lnTo>
                    <a:pt x="7" y="183"/>
                  </a:lnTo>
                  <a:lnTo>
                    <a:pt x="9" y="188"/>
                  </a:lnTo>
                  <a:lnTo>
                    <a:pt x="12" y="191"/>
                  </a:lnTo>
                  <a:lnTo>
                    <a:pt x="12" y="191"/>
                  </a:lnTo>
                  <a:lnTo>
                    <a:pt x="16" y="195"/>
                  </a:lnTo>
                  <a:lnTo>
                    <a:pt x="20" y="196"/>
                  </a:lnTo>
                  <a:lnTo>
                    <a:pt x="24" y="198"/>
                  </a:lnTo>
                  <a:lnTo>
                    <a:pt x="29" y="199"/>
                  </a:lnTo>
                  <a:lnTo>
                    <a:pt x="29" y="199"/>
                  </a:lnTo>
                  <a:lnTo>
                    <a:pt x="32" y="198"/>
                  </a:lnTo>
                  <a:lnTo>
                    <a:pt x="32" y="198"/>
                  </a:lnTo>
                  <a:lnTo>
                    <a:pt x="31" y="200"/>
                  </a:lnTo>
                  <a:lnTo>
                    <a:pt x="31" y="200"/>
                  </a:lnTo>
                  <a:lnTo>
                    <a:pt x="32" y="206"/>
                  </a:lnTo>
                  <a:lnTo>
                    <a:pt x="33" y="210"/>
                  </a:lnTo>
                  <a:lnTo>
                    <a:pt x="35" y="214"/>
                  </a:lnTo>
                  <a:lnTo>
                    <a:pt x="39" y="218"/>
                  </a:lnTo>
                  <a:lnTo>
                    <a:pt x="39" y="218"/>
                  </a:lnTo>
                  <a:lnTo>
                    <a:pt x="43" y="222"/>
                  </a:lnTo>
                  <a:lnTo>
                    <a:pt x="47" y="223"/>
                  </a:lnTo>
                  <a:lnTo>
                    <a:pt x="51" y="224"/>
                  </a:lnTo>
                  <a:lnTo>
                    <a:pt x="56" y="226"/>
                  </a:lnTo>
                  <a:lnTo>
                    <a:pt x="56" y="226"/>
                  </a:lnTo>
                  <a:lnTo>
                    <a:pt x="59" y="224"/>
                  </a:lnTo>
                  <a:lnTo>
                    <a:pt x="59" y="224"/>
                  </a:lnTo>
                  <a:lnTo>
                    <a:pt x="59" y="230"/>
                  </a:lnTo>
                  <a:lnTo>
                    <a:pt x="59" y="235"/>
                  </a:lnTo>
                  <a:lnTo>
                    <a:pt x="62" y="241"/>
                  </a:lnTo>
                  <a:lnTo>
                    <a:pt x="66" y="245"/>
                  </a:lnTo>
                  <a:lnTo>
                    <a:pt x="66" y="245"/>
                  </a:lnTo>
                  <a:lnTo>
                    <a:pt x="70" y="249"/>
                  </a:lnTo>
                  <a:lnTo>
                    <a:pt x="74" y="250"/>
                  </a:lnTo>
                  <a:lnTo>
                    <a:pt x="78" y="251"/>
                  </a:lnTo>
                  <a:lnTo>
                    <a:pt x="83" y="253"/>
                  </a:lnTo>
                  <a:lnTo>
                    <a:pt x="83" y="253"/>
                  </a:lnTo>
                  <a:lnTo>
                    <a:pt x="86" y="251"/>
                  </a:lnTo>
                  <a:lnTo>
                    <a:pt x="86" y="251"/>
                  </a:lnTo>
                  <a:lnTo>
                    <a:pt x="86" y="257"/>
                  </a:lnTo>
                  <a:lnTo>
                    <a:pt x="86" y="262"/>
                  </a:lnTo>
                  <a:lnTo>
                    <a:pt x="89" y="267"/>
                  </a:lnTo>
                  <a:lnTo>
                    <a:pt x="93" y="271"/>
                  </a:lnTo>
                  <a:lnTo>
                    <a:pt x="93" y="271"/>
                  </a:lnTo>
                  <a:lnTo>
                    <a:pt x="97" y="275"/>
                  </a:lnTo>
                  <a:lnTo>
                    <a:pt x="101" y="277"/>
                  </a:lnTo>
                  <a:lnTo>
                    <a:pt x="105" y="278"/>
                  </a:lnTo>
                  <a:lnTo>
                    <a:pt x="110" y="279"/>
                  </a:lnTo>
                  <a:lnTo>
                    <a:pt x="110" y="279"/>
                  </a:lnTo>
                  <a:lnTo>
                    <a:pt x="114" y="278"/>
                  </a:lnTo>
                  <a:lnTo>
                    <a:pt x="119" y="277"/>
                  </a:lnTo>
                  <a:lnTo>
                    <a:pt x="123" y="275"/>
                  </a:lnTo>
                  <a:lnTo>
                    <a:pt x="126" y="271"/>
                  </a:lnTo>
                  <a:lnTo>
                    <a:pt x="129" y="270"/>
                  </a:lnTo>
                  <a:lnTo>
                    <a:pt x="144" y="285"/>
                  </a:lnTo>
                  <a:lnTo>
                    <a:pt x="144" y="285"/>
                  </a:lnTo>
                  <a:lnTo>
                    <a:pt x="148" y="289"/>
                  </a:lnTo>
                  <a:lnTo>
                    <a:pt x="152" y="290"/>
                  </a:lnTo>
                  <a:lnTo>
                    <a:pt x="156" y="292"/>
                  </a:lnTo>
                  <a:lnTo>
                    <a:pt x="161" y="293"/>
                  </a:lnTo>
                  <a:lnTo>
                    <a:pt x="161" y="293"/>
                  </a:lnTo>
                  <a:lnTo>
                    <a:pt x="166" y="292"/>
                  </a:lnTo>
                  <a:lnTo>
                    <a:pt x="171" y="290"/>
                  </a:lnTo>
                  <a:lnTo>
                    <a:pt x="175" y="289"/>
                  </a:lnTo>
                  <a:lnTo>
                    <a:pt x="179" y="285"/>
                  </a:lnTo>
                  <a:lnTo>
                    <a:pt x="179" y="285"/>
                  </a:lnTo>
                  <a:lnTo>
                    <a:pt x="181" y="281"/>
                  </a:lnTo>
                  <a:lnTo>
                    <a:pt x="184" y="275"/>
                  </a:lnTo>
                  <a:lnTo>
                    <a:pt x="185" y="270"/>
                  </a:lnTo>
                  <a:lnTo>
                    <a:pt x="185" y="265"/>
                  </a:lnTo>
                  <a:lnTo>
                    <a:pt x="185" y="265"/>
                  </a:lnTo>
                  <a:lnTo>
                    <a:pt x="188" y="266"/>
                  </a:lnTo>
                  <a:lnTo>
                    <a:pt x="188" y="266"/>
                  </a:lnTo>
                  <a:lnTo>
                    <a:pt x="193" y="265"/>
                  </a:lnTo>
                  <a:lnTo>
                    <a:pt x="197" y="263"/>
                  </a:lnTo>
                  <a:lnTo>
                    <a:pt x="201" y="262"/>
                  </a:lnTo>
                  <a:lnTo>
                    <a:pt x="205" y="258"/>
                  </a:lnTo>
                  <a:lnTo>
                    <a:pt x="205" y="258"/>
                  </a:lnTo>
                  <a:lnTo>
                    <a:pt x="208" y="254"/>
                  </a:lnTo>
                  <a:lnTo>
                    <a:pt x="211" y="250"/>
                  </a:lnTo>
                  <a:lnTo>
                    <a:pt x="212" y="246"/>
                  </a:lnTo>
                  <a:lnTo>
                    <a:pt x="212" y="241"/>
                  </a:lnTo>
                  <a:lnTo>
                    <a:pt x="212" y="241"/>
                  </a:lnTo>
                  <a:lnTo>
                    <a:pt x="212" y="238"/>
                  </a:lnTo>
                  <a:lnTo>
                    <a:pt x="212" y="238"/>
                  </a:lnTo>
                  <a:lnTo>
                    <a:pt x="215" y="239"/>
                  </a:lnTo>
                  <a:lnTo>
                    <a:pt x="215" y="239"/>
                  </a:lnTo>
                  <a:lnTo>
                    <a:pt x="220" y="238"/>
                  </a:lnTo>
                  <a:lnTo>
                    <a:pt x="224" y="236"/>
                  </a:lnTo>
                  <a:lnTo>
                    <a:pt x="228" y="235"/>
                  </a:lnTo>
                  <a:lnTo>
                    <a:pt x="232" y="231"/>
                  </a:lnTo>
                  <a:lnTo>
                    <a:pt x="232" y="231"/>
                  </a:lnTo>
                  <a:lnTo>
                    <a:pt x="235" y="227"/>
                  </a:lnTo>
                  <a:lnTo>
                    <a:pt x="238" y="223"/>
                  </a:lnTo>
                  <a:lnTo>
                    <a:pt x="239" y="219"/>
                  </a:lnTo>
                  <a:lnTo>
                    <a:pt x="239" y="214"/>
                  </a:lnTo>
                  <a:lnTo>
                    <a:pt x="239" y="214"/>
                  </a:lnTo>
                  <a:lnTo>
                    <a:pt x="239" y="211"/>
                  </a:lnTo>
                  <a:lnTo>
                    <a:pt x="239" y="211"/>
                  </a:lnTo>
                  <a:lnTo>
                    <a:pt x="242" y="212"/>
                  </a:lnTo>
                  <a:lnTo>
                    <a:pt x="242" y="212"/>
                  </a:lnTo>
                  <a:lnTo>
                    <a:pt x="247" y="211"/>
                  </a:lnTo>
                  <a:lnTo>
                    <a:pt x="251" y="210"/>
                  </a:lnTo>
                  <a:lnTo>
                    <a:pt x="255" y="207"/>
                  </a:lnTo>
                  <a:lnTo>
                    <a:pt x="259" y="204"/>
                  </a:lnTo>
                  <a:lnTo>
                    <a:pt x="259" y="204"/>
                  </a:lnTo>
                  <a:lnTo>
                    <a:pt x="262" y="200"/>
                  </a:lnTo>
                  <a:lnTo>
                    <a:pt x="265" y="196"/>
                  </a:lnTo>
                  <a:lnTo>
                    <a:pt x="266" y="192"/>
                  </a:lnTo>
                  <a:lnTo>
                    <a:pt x="266" y="187"/>
                  </a:lnTo>
                  <a:lnTo>
                    <a:pt x="266" y="183"/>
                  </a:lnTo>
                  <a:lnTo>
                    <a:pt x="265" y="179"/>
                  </a:lnTo>
                  <a:lnTo>
                    <a:pt x="263" y="175"/>
                  </a:lnTo>
                  <a:lnTo>
                    <a:pt x="259" y="171"/>
                  </a:lnTo>
                  <a:lnTo>
                    <a:pt x="258" y="168"/>
                  </a:lnTo>
                  <a:lnTo>
                    <a:pt x="258" y="168"/>
                  </a:lnTo>
                  <a:lnTo>
                    <a:pt x="265" y="161"/>
                  </a:lnTo>
                  <a:lnTo>
                    <a:pt x="270" y="153"/>
                  </a:lnTo>
                  <a:lnTo>
                    <a:pt x="274" y="145"/>
                  </a:lnTo>
                  <a:lnTo>
                    <a:pt x="278" y="137"/>
                  </a:lnTo>
                  <a:lnTo>
                    <a:pt x="281" y="128"/>
                  </a:lnTo>
                  <a:lnTo>
                    <a:pt x="283" y="120"/>
                  </a:lnTo>
                  <a:lnTo>
                    <a:pt x="285" y="110"/>
                  </a:lnTo>
                  <a:lnTo>
                    <a:pt x="285" y="99"/>
                  </a:lnTo>
                  <a:lnTo>
                    <a:pt x="285" y="99"/>
                  </a:lnTo>
                  <a:lnTo>
                    <a:pt x="285" y="90"/>
                  </a:lnTo>
                  <a:lnTo>
                    <a:pt x="283" y="81"/>
                  </a:lnTo>
                  <a:lnTo>
                    <a:pt x="281" y="71"/>
                  </a:lnTo>
                  <a:lnTo>
                    <a:pt x="278" y="62"/>
                  </a:lnTo>
                  <a:lnTo>
                    <a:pt x="274" y="52"/>
                  </a:lnTo>
                  <a:lnTo>
                    <a:pt x="269" y="44"/>
                  </a:lnTo>
                  <a:lnTo>
                    <a:pt x="263" y="36"/>
                  </a:lnTo>
                  <a:lnTo>
                    <a:pt x="256" y="30"/>
                  </a:lnTo>
                  <a:lnTo>
                    <a:pt x="256" y="30"/>
                  </a:lnTo>
                  <a:lnTo>
                    <a:pt x="244" y="19"/>
                  </a:lnTo>
                  <a:lnTo>
                    <a:pt x="231" y="11"/>
                  </a:lnTo>
                  <a:lnTo>
                    <a:pt x="216" y="5"/>
                  </a:lnTo>
                  <a:lnTo>
                    <a:pt x="201" y="1"/>
                  </a:lnTo>
                  <a:lnTo>
                    <a:pt x="187" y="0"/>
                  </a:lnTo>
                  <a:lnTo>
                    <a:pt x="172" y="1"/>
                  </a:lnTo>
                  <a:lnTo>
                    <a:pt x="157" y="4"/>
                  </a:lnTo>
                  <a:lnTo>
                    <a:pt x="142" y="9"/>
                  </a:lnTo>
                  <a:lnTo>
                    <a:pt x="142" y="9"/>
                  </a:lnTo>
                  <a:lnTo>
                    <a:pt x="129" y="4"/>
                  </a:lnTo>
                  <a:lnTo>
                    <a:pt x="113" y="0"/>
                  </a:lnTo>
                  <a:lnTo>
                    <a:pt x="98" y="0"/>
                  </a:lnTo>
                  <a:lnTo>
                    <a:pt x="83" y="1"/>
                  </a:lnTo>
                  <a:lnTo>
                    <a:pt x="68" y="5"/>
                  </a:lnTo>
                  <a:lnTo>
                    <a:pt x="55" y="11"/>
                  </a:lnTo>
                  <a:lnTo>
                    <a:pt x="42" y="19"/>
                  </a:lnTo>
                  <a:lnTo>
                    <a:pt x="29" y="30"/>
                  </a:lnTo>
                  <a:lnTo>
                    <a:pt x="29" y="30"/>
                  </a:lnTo>
                  <a:lnTo>
                    <a:pt x="19" y="43"/>
                  </a:lnTo>
                  <a:lnTo>
                    <a:pt x="11" y="56"/>
                  </a:lnTo>
                  <a:lnTo>
                    <a:pt x="4" y="73"/>
                  </a:lnTo>
                  <a:lnTo>
                    <a:pt x="1" y="89"/>
                  </a:lnTo>
                  <a:lnTo>
                    <a:pt x="0" y="105"/>
                  </a:lnTo>
                  <a:lnTo>
                    <a:pt x="3" y="122"/>
                  </a:lnTo>
                  <a:lnTo>
                    <a:pt x="8" y="137"/>
                  </a:lnTo>
                  <a:lnTo>
                    <a:pt x="16" y="153"/>
                  </a:lnTo>
                  <a:lnTo>
                    <a:pt x="12" y="157"/>
                  </a:lnTo>
                  <a:close/>
                  <a:moveTo>
                    <a:pt x="171" y="278"/>
                  </a:moveTo>
                  <a:lnTo>
                    <a:pt x="171" y="278"/>
                  </a:lnTo>
                  <a:lnTo>
                    <a:pt x="166" y="281"/>
                  </a:lnTo>
                  <a:lnTo>
                    <a:pt x="161" y="281"/>
                  </a:lnTo>
                  <a:lnTo>
                    <a:pt x="156" y="281"/>
                  </a:lnTo>
                  <a:lnTo>
                    <a:pt x="152" y="278"/>
                  </a:lnTo>
                  <a:lnTo>
                    <a:pt x="136" y="262"/>
                  </a:lnTo>
                  <a:lnTo>
                    <a:pt x="146" y="251"/>
                  </a:lnTo>
                  <a:lnTo>
                    <a:pt x="146" y="251"/>
                  </a:lnTo>
                  <a:lnTo>
                    <a:pt x="150" y="246"/>
                  </a:lnTo>
                  <a:lnTo>
                    <a:pt x="153" y="241"/>
                  </a:lnTo>
                  <a:lnTo>
                    <a:pt x="171" y="258"/>
                  </a:lnTo>
                  <a:lnTo>
                    <a:pt x="171" y="258"/>
                  </a:lnTo>
                  <a:lnTo>
                    <a:pt x="173" y="263"/>
                  </a:lnTo>
                  <a:lnTo>
                    <a:pt x="175" y="267"/>
                  </a:lnTo>
                  <a:lnTo>
                    <a:pt x="173" y="273"/>
                  </a:lnTo>
                  <a:lnTo>
                    <a:pt x="171" y="278"/>
                  </a:lnTo>
                  <a:lnTo>
                    <a:pt x="171" y="278"/>
                  </a:lnTo>
                  <a:close/>
                  <a:moveTo>
                    <a:pt x="38" y="36"/>
                  </a:moveTo>
                  <a:lnTo>
                    <a:pt x="38" y="36"/>
                  </a:lnTo>
                  <a:lnTo>
                    <a:pt x="47" y="28"/>
                  </a:lnTo>
                  <a:lnTo>
                    <a:pt x="58" y="22"/>
                  </a:lnTo>
                  <a:lnTo>
                    <a:pt x="70" y="16"/>
                  </a:lnTo>
                  <a:lnTo>
                    <a:pt x="81" y="14"/>
                  </a:lnTo>
                  <a:lnTo>
                    <a:pt x="94" y="11"/>
                  </a:lnTo>
                  <a:lnTo>
                    <a:pt x="106" y="11"/>
                  </a:lnTo>
                  <a:lnTo>
                    <a:pt x="118" y="12"/>
                  </a:lnTo>
                  <a:lnTo>
                    <a:pt x="130" y="16"/>
                  </a:lnTo>
                  <a:lnTo>
                    <a:pt x="130" y="16"/>
                  </a:lnTo>
                  <a:lnTo>
                    <a:pt x="122" y="22"/>
                  </a:lnTo>
                  <a:lnTo>
                    <a:pt x="114" y="30"/>
                  </a:lnTo>
                  <a:lnTo>
                    <a:pt x="47" y="97"/>
                  </a:lnTo>
                  <a:lnTo>
                    <a:pt x="47" y="97"/>
                  </a:lnTo>
                  <a:lnTo>
                    <a:pt x="46" y="98"/>
                  </a:lnTo>
                  <a:lnTo>
                    <a:pt x="46" y="101"/>
                  </a:lnTo>
                  <a:lnTo>
                    <a:pt x="46" y="101"/>
                  </a:lnTo>
                  <a:lnTo>
                    <a:pt x="46" y="103"/>
                  </a:lnTo>
                  <a:lnTo>
                    <a:pt x="48" y="105"/>
                  </a:lnTo>
                  <a:lnTo>
                    <a:pt x="48" y="105"/>
                  </a:lnTo>
                  <a:lnTo>
                    <a:pt x="54" y="108"/>
                  </a:lnTo>
                  <a:lnTo>
                    <a:pt x="60" y="110"/>
                  </a:lnTo>
                  <a:lnTo>
                    <a:pt x="70" y="112"/>
                  </a:lnTo>
                  <a:lnTo>
                    <a:pt x="81" y="112"/>
                  </a:lnTo>
                  <a:lnTo>
                    <a:pt x="93" y="109"/>
                  </a:lnTo>
                  <a:lnTo>
                    <a:pt x="99" y="106"/>
                  </a:lnTo>
                  <a:lnTo>
                    <a:pt x="105" y="103"/>
                  </a:lnTo>
                  <a:lnTo>
                    <a:pt x="111" y="99"/>
                  </a:lnTo>
                  <a:lnTo>
                    <a:pt x="118" y="93"/>
                  </a:lnTo>
                  <a:lnTo>
                    <a:pt x="118" y="93"/>
                  </a:lnTo>
                  <a:lnTo>
                    <a:pt x="129" y="98"/>
                  </a:lnTo>
                  <a:lnTo>
                    <a:pt x="145" y="103"/>
                  </a:lnTo>
                  <a:lnTo>
                    <a:pt x="154" y="105"/>
                  </a:lnTo>
                  <a:lnTo>
                    <a:pt x="164" y="106"/>
                  </a:lnTo>
                  <a:lnTo>
                    <a:pt x="175" y="108"/>
                  </a:lnTo>
                  <a:lnTo>
                    <a:pt x="184" y="106"/>
                  </a:lnTo>
                  <a:lnTo>
                    <a:pt x="252" y="177"/>
                  </a:lnTo>
                  <a:lnTo>
                    <a:pt x="252" y="177"/>
                  </a:lnTo>
                  <a:lnTo>
                    <a:pt x="255" y="183"/>
                  </a:lnTo>
                  <a:lnTo>
                    <a:pt x="255" y="187"/>
                  </a:lnTo>
                  <a:lnTo>
                    <a:pt x="254" y="192"/>
                  </a:lnTo>
                  <a:lnTo>
                    <a:pt x="251" y="198"/>
                  </a:lnTo>
                  <a:lnTo>
                    <a:pt x="251" y="198"/>
                  </a:lnTo>
                  <a:lnTo>
                    <a:pt x="247" y="200"/>
                  </a:lnTo>
                  <a:lnTo>
                    <a:pt x="242" y="200"/>
                  </a:lnTo>
                  <a:lnTo>
                    <a:pt x="236" y="200"/>
                  </a:lnTo>
                  <a:lnTo>
                    <a:pt x="232" y="198"/>
                  </a:lnTo>
                  <a:lnTo>
                    <a:pt x="208" y="173"/>
                  </a:lnTo>
                  <a:lnTo>
                    <a:pt x="208" y="173"/>
                  </a:lnTo>
                  <a:lnTo>
                    <a:pt x="207" y="172"/>
                  </a:lnTo>
                  <a:lnTo>
                    <a:pt x="204" y="171"/>
                  </a:lnTo>
                  <a:lnTo>
                    <a:pt x="203" y="172"/>
                  </a:lnTo>
                  <a:lnTo>
                    <a:pt x="200" y="173"/>
                  </a:lnTo>
                  <a:lnTo>
                    <a:pt x="200" y="173"/>
                  </a:lnTo>
                  <a:lnTo>
                    <a:pt x="199" y="175"/>
                  </a:lnTo>
                  <a:lnTo>
                    <a:pt x="199" y="177"/>
                  </a:lnTo>
                  <a:lnTo>
                    <a:pt x="199" y="179"/>
                  </a:lnTo>
                  <a:lnTo>
                    <a:pt x="200" y="180"/>
                  </a:lnTo>
                  <a:lnTo>
                    <a:pt x="224" y="204"/>
                  </a:lnTo>
                  <a:lnTo>
                    <a:pt x="224" y="204"/>
                  </a:lnTo>
                  <a:lnTo>
                    <a:pt x="227" y="210"/>
                  </a:lnTo>
                  <a:lnTo>
                    <a:pt x="228" y="214"/>
                  </a:lnTo>
                  <a:lnTo>
                    <a:pt x="228" y="214"/>
                  </a:lnTo>
                  <a:lnTo>
                    <a:pt x="227" y="219"/>
                  </a:lnTo>
                  <a:lnTo>
                    <a:pt x="224" y="224"/>
                  </a:lnTo>
                  <a:lnTo>
                    <a:pt x="224" y="224"/>
                  </a:lnTo>
                  <a:lnTo>
                    <a:pt x="220" y="227"/>
                  </a:lnTo>
                  <a:lnTo>
                    <a:pt x="215" y="227"/>
                  </a:lnTo>
                  <a:lnTo>
                    <a:pt x="209" y="227"/>
                  </a:lnTo>
                  <a:lnTo>
                    <a:pt x="205" y="224"/>
                  </a:lnTo>
                  <a:lnTo>
                    <a:pt x="181" y="200"/>
                  </a:lnTo>
                  <a:lnTo>
                    <a:pt x="181" y="200"/>
                  </a:lnTo>
                  <a:lnTo>
                    <a:pt x="180" y="199"/>
                  </a:lnTo>
                  <a:lnTo>
                    <a:pt x="177" y="198"/>
                  </a:lnTo>
                  <a:lnTo>
                    <a:pt x="176" y="199"/>
                  </a:lnTo>
                  <a:lnTo>
                    <a:pt x="173" y="200"/>
                  </a:lnTo>
                  <a:lnTo>
                    <a:pt x="173" y="200"/>
                  </a:lnTo>
                  <a:lnTo>
                    <a:pt x="172" y="202"/>
                  </a:lnTo>
                  <a:lnTo>
                    <a:pt x="172" y="203"/>
                  </a:lnTo>
                  <a:lnTo>
                    <a:pt x="172" y="206"/>
                  </a:lnTo>
                  <a:lnTo>
                    <a:pt x="173" y="207"/>
                  </a:lnTo>
                  <a:lnTo>
                    <a:pt x="197" y="231"/>
                  </a:lnTo>
                  <a:lnTo>
                    <a:pt x="197" y="231"/>
                  </a:lnTo>
                  <a:lnTo>
                    <a:pt x="200" y="236"/>
                  </a:lnTo>
                  <a:lnTo>
                    <a:pt x="201" y="241"/>
                  </a:lnTo>
                  <a:lnTo>
                    <a:pt x="201" y="241"/>
                  </a:lnTo>
                  <a:lnTo>
                    <a:pt x="200" y="246"/>
                  </a:lnTo>
                  <a:lnTo>
                    <a:pt x="197" y="251"/>
                  </a:lnTo>
                  <a:lnTo>
                    <a:pt x="197" y="251"/>
                  </a:lnTo>
                  <a:lnTo>
                    <a:pt x="193" y="254"/>
                  </a:lnTo>
                  <a:lnTo>
                    <a:pt x="188" y="254"/>
                  </a:lnTo>
                  <a:lnTo>
                    <a:pt x="183" y="254"/>
                  </a:lnTo>
                  <a:lnTo>
                    <a:pt x="179" y="251"/>
                  </a:lnTo>
                  <a:lnTo>
                    <a:pt x="152" y="224"/>
                  </a:lnTo>
                  <a:lnTo>
                    <a:pt x="152" y="224"/>
                  </a:lnTo>
                  <a:lnTo>
                    <a:pt x="146" y="218"/>
                  </a:lnTo>
                  <a:lnTo>
                    <a:pt x="146" y="218"/>
                  </a:lnTo>
                  <a:lnTo>
                    <a:pt x="144" y="214"/>
                  </a:lnTo>
                  <a:lnTo>
                    <a:pt x="140" y="212"/>
                  </a:lnTo>
                  <a:lnTo>
                    <a:pt x="134" y="211"/>
                  </a:lnTo>
                  <a:lnTo>
                    <a:pt x="130" y="210"/>
                  </a:lnTo>
                  <a:lnTo>
                    <a:pt x="130" y="210"/>
                  </a:lnTo>
                  <a:lnTo>
                    <a:pt x="128" y="210"/>
                  </a:lnTo>
                  <a:lnTo>
                    <a:pt x="128" y="210"/>
                  </a:lnTo>
                  <a:lnTo>
                    <a:pt x="128" y="207"/>
                  </a:lnTo>
                  <a:lnTo>
                    <a:pt x="128" y="207"/>
                  </a:lnTo>
                  <a:lnTo>
                    <a:pt x="126" y="203"/>
                  </a:lnTo>
                  <a:lnTo>
                    <a:pt x="125" y="198"/>
                  </a:lnTo>
                  <a:lnTo>
                    <a:pt x="123" y="193"/>
                  </a:lnTo>
                  <a:lnTo>
                    <a:pt x="119" y="191"/>
                  </a:lnTo>
                  <a:lnTo>
                    <a:pt x="119" y="191"/>
                  </a:lnTo>
                  <a:lnTo>
                    <a:pt x="117" y="187"/>
                  </a:lnTo>
                  <a:lnTo>
                    <a:pt x="113" y="185"/>
                  </a:lnTo>
                  <a:lnTo>
                    <a:pt x="107" y="184"/>
                  </a:lnTo>
                  <a:lnTo>
                    <a:pt x="103" y="183"/>
                  </a:lnTo>
                  <a:lnTo>
                    <a:pt x="103" y="183"/>
                  </a:lnTo>
                  <a:lnTo>
                    <a:pt x="101" y="183"/>
                  </a:lnTo>
                  <a:lnTo>
                    <a:pt x="101" y="183"/>
                  </a:lnTo>
                  <a:lnTo>
                    <a:pt x="101" y="180"/>
                  </a:lnTo>
                  <a:lnTo>
                    <a:pt x="101" y="180"/>
                  </a:lnTo>
                  <a:lnTo>
                    <a:pt x="99" y="176"/>
                  </a:lnTo>
                  <a:lnTo>
                    <a:pt x="98" y="171"/>
                  </a:lnTo>
                  <a:lnTo>
                    <a:pt x="97" y="167"/>
                  </a:lnTo>
                  <a:lnTo>
                    <a:pt x="93" y="164"/>
                  </a:lnTo>
                  <a:lnTo>
                    <a:pt x="93" y="164"/>
                  </a:lnTo>
                  <a:lnTo>
                    <a:pt x="90" y="160"/>
                  </a:lnTo>
                  <a:lnTo>
                    <a:pt x="86" y="159"/>
                  </a:lnTo>
                  <a:lnTo>
                    <a:pt x="81" y="157"/>
                  </a:lnTo>
                  <a:lnTo>
                    <a:pt x="76" y="156"/>
                  </a:lnTo>
                  <a:lnTo>
                    <a:pt x="76" y="156"/>
                  </a:lnTo>
                  <a:lnTo>
                    <a:pt x="74" y="156"/>
                  </a:lnTo>
                  <a:lnTo>
                    <a:pt x="74" y="156"/>
                  </a:lnTo>
                  <a:lnTo>
                    <a:pt x="74" y="151"/>
                  </a:lnTo>
                  <a:lnTo>
                    <a:pt x="72" y="146"/>
                  </a:lnTo>
                  <a:lnTo>
                    <a:pt x="70" y="141"/>
                  </a:lnTo>
                  <a:lnTo>
                    <a:pt x="66" y="137"/>
                  </a:lnTo>
                  <a:lnTo>
                    <a:pt x="66" y="137"/>
                  </a:lnTo>
                  <a:lnTo>
                    <a:pt x="63" y="133"/>
                  </a:lnTo>
                  <a:lnTo>
                    <a:pt x="59" y="132"/>
                  </a:lnTo>
                  <a:lnTo>
                    <a:pt x="54" y="130"/>
                  </a:lnTo>
                  <a:lnTo>
                    <a:pt x="50" y="129"/>
                  </a:lnTo>
                  <a:lnTo>
                    <a:pt x="50" y="129"/>
                  </a:lnTo>
                  <a:lnTo>
                    <a:pt x="44" y="130"/>
                  </a:lnTo>
                  <a:lnTo>
                    <a:pt x="40" y="132"/>
                  </a:lnTo>
                  <a:lnTo>
                    <a:pt x="36" y="133"/>
                  </a:lnTo>
                  <a:lnTo>
                    <a:pt x="32" y="137"/>
                  </a:lnTo>
                  <a:lnTo>
                    <a:pt x="23" y="145"/>
                  </a:lnTo>
                  <a:lnTo>
                    <a:pt x="23" y="145"/>
                  </a:lnTo>
                  <a:lnTo>
                    <a:pt x="17" y="132"/>
                  </a:lnTo>
                  <a:lnTo>
                    <a:pt x="13" y="117"/>
                  </a:lnTo>
                  <a:lnTo>
                    <a:pt x="11" y="103"/>
                  </a:lnTo>
                  <a:lnTo>
                    <a:pt x="12" y="89"/>
                  </a:lnTo>
                  <a:lnTo>
                    <a:pt x="15" y="75"/>
                  </a:lnTo>
                  <a:lnTo>
                    <a:pt x="20" y="61"/>
                  </a:lnTo>
                  <a:lnTo>
                    <a:pt x="28" y="48"/>
                  </a:lnTo>
                  <a:lnTo>
                    <a:pt x="38" y="36"/>
                  </a:lnTo>
                  <a:lnTo>
                    <a:pt x="38"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5" name="Group 64"/>
          <p:cNvGrpSpPr/>
          <p:nvPr/>
        </p:nvGrpSpPr>
        <p:grpSpPr>
          <a:xfrm>
            <a:off x="6311981" y="314446"/>
            <a:ext cx="142356" cy="138042"/>
            <a:chOff x="1563688" y="5153660"/>
            <a:chExt cx="261938" cy="254000"/>
          </a:xfrm>
        </p:grpSpPr>
        <p:sp>
          <p:nvSpPr>
            <p:cNvPr id="66" name="Freeform 206"/>
            <p:cNvSpPr>
              <a:spLocks/>
            </p:cNvSpPr>
            <p:nvPr/>
          </p:nvSpPr>
          <p:spPr bwMode="auto">
            <a:xfrm>
              <a:off x="1687513" y="5183823"/>
              <a:ext cx="138113" cy="14288"/>
            </a:xfrm>
            <a:custGeom>
              <a:avLst/>
              <a:gdLst>
                <a:gd name="T0" fmla="*/ 164 w 173"/>
                <a:gd name="T1" fmla="*/ 19 h 19"/>
                <a:gd name="T2" fmla="*/ 164 w 173"/>
                <a:gd name="T3" fmla="*/ 19 h 19"/>
                <a:gd name="T4" fmla="*/ 168 w 173"/>
                <a:gd name="T5" fmla="*/ 18 h 19"/>
                <a:gd name="T6" fmla="*/ 170 w 173"/>
                <a:gd name="T7" fmla="*/ 16 h 19"/>
                <a:gd name="T8" fmla="*/ 172 w 173"/>
                <a:gd name="T9" fmla="*/ 12 h 19"/>
                <a:gd name="T10" fmla="*/ 173 w 173"/>
                <a:gd name="T11" fmla="*/ 10 h 19"/>
                <a:gd name="T12" fmla="*/ 173 w 173"/>
                <a:gd name="T13" fmla="*/ 10 h 19"/>
                <a:gd name="T14" fmla="*/ 172 w 173"/>
                <a:gd name="T15" fmla="*/ 6 h 19"/>
                <a:gd name="T16" fmla="*/ 170 w 173"/>
                <a:gd name="T17" fmla="*/ 3 h 19"/>
                <a:gd name="T18" fmla="*/ 168 w 173"/>
                <a:gd name="T19" fmla="*/ 0 h 19"/>
                <a:gd name="T20" fmla="*/ 164 w 173"/>
                <a:gd name="T21" fmla="*/ 0 h 19"/>
                <a:gd name="T22" fmla="*/ 0 w 173"/>
                <a:gd name="T23" fmla="*/ 0 h 19"/>
                <a:gd name="T24" fmla="*/ 0 w 173"/>
                <a:gd name="T25" fmla="*/ 19 h 19"/>
                <a:gd name="T26" fmla="*/ 164 w 173"/>
                <a:gd name="T2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19">
                  <a:moveTo>
                    <a:pt x="164" y="19"/>
                  </a:moveTo>
                  <a:lnTo>
                    <a:pt x="164" y="19"/>
                  </a:lnTo>
                  <a:lnTo>
                    <a:pt x="168" y="18"/>
                  </a:lnTo>
                  <a:lnTo>
                    <a:pt x="170" y="16"/>
                  </a:lnTo>
                  <a:lnTo>
                    <a:pt x="172" y="12"/>
                  </a:lnTo>
                  <a:lnTo>
                    <a:pt x="173" y="10"/>
                  </a:lnTo>
                  <a:lnTo>
                    <a:pt x="173" y="10"/>
                  </a:lnTo>
                  <a:lnTo>
                    <a:pt x="172" y="6"/>
                  </a:lnTo>
                  <a:lnTo>
                    <a:pt x="170" y="3"/>
                  </a:lnTo>
                  <a:lnTo>
                    <a:pt x="168" y="0"/>
                  </a:lnTo>
                  <a:lnTo>
                    <a:pt x="164" y="0"/>
                  </a:lnTo>
                  <a:lnTo>
                    <a:pt x="0" y="0"/>
                  </a:lnTo>
                  <a:lnTo>
                    <a:pt x="0" y="19"/>
                  </a:lnTo>
                  <a:lnTo>
                    <a:pt x="16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07"/>
            <p:cNvSpPr>
              <a:spLocks/>
            </p:cNvSpPr>
            <p:nvPr/>
          </p:nvSpPr>
          <p:spPr bwMode="auto">
            <a:xfrm>
              <a:off x="1563688" y="5153660"/>
              <a:ext cx="111125" cy="73025"/>
            </a:xfrm>
            <a:custGeom>
              <a:avLst/>
              <a:gdLst>
                <a:gd name="T0" fmla="*/ 138 w 138"/>
                <a:gd name="T1" fmla="*/ 88 h 92"/>
                <a:gd name="T2" fmla="*/ 138 w 138"/>
                <a:gd name="T3" fmla="*/ 5 h 92"/>
                <a:gd name="T4" fmla="*/ 138 w 138"/>
                <a:gd name="T5" fmla="*/ 5 h 92"/>
                <a:gd name="T6" fmla="*/ 138 w 138"/>
                <a:gd name="T7" fmla="*/ 2 h 92"/>
                <a:gd name="T8" fmla="*/ 137 w 138"/>
                <a:gd name="T9" fmla="*/ 1 h 92"/>
                <a:gd name="T10" fmla="*/ 135 w 138"/>
                <a:gd name="T11" fmla="*/ 0 h 92"/>
                <a:gd name="T12" fmla="*/ 133 w 138"/>
                <a:gd name="T13" fmla="*/ 0 h 92"/>
                <a:gd name="T14" fmla="*/ 82 w 138"/>
                <a:gd name="T15" fmla="*/ 0 h 92"/>
                <a:gd name="T16" fmla="*/ 82 w 138"/>
                <a:gd name="T17" fmla="*/ 0 h 92"/>
                <a:gd name="T18" fmla="*/ 79 w 138"/>
                <a:gd name="T19" fmla="*/ 0 h 92"/>
                <a:gd name="T20" fmla="*/ 78 w 138"/>
                <a:gd name="T21" fmla="*/ 1 h 92"/>
                <a:gd name="T22" fmla="*/ 76 w 138"/>
                <a:gd name="T23" fmla="*/ 2 h 92"/>
                <a:gd name="T24" fmla="*/ 76 w 138"/>
                <a:gd name="T25" fmla="*/ 5 h 92"/>
                <a:gd name="T26" fmla="*/ 76 w 138"/>
                <a:gd name="T27" fmla="*/ 37 h 92"/>
                <a:gd name="T28" fmla="*/ 9 w 138"/>
                <a:gd name="T29" fmla="*/ 37 h 92"/>
                <a:gd name="T30" fmla="*/ 9 w 138"/>
                <a:gd name="T31" fmla="*/ 37 h 92"/>
                <a:gd name="T32" fmla="*/ 5 w 138"/>
                <a:gd name="T33" fmla="*/ 37 h 92"/>
                <a:gd name="T34" fmla="*/ 2 w 138"/>
                <a:gd name="T35" fmla="*/ 40 h 92"/>
                <a:gd name="T36" fmla="*/ 1 w 138"/>
                <a:gd name="T37" fmla="*/ 43 h 92"/>
                <a:gd name="T38" fmla="*/ 0 w 138"/>
                <a:gd name="T39" fmla="*/ 47 h 92"/>
                <a:gd name="T40" fmla="*/ 0 w 138"/>
                <a:gd name="T41" fmla="*/ 47 h 92"/>
                <a:gd name="T42" fmla="*/ 1 w 138"/>
                <a:gd name="T43" fmla="*/ 49 h 92"/>
                <a:gd name="T44" fmla="*/ 2 w 138"/>
                <a:gd name="T45" fmla="*/ 53 h 92"/>
                <a:gd name="T46" fmla="*/ 5 w 138"/>
                <a:gd name="T47" fmla="*/ 55 h 92"/>
                <a:gd name="T48" fmla="*/ 9 w 138"/>
                <a:gd name="T49" fmla="*/ 56 h 92"/>
                <a:gd name="T50" fmla="*/ 76 w 138"/>
                <a:gd name="T51" fmla="*/ 56 h 92"/>
                <a:gd name="T52" fmla="*/ 76 w 138"/>
                <a:gd name="T53" fmla="*/ 88 h 92"/>
                <a:gd name="T54" fmla="*/ 76 w 138"/>
                <a:gd name="T55" fmla="*/ 88 h 92"/>
                <a:gd name="T56" fmla="*/ 76 w 138"/>
                <a:gd name="T57" fmla="*/ 90 h 92"/>
                <a:gd name="T58" fmla="*/ 78 w 138"/>
                <a:gd name="T59" fmla="*/ 91 h 92"/>
                <a:gd name="T60" fmla="*/ 79 w 138"/>
                <a:gd name="T61" fmla="*/ 92 h 92"/>
                <a:gd name="T62" fmla="*/ 82 w 138"/>
                <a:gd name="T63" fmla="*/ 92 h 92"/>
                <a:gd name="T64" fmla="*/ 133 w 138"/>
                <a:gd name="T65" fmla="*/ 92 h 92"/>
                <a:gd name="T66" fmla="*/ 133 w 138"/>
                <a:gd name="T67" fmla="*/ 92 h 92"/>
                <a:gd name="T68" fmla="*/ 135 w 138"/>
                <a:gd name="T69" fmla="*/ 92 h 92"/>
                <a:gd name="T70" fmla="*/ 137 w 138"/>
                <a:gd name="T71" fmla="*/ 91 h 92"/>
                <a:gd name="T72" fmla="*/ 138 w 138"/>
                <a:gd name="T73" fmla="*/ 90 h 92"/>
                <a:gd name="T74" fmla="*/ 138 w 138"/>
                <a:gd name="T75" fmla="*/ 88 h 92"/>
                <a:gd name="T76" fmla="*/ 138 w 138"/>
                <a:gd name="T77"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8" h="92">
                  <a:moveTo>
                    <a:pt x="138" y="88"/>
                  </a:moveTo>
                  <a:lnTo>
                    <a:pt x="138" y="5"/>
                  </a:lnTo>
                  <a:lnTo>
                    <a:pt x="138" y="5"/>
                  </a:lnTo>
                  <a:lnTo>
                    <a:pt x="138" y="2"/>
                  </a:lnTo>
                  <a:lnTo>
                    <a:pt x="137" y="1"/>
                  </a:lnTo>
                  <a:lnTo>
                    <a:pt x="135" y="0"/>
                  </a:lnTo>
                  <a:lnTo>
                    <a:pt x="133" y="0"/>
                  </a:lnTo>
                  <a:lnTo>
                    <a:pt x="82" y="0"/>
                  </a:lnTo>
                  <a:lnTo>
                    <a:pt x="82" y="0"/>
                  </a:lnTo>
                  <a:lnTo>
                    <a:pt x="79" y="0"/>
                  </a:lnTo>
                  <a:lnTo>
                    <a:pt x="78" y="1"/>
                  </a:lnTo>
                  <a:lnTo>
                    <a:pt x="76" y="2"/>
                  </a:lnTo>
                  <a:lnTo>
                    <a:pt x="76" y="5"/>
                  </a:lnTo>
                  <a:lnTo>
                    <a:pt x="76" y="37"/>
                  </a:lnTo>
                  <a:lnTo>
                    <a:pt x="9" y="37"/>
                  </a:lnTo>
                  <a:lnTo>
                    <a:pt x="9" y="37"/>
                  </a:lnTo>
                  <a:lnTo>
                    <a:pt x="5" y="37"/>
                  </a:lnTo>
                  <a:lnTo>
                    <a:pt x="2" y="40"/>
                  </a:lnTo>
                  <a:lnTo>
                    <a:pt x="1" y="43"/>
                  </a:lnTo>
                  <a:lnTo>
                    <a:pt x="0" y="47"/>
                  </a:lnTo>
                  <a:lnTo>
                    <a:pt x="0" y="47"/>
                  </a:lnTo>
                  <a:lnTo>
                    <a:pt x="1" y="49"/>
                  </a:lnTo>
                  <a:lnTo>
                    <a:pt x="2" y="53"/>
                  </a:lnTo>
                  <a:lnTo>
                    <a:pt x="5" y="55"/>
                  </a:lnTo>
                  <a:lnTo>
                    <a:pt x="9" y="56"/>
                  </a:lnTo>
                  <a:lnTo>
                    <a:pt x="76" y="56"/>
                  </a:lnTo>
                  <a:lnTo>
                    <a:pt x="76" y="88"/>
                  </a:lnTo>
                  <a:lnTo>
                    <a:pt x="76" y="88"/>
                  </a:lnTo>
                  <a:lnTo>
                    <a:pt x="76" y="90"/>
                  </a:lnTo>
                  <a:lnTo>
                    <a:pt x="78" y="91"/>
                  </a:lnTo>
                  <a:lnTo>
                    <a:pt x="79" y="92"/>
                  </a:lnTo>
                  <a:lnTo>
                    <a:pt x="82" y="92"/>
                  </a:lnTo>
                  <a:lnTo>
                    <a:pt x="133" y="92"/>
                  </a:lnTo>
                  <a:lnTo>
                    <a:pt x="133" y="92"/>
                  </a:lnTo>
                  <a:lnTo>
                    <a:pt x="135" y="92"/>
                  </a:lnTo>
                  <a:lnTo>
                    <a:pt x="137" y="91"/>
                  </a:lnTo>
                  <a:lnTo>
                    <a:pt x="138" y="90"/>
                  </a:lnTo>
                  <a:lnTo>
                    <a:pt x="138" y="88"/>
                  </a:lnTo>
                  <a:lnTo>
                    <a:pt x="138"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08"/>
            <p:cNvSpPr>
              <a:spLocks/>
            </p:cNvSpPr>
            <p:nvPr/>
          </p:nvSpPr>
          <p:spPr bwMode="auto">
            <a:xfrm>
              <a:off x="1687513" y="5363210"/>
              <a:ext cx="138113" cy="15875"/>
            </a:xfrm>
            <a:custGeom>
              <a:avLst/>
              <a:gdLst>
                <a:gd name="T0" fmla="*/ 164 w 173"/>
                <a:gd name="T1" fmla="*/ 19 h 19"/>
                <a:gd name="T2" fmla="*/ 164 w 173"/>
                <a:gd name="T3" fmla="*/ 19 h 19"/>
                <a:gd name="T4" fmla="*/ 168 w 173"/>
                <a:gd name="T5" fmla="*/ 19 h 19"/>
                <a:gd name="T6" fmla="*/ 170 w 173"/>
                <a:gd name="T7" fmla="*/ 17 h 19"/>
                <a:gd name="T8" fmla="*/ 172 w 173"/>
                <a:gd name="T9" fmla="*/ 14 h 19"/>
                <a:gd name="T10" fmla="*/ 173 w 173"/>
                <a:gd name="T11" fmla="*/ 10 h 19"/>
                <a:gd name="T12" fmla="*/ 173 w 173"/>
                <a:gd name="T13" fmla="*/ 10 h 19"/>
                <a:gd name="T14" fmla="*/ 172 w 173"/>
                <a:gd name="T15" fmla="*/ 7 h 19"/>
                <a:gd name="T16" fmla="*/ 170 w 173"/>
                <a:gd name="T17" fmla="*/ 3 h 19"/>
                <a:gd name="T18" fmla="*/ 168 w 173"/>
                <a:gd name="T19" fmla="*/ 2 h 19"/>
                <a:gd name="T20" fmla="*/ 164 w 173"/>
                <a:gd name="T21" fmla="*/ 0 h 19"/>
                <a:gd name="T22" fmla="*/ 0 w 173"/>
                <a:gd name="T23" fmla="*/ 0 h 19"/>
                <a:gd name="T24" fmla="*/ 0 w 173"/>
                <a:gd name="T25" fmla="*/ 19 h 19"/>
                <a:gd name="T26" fmla="*/ 164 w 173"/>
                <a:gd name="T2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19">
                  <a:moveTo>
                    <a:pt x="164" y="19"/>
                  </a:moveTo>
                  <a:lnTo>
                    <a:pt x="164" y="19"/>
                  </a:lnTo>
                  <a:lnTo>
                    <a:pt x="168" y="19"/>
                  </a:lnTo>
                  <a:lnTo>
                    <a:pt x="170" y="17"/>
                  </a:lnTo>
                  <a:lnTo>
                    <a:pt x="172" y="14"/>
                  </a:lnTo>
                  <a:lnTo>
                    <a:pt x="173" y="10"/>
                  </a:lnTo>
                  <a:lnTo>
                    <a:pt x="173" y="10"/>
                  </a:lnTo>
                  <a:lnTo>
                    <a:pt x="172" y="7"/>
                  </a:lnTo>
                  <a:lnTo>
                    <a:pt x="170" y="3"/>
                  </a:lnTo>
                  <a:lnTo>
                    <a:pt x="168" y="2"/>
                  </a:lnTo>
                  <a:lnTo>
                    <a:pt x="164" y="0"/>
                  </a:lnTo>
                  <a:lnTo>
                    <a:pt x="0" y="0"/>
                  </a:lnTo>
                  <a:lnTo>
                    <a:pt x="0" y="19"/>
                  </a:lnTo>
                  <a:lnTo>
                    <a:pt x="16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09"/>
            <p:cNvSpPr>
              <a:spLocks/>
            </p:cNvSpPr>
            <p:nvPr/>
          </p:nvSpPr>
          <p:spPr bwMode="auto">
            <a:xfrm>
              <a:off x="1563688" y="5334635"/>
              <a:ext cx="111125" cy="73025"/>
            </a:xfrm>
            <a:custGeom>
              <a:avLst/>
              <a:gdLst>
                <a:gd name="T0" fmla="*/ 138 w 138"/>
                <a:gd name="T1" fmla="*/ 87 h 93"/>
                <a:gd name="T2" fmla="*/ 138 w 138"/>
                <a:gd name="T3" fmla="*/ 4 h 93"/>
                <a:gd name="T4" fmla="*/ 138 w 138"/>
                <a:gd name="T5" fmla="*/ 4 h 93"/>
                <a:gd name="T6" fmla="*/ 138 w 138"/>
                <a:gd name="T7" fmla="*/ 3 h 93"/>
                <a:gd name="T8" fmla="*/ 137 w 138"/>
                <a:gd name="T9" fmla="*/ 1 h 93"/>
                <a:gd name="T10" fmla="*/ 135 w 138"/>
                <a:gd name="T11" fmla="*/ 0 h 93"/>
                <a:gd name="T12" fmla="*/ 133 w 138"/>
                <a:gd name="T13" fmla="*/ 0 h 93"/>
                <a:gd name="T14" fmla="*/ 82 w 138"/>
                <a:gd name="T15" fmla="*/ 0 h 93"/>
                <a:gd name="T16" fmla="*/ 82 w 138"/>
                <a:gd name="T17" fmla="*/ 0 h 93"/>
                <a:gd name="T18" fmla="*/ 79 w 138"/>
                <a:gd name="T19" fmla="*/ 0 h 93"/>
                <a:gd name="T20" fmla="*/ 78 w 138"/>
                <a:gd name="T21" fmla="*/ 1 h 93"/>
                <a:gd name="T22" fmla="*/ 76 w 138"/>
                <a:gd name="T23" fmla="*/ 3 h 93"/>
                <a:gd name="T24" fmla="*/ 76 w 138"/>
                <a:gd name="T25" fmla="*/ 4 h 93"/>
                <a:gd name="T26" fmla="*/ 76 w 138"/>
                <a:gd name="T27" fmla="*/ 36 h 93"/>
                <a:gd name="T28" fmla="*/ 9 w 138"/>
                <a:gd name="T29" fmla="*/ 36 h 93"/>
                <a:gd name="T30" fmla="*/ 9 w 138"/>
                <a:gd name="T31" fmla="*/ 36 h 93"/>
                <a:gd name="T32" fmla="*/ 5 w 138"/>
                <a:gd name="T33" fmla="*/ 38 h 93"/>
                <a:gd name="T34" fmla="*/ 2 w 138"/>
                <a:gd name="T35" fmla="*/ 39 h 93"/>
                <a:gd name="T36" fmla="*/ 1 w 138"/>
                <a:gd name="T37" fmla="*/ 43 h 93"/>
                <a:gd name="T38" fmla="*/ 0 w 138"/>
                <a:gd name="T39" fmla="*/ 46 h 93"/>
                <a:gd name="T40" fmla="*/ 0 w 138"/>
                <a:gd name="T41" fmla="*/ 46 h 93"/>
                <a:gd name="T42" fmla="*/ 1 w 138"/>
                <a:gd name="T43" fmla="*/ 50 h 93"/>
                <a:gd name="T44" fmla="*/ 2 w 138"/>
                <a:gd name="T45" fmla="*/ 53 h 93"/>
                <a:gd name="T46" fmla="*/ 5 w 138"/>
                <a:gd name="T47" fmla="*/ 55 h 93"/>
                <a:gd name="T48" fmla="*/ 9 w 138"/>
                <a:gd name="T49" fmla="*/ 55 h 93"/>
                <a:gd name="T50" fmla="*/ 76 w 138"/>
                <a:gd name="T51" fmla="*/ 55 h 93"/>
                <a:gd name="T52" fmla="*/ 76 w 138"/>
                <a:gd name="T53" fmla="*/ 87 h 93"/>
                <a:gd name="T54" fmla="*/ 76 w 138"/>
                <a:gd name="T55" fmla="*/ 87 h 93"/>
                <a:gd name="T56" fmla="*/ 76 w 138"/>
                <a:gd name="T57" fmla="*/ 89 h 93"/>
                <a:gd name="T58" fmla="*/ 78 w 138"/>
                <a:gd name="T59" fmla="*/ 92 h 93"/>
                <a:gd name="T60" fmla="*/ 79 w 138"/>
                <a:gd name="T61" fmla="*/ 93 h 93"/>
                <a:gd name="T62" fmla="*/ 82 w 138"/>
                <a:gd name="T63" fmla="*/ 93 h 93"/>
                <a:gd name="T64" fmla="*/ 133 w 138"/>
                <a:gd name="T65" fmla="*/ 93 h 93"/>
                <a:gd name="T66" fmla="*/ 133 w 138"/>
                <a:gd name="T67" fmla="*/ 93 h 93"/>
                <a:gd name="T68" fmla="*/ 135 w 138"/>
                <a:gd name="T69" fmla="*/ 93 h 93"/>
                <a:gd name="T70" fmla="*/ 137 w 138"/>
                <a:gd name="T71" fmla="*/ 92 h 93"/>
                <a:gd name="T72" fmla="*/ 138 w 138"/>
                <a:gd name="T73" fmla="*/ 89 h 93"/>
                <a:gd name="T74" fmla="*/ 138 w 138"/>
                <a:gd name="T75" fmla="*/ 87 h 93"/>
                <a:gd name="T76" fmla="*/ 138 w 138"/>
                <a:gd name="T77" fmla="*/ 87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8" h="93">
                  <a:moveTo>
                    <a:pt x="138" y="87"/>
                  </a:moveTo>
                  <a:lnTo>
                    <a:pt x="138" y="4"/>
                  </a:lnTo>
                  <a:lnTo>
                    <a:pt x="138" y="4"/>
                  </a:lnTo>
                  <a:lnTo>
                    <a:pt x="138" y="3"/>
                  </a:lnTo>
                  <a:lnTo>
                    <a:pt x="137" y="1"/>
                  </a:lnTo>
                  <a:lnTo>
                    <a:pt x="135" y="0"/>
                  </a:lnTo>
                  <a:lnTo>
                    <a:pt x="133" y="0"/>
                  </a:lnTo>
                  <a:lnTo>
                    <a:pt x="82" y="0"/>
                  </a:lnTo>
                  <a:lnTo>
                    <a:pt x="82" y="0"/>
                  </a:lnTo>
                  <a:lnTo>
                    <a:pt x="79" y="0"/>
                  </a:lnTo>
                  <a:lnTo>
                    <a:pt x="78" y="1"/>
                  </a:lnTo>
                  <a:lnTo>
                    <a:pt x="76" y="3"/>
                  </a:lnTo>
                  <a:lnTo>
                    <a:pt x="76" y="4"/>
                  </a:lnTo>
                  <a:lnTo>
                    <a:pt x="76" y="36"/>
                  </a:lnTo>
                  <a:lnTo>
                    <a:pt x="9" y="36"/>
                  </a:lnTo>
                  <a:lnTo>
                    <a:pt x="9" y="36"/>
                  </a:lnTo>
                  <a:lnTo>
                    <a:pt x="5" y="38"/>
                  </a:lnTo>
                  <a:lnTo>
                    <a:pt x="2" y="39"/>
                  </a:lnTo>
                  <a:lnTo>
                    <a:pt x="1" y="43"/>
                  </a:lnTo>
                  <a:lnTo>
                    <a:pt x="0" y="46"/>
                  </a:lnTo>
                  <a:lnTo>
                    <a:pt x="0" y="46"/>
                  </a:lnTo>
                  <a:lnTo>
                    <a:pt x="1" y="50"/>
                  </a:lnTo>
                  <a:lnTo>
                    <a:pt x="2" y="53"/>
                  </a:lnTo>
                  <a:lnTo>
                    <a:pt x="5" y="55"/>
                  </a:lnTo>
                  <a:lnTo>
                    <a:pt x="9" y="55"/>
                  </a:lnTo>
                  <a:lnTo>
                    <a:pt x="76" y="55"/>
                  </a:lnTo>
                  <a:lnTo>
                    <a:pt x="76" y="87"/>
                  </a:lnTo>
                  <a:lnTo>
                    <a:pt x="76" y="87"/>
                  </a:lnTo>
                  <a:lnTo>
                    <a:pt x="76" y="89"/>
                  </a:lnTo>
                  <a:lnTo>
                    <a:pt x="78" y="92"/>
                  </a:lnTo>
                  <a:lnTo>
                    <a:pt x="79" y="93"/>
                  </a:lnTo>
                  <a:lnTo>
                    <a:pt x="82" y="93"/>
                  </a:lnTo>
                  <a:lnTo>
                    <a:pt x="133" y="93"/>
                  </a:lnTo>
                  <a:lnTo>
                    <a:pt x="133" y="93"/>
                  </a:lnTo>
                  <a:lnTo>
                    <a:pt x="135" y="93"/>
                  </a:lnTo>
                  <a:lnTo>
                    <a:pt x="137" y="92"/>
                  </a:lnTo>
                  <a:lnTo>
                    <a:pt x="138" y="89"/>
                  </a:lnTo>
                  <a:lnTo>
                    <a:pt x="138" y="87"/>
                  </a:lnTo>
                  <a:lnTo>
                    <a:pt x="138"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10"/>
            <p:cNvSpPr>
              <a:spLocks/>
            </p:cNvSpPr>
            <p:nvPr/>
          </p:nvSpPr>
          <p:spPr bwMode="auto">
            <a:xfrm>
              <a:off x="1563688" y="5274310"/>
              <a:ext cx="138113" cy="12700"/>
            </a:xfrm>
            <a:custGeom>
              <a:avLst/>
              <a:gdLst>
                <a:gd name="T0" fmla="*/ 9 w 173"/>
                <a:gd name="T1" fmla="*/ 0 h 17"/>
                <a:gd name="T2" fmla="*/ 9 w 173"/>
                <a:gd name="T3" fmla="*/ 0 h 17"/>
                <a:gd name="T4" fmla="*/ 5 w 173"/>
                <a:gd name="T5" fmla="*/ 0 h 17"/>
                <a:gd name="T6" fmla="*/ 2 w 173"/>
                <a:gd name="T7" fmla="*/ 2 h 17"/>
                <a:gd name="T8" fmla="*/ 1 w 173"/>
                <a:gd name="T9" fmla="*/ 5 h 17"/>
                <a:gd name="T10" fmla="*/ 0 w 173"/>
                <a:gd name="T11" fmla="*/ 8 h 17"/>
                <a:gd name="T12" fmla="*/ 0 w 173"/>
                <a:gd name="T13" fmla="*/ 8 h 17"/>
                <a:gd name="T14" fmla="*/ 1 w 173"/>
                <a:gd name="T15" fmla="*/ 12 h 17"/>
                <a:gd name="T16" fmla="*/ 2 w 173"/>
                <a:gd name="T17" fmla="*/ 14 h 17"/>
                <a:gd name="T18" fmla="*/ 5 w 173"/>
                <a:gd name="T19" fmla="*/ 17 h 17"/>
                <a:gd name="T20" fmla="*/ 9 w 173"/>
                <a:gd name="T21" fmla="*/ 17 h 17"/>
                <a:gd name="T22" fmla="*/ 173 w 173"/>
                <a:gd name="T23" fmla="*/ 17 h 17"/>
                <a:gd name="T24" fmla="*/ 173 w 173"/>
                <a:gd name="T25" fmla="*/ 0 h 17"/>
                <a:gd name="T26" fmla="*/ 9 w 173"/>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3" h="17">
                  <a:moveTo>
                    <a:pt x="9" y="0"/>
                  </a:moveTo>
                  <a:lnTo>
                    <a:pt x="9" y="0"/>
                  </a:lnTo>
                  <a:lnTo>
                    <a:pt x="5" y="0"/>
                  </a:lnTo>
                  <a:lnTo>
                    <a:pt x="2" y="2"/>
                  </a:lnTo>
                  <a:lnTo>
                    <a:pt x="1" y="5"/>
                  </a:lnTo>
                  <a:lnTo>
                    <a:pt x="0" y="8"/>
                  </a:lnTo>
                  <a:lnTo>
                    <a:pt x="0" y="8"/>
                  </a:lnTo>
                  <a:lnTo>
                    <a:pt x="1" y="12"/>
                  </a:lnTo>
                  <a:lnTo>
                    <a:pt x="2" y="14"/>
                  </a:lnTo>
                  <a:lnTo>
                    <a:pt x="5" y="17"/>
                  </a:lnTo>
                  <a:lnTo>
                    <a:pt x="9" y="17"/>
                  </a:lnTo>
                  <a:lnTo>
                    <a:pt x="173" y="17"/>
                  </a:lnTo>
                  <a:lnTo>
                    <a:pt x="173" y="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11"/>
            <p:cNvSpPr>
              <a:spLocks/>
            </p:cNvSpPr>
            <p:nvPr/>
          </p:nvSpPr>
          <p:spPr bwMode="auto">
            <a:xfrm>
              <a:off x="1716088" y="5244148"/>
              <a:ext cx="109538" cy="73025"/>
            </a:xfrm>
            <a:custGeom>
              <a:avLst/>
              <a:gdLst>
                <a:gd name="T0" fmla="*/ 61 w 138"/>
                <a:gd name="T1" fmla="*/ 87 h 93"/>
                <a:gd name="T2" fmla="*/ 61 w 138"/>
                <a:gd name="T3" fmla="*/ 55 h 93"/>
                <a:gd name="T4" fmla="*/ 129 w 138"/>
                <a:gd name="T5" fmla="*/ 55 h 93"/>
                <a:gd name="T6" fmla="*/ 129 w 138"/>
                <a:gd name="T7" fmla="*/ 55 h 93"/>
                <a:gd name="T8" fmla="*/ 133 w 138"/>
                <a:gd name="T9" fmla="*/ 55 h 93"/>
                <a:gd name="T10" fmla="*/ 135 w 138"/>
                <a:gd name="T11" fmla="*/ 52 h 93"/>
                <a:gd name="T12" fmla="*/ 137 w 138"/>
                <a:gd name="T13" fmla="*/ 50 h 93"/>
                <a:gd name="T14" fmla="*/ 138 w 138"/>
                <a:gd name="T15" fmla="*/ 46 h 93"/>
                <a:gd name="T16" fmla="*/ 138 w 138"/>
                <a:gd name="T17" fmla="*/ 46 h 93"/>
                <a:gd name="T18" fmla="*/ 137 w 138"/>
                <a:gd name="T19" fmla="*/ 43 h 93"/>
                <a:gd name="T20" fmla="*/ 135 w 138"/>
                <a:gd name="T21" fmla="*/ 40 h 93"/>
                <a:gd name="T22" fmla="*/ 133 w 138"/>
                <a:gd name="T23" fmla="*/ 38 h 93"/>
                <a:gd name="T24" fmla="*/ 129 w 138"/>
                <a:gd name="T25" fmla="*/ 38 h 93"/>
                <a:gd name="T26" fmla="*/ 61 w 138"/>
                <a:gd name="T27" fmla="*/ 38 h 93"/>
                <a:gd name="T28" fmla="*/ 61 w 138"/>
                <a:gd name="T29" fmla="*/ 5 h 93"/>
                <a:gd name="T30" fmla="*/ 61 w 138"/>
                <a:gd name="T31" fmla="*/ 5 h 93"/>
                <a:gd name="T32" fmla="*/ 61 w 138"/>
                <a:gd name="T33" fmla="*/ 3 h 93"/>
                <a:gd name="T34" fmla="*/ 60 w 138"/>
                <a:gd name="T35" fmla="*/ 1 h 93"/>
                <a:gd name="T36" fmla="*/ 59 w 138"/>
                <a:gd name="T37" fmla="*/ 0 h 93"/>
                <a:gd name="T38" fmla="*/ 56 w 138"/>
                <a:gd name="T39" fmla="*/ 0 h 93"/>
                <a:gd name="T40" fmla="*/ 5 w 138"/>
                <a:gd name="T41" fmla="*/ 0 h 93"/>
                <a:gd name="T42" fmla="*/ 5 w 138"/>
                <a:gd name="T43" fmla="*/ 0 h 93"/>
                <a:gd name="T44" fmla="*/ 2 w 138"/>
                <a:gd name="T45" fmla="*/ 0 h 93"/>
                <a:gd name="T46" fmla="*/ 1 w 138"/>
                <a:gd name="T47" fmla="*/ 1 h 93"/>
                <a:gd name="T48" fmla="*/ 0 w 138"/>
                <a:gd name="T49" fmla="*/ 3 h 93"/>
                <a:gd name="T50" fmla="*/ 0 w 138"/>
                <a:gd name="T51" fmla="*/ 5 h 93"/>
                <a:gd name="T52" fmla="*/ 0 w 138"/>
                <a:gd name="T53" fmla="*/ 87 h 93"/>
                <a:gd name="T54" fmla="*/ 0 w 138"/>
                <a:gd name="T55" fmla="*/ 87 h 93"/>
                <a:gd name="T56" fmla="*/ 0 w 138"/>
                <a:gd name="T57" fmla="*/ 90 h 93"/>
                <a:gd name="T58" fmla="*/ 1 w 138"/>
                <a:gd name="T59" fmla="*/ 91 h 93"/>
                <a:gd name="T60" fmla="*/ 2 w 138"/>
                <a:gd name="T61" fmla="*/ 93 h 93"/>
                <a:gd name="T62" fmla="*/ 5 w 138"/>
                <a:gd name="T63" fmla="*/ 93 h 93"/>
                <a:gd name="T64" fmla="*/ 56 w 138"/>
                <a:gd name="T65" fmla="*/ 93 h 93"/>
                <a:gd name="T66" fmla="*/ 56 w 138"/>
                <a:gd name="T67" fmla="*/ 93 h 93"/>
                <a:gd name="T68" fmla="*/ 59 w 138"/>
                <a:gd name="T69" fmla="*/ 93 h 93"/>
                <a:gd name="T70" fmla="*/ 60 w 138"/>
                <a:gd name="T71" fmla="*/ 91 h 93"/>
                <a:gd name="T72" fmla="*/ 61 w 138"/>
                <a:gd name="T73" fmla="*/ 90 h 93"/>
                <a:gd name="T74" fmla="*/ 61 w 138"/>
                <a:gd name="T75" fmla="*/ 87 h 93"/>
                <a:gd name="T76" fmla="*/ 61 w 138"/>
                <a:gd name="T77" fmla="*/ 87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8" h="93">
                  <a:moveTo>
                    <a:pt x="61" y="87"/>
                  </a:moveTo>
                  <a:lnTo>
                    <a:pt x="61" y="55"/>
                  </a:lnTo>
                  <a:lnTo>
                    <a:pt x="129" y="55"/>
                  </a:lnTo>
                  <a:lnTo>
                    <a:pt x="129" y="55"/>
                  </a:lnTo>
                  <a:lnTo>
                    <a:pt x="133" y="55"/>
                  </a:lnTo>
                  <a:lnTo>
                    <a:pt x="135" y="52"/>
                  </a:lnTo>
                  <a:lnTo>
                    <a:pt x="137" y="50"/>
                  </a:lnTo>
                  <a:lnTo>
                    <a:pt x="138" y="46"/>
                  </a:lnTo>
                  <a:lnTo>
                    <a:pt x="138" y="46"/>
                  </a:lnTo>
                  <a:lnTo>
                    <a:pt x="137" y="43"/>
                  </a:lnTo>
                  <a:lnTo>
                    <a:pt x="135" y="40"/>
                  </a:lnTo>
                  <a:lnTo>
                    <a:pt x="133" y="38"/>
                  </a:lnTo>
                  <a:lnTo>
                    <a:pt x="129" y="38"/>
                  </a:lnTo>
                  <a:lnTo>
                    <a:pt x="61" y="38"/>
                  </a:lnTo>
                  <a:lnTo>
                    <a:pt x="61" y="5"/>
                  </a:lnTo>
                  <a:lnTo>
                    <a:pt x="61" y="5"/>
                  </a:lnTo>
                  <a:lnTo>
                    <a:pt x="61" y="3"/>
                  </a:lnTo>
                  <a:lnTo>
                    <a:pt x="60" y="1"/>
                  </a:lnTo>
                  <a:lnTo>
                    <a:pt x="59" y="0"/>
                  </a:lnTo>
                  <a:lnTo>
                    <a:pt x="56" y="0"/>
                  </a:lnTo>
                  <a:lnTo>
                    <a:pt x="5" y="0"/>
                  </a:lnTo>
                  <a:lnTo>
                    <a:pt x="5" y="0"/>
                  </a:lnTo>
                  <a:lnTo>
                    <a:pt x="2" y="0"/>
                  </a:lnTo>
                  <a:lnTo>
                    <a:pt x="1" y="1"/>
                  </a:lnTo>
                  <a:lnTo>
                    <a:pt x="0" y="3"/>
                  </a:lnTo>
                  <a:lnTo>
                    <a:pt x="0" y="5"/>
                  </a:lnTo>
                  <a:lnTo>
                    <a:pt x="0" y="87"/>
                  </a:lnTo>
                  <a:lnTo>
                    <a:pt x="0" y="87"/>
                  </a:lnTo>
                  <a:lnTo>
                    <a:pt x="0" y="90"/>
                  </a:lnTo>
                  <a:lnTo>
                    <a:pt x="1" y="91"/>
                  </a:lnTo>
                  <a:lnTo>
                    <a:pt x="2" y="93"/>
                  </a:lnTo>
                  <a:lnTo>
                    <a:pt x="5" y="93"/>
                  </a:lnTo>
                  <a:lnTo>
                    <a:pt x="56" y="93"/>
                  </a:lnTo>
                  <a:lnTo>
                    <a:pt x="56" y="93"/>
                  </a:lnTo>
                  <a:lnTo>
                    <a:pt x="59" y="93"/>
                  </a:lnTo>
                  <a:lnTo>
                    <a:pt x="60" y="91"/>
                  </a:lnTo>
                  <a:lnTo>
                    <a:pt x="61" y="90"/>
                  </a:lnTo>
                  <a:lnTo>
                    <a:pt x="61" y="87"/>
                  </a:lnTo>
                  <a:lnTo>
                    <a:pt x="61"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76" name="Straight Connector 75"/>
          <p:cNvCxnSpPr>
            <a:stCxn id="92" idx="4"/>
          </p:cNvCxnSpPr>
          <p:nvPr/>
        </p:nvCxnSpPr>
        <p:spPr>
          <a:xfrm>
            <a:off x="494019" y="2232187"/>
            <a:ext cx="0" cy="430210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87" name="Group 86"/>
          <p:cNvGrpSpPr/>
          <p:nvPr/>
        </p:nvGrpSpPr>
        <p:grpSpPr>
          <a:xfrm>
            <a:off x="311220" y="1866589"/>
            <a:ext cx="5991618" cy="1541530"/>
            <a:chOff x="311220" y="2161341"/>
            <a:chExt cx="5991618" cy="1541530"/>
          </a:xfrm>
        </p:grpSpPr>
        <p:cxnSp>
          <p:nvCxnSpPr>
            <p:cNvPr id="89" name="Straight Connector 88">
              <a:extLst>
                <a:ext uri="{FF2B5EF4-FFF2-40B4-BE49-F238E27FC236}">
                  <a16:creationId xmlns:a16="http://schemas.microsoft.com/office/drawing/2014/main" id="{296F3DE4-E136-4031-A795-F2C2AA077709}"/>
                </a:ext>
              </a:extLst>
            </p:cNvPr>
            <p:cNvCxnSpPr>
              <a:endCxn id="91" idx="3"/>
            </p:cNvCxnSpPr>
            <p:nvPr/>
          </p:nvCxnSpPr>
          <p:spPr>
            <a:xfrm flipV="1">
              <a:off x="742082" y="2378695"/>
              <a:ext cx="683852" cy="10131"/>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90" name="Text Box 11"/>
            <p:cNvSpPr txBox="1">
              <a:spLocks noChangeArrowheads="1"/>
            </p:cNvSpPr>
            <p:nvPr/>
          </p:nvSpPr>
          <p:spPr bwMode="auto">
            <a:xfrm>
              <a:off x="710859" y="2512943"/>
              <a:ext cx="5591979" cy="1189928"/>
            </a:xfrm>
            <a:prstGeom prst="rect">
              <a:avLst/>
            </a:prstGeom>
            <a:noFill/>
            <a:ln w="3175" algn="ctr">
              <a:noFill/>
              <a:miter lim="800000"/>
              <a:headEnd/>
              <a:tailEnd/>
            </a:ln>
          </p:spPr>
          <p:txBody>
            <a:bodyPr lIns="0" tIns="0" rIns="0" bIns="0"/>
            <a:lstStyle/>
            <a:p>
              <a:pPr fontAlgn="base">
                <a:lnSpc>
                  <a:spcPts val="1500"/>
                </a:lnSpc>
                <a:spcBef>
                  <a:spcPct val="0"/>
                </a:spcBef>
                <a:spcAft>
                  <a:spcPct val="0"/>
                </a:spcAft>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With 24 years of experience, Julien has developed a strong expertise in CRM, from business knowledge to the design of solutions architecture. His professional experience has led him to pilot complex CRM projects integrating a strong technological dimension, and this in many industries. His expertise has been forged through dozens of Salesforce and MuleSoft deployments.</a:t>
              </a:r>
            </a:p>
            <a:p>
              <a:pPr fontAlgn="base">
                <a:lnSpc>
                  <a:spcPts val="1500"/>
                </a:lnSpc>
                <a:spcBef>
                  <a:spcPct val="0"/>
                </a:spcBef>
                <a:spcAft>
                  <a:spcPct val="0"/>
                </a:spcAft>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He acts as an enabler that focus on bridging the gap between desired Business outcomes and Technology offerings for customers.</a:t>
              </a:r>
              <a:b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b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His focus is on delivering value to customers through the innovation brought by the Salesforce and MuleSoft platforms. He is currently leading the Sales &amp; Service offering </a:t>
              </a: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and MuleSoft </a:t>
              </a: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Alliance at </a:t>
              </a: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Deloitte France.</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1" name="Text Box 11"/>
            <p:cNvSpPr txBox="1">
              <a:spLocks noChangeArrowheads="1"/>
            </p:cNvSpPr>
            <p:nvPr/>
          </p:nvSpPr>
          <p:spPr bwMode="auto">
            <a:xfrm>
              <a:off x="754781" y="2255659"/>
              <a:ext cx="671153" cy="246072"/>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en-GB" sz="1050" spc="300" dirty="0">
                  <a:solidFill>
                    <a:srgbClr val="000000"/>
                  </a:solidFill>
                  <a:ea typeface="Open Sans bold" panose="020B0806030504020204" pitchFamily="34" charset="0"/>
                  <a:cs typeface="Open Sans bold" panose="020B0806030504020204" pitchFamily="34" charset="0"/>
                </a:rPr>
                <a:t>ABOUT</a:t>
              </a:r>
            </a:p>
            <a:p>
              <a:pPr fontAlgn="base">
                <a:lnSpc>
                  <a:spcPts val="1300"/>
                </a:lnSpc>
                <a:spcBef>
                  <a:spcPct val="0"/>
                </a:spcBef>
                <a:spcAft>
                  <a:spcPct val="0"/>
                </a:spcAft>
              </a:pPr>
              <a:endParaRPr lang="fr-FR" sz="1050" spc="300" dirty="0">
                <a:solidFill>
                  <a:srgbClr val="000000"/>
                </a:solidFill>
                <a:ea typeface="Open Sans bold" panose="020B0806030504020204" pitchFamily="34" charset="0"/>
                <a:cs typeface="Open Sans bold" panose="020B0806030504020204" pitchFamily="34" charset="0"/>
              </a:endParaRPr>
            </a:p>
          </p:txBody>
        </p:sp>
        <p:sp>
          <p:nvSpPr>
            <p:cNvPr id="92" name="Oval 91"/>
            <p:cNvSpPr/>
            <p:nvPr/>
          </p:nvSpPr>
          <p:spPr>
            <a:xfrm>
              <a:off x="311220" y="2161341"/>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93" name="Group 92"/>
            <p:cNvGrpSpPr>
              <a:grpSpLocks noChangeAspect="1"/>
            </p:cNvGrpSpPr>
            <p:nvPr/>
          </p:nvGrpSpPr>
          <p:grpSpPr>
            <a:xfrm>
              <a:off x="344296" y="2193963"/>
              <a:ext cx="299445" cy="300355"/>
              <a:chOff x="4954588" y="1664335"/>
              <a:chExt cx="522288" cy="523875"/>
            </a:xfrm>
          </p:grpSpPr>
          <p:sp>
            <p:nvSpPr>
              <p:cNvPr id="94" name="Freeform 22"/>
              <p:cNvSpPr>
                <a:spLocks noEditPoints="1"/>
              </p:cNvSpPr>
              <p:nvPr/>
            </p:nvSpPr>
            <p:spPr bwMode="auto">
              <a:xfrm>
                <a:off x="4954588" y="1664335"/>
                <a:ext cx="522288" cy="52387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138"/>
              <p:cNvSpPr>
                <a:spLocks/>
              </p:cNvSpPr>
              <p:nvPr/>
            </p:nvSpPr>
            <p:spPr bwMode="auto">
              <a:xfrm>
                <a:off x="5148263" y="1778635"/>
                <a:ext cx="134938" cy="168275"/>
              </a:xfrm>
              <a:custGeom>
                <a:avLst/>
                <a:gdLst>
                  <a:gd name="T0" fmla="*/ 84 w 169"/>
                  <a:gd name="T1" fmla="*/ 213 h 213"/>
                  <a:gd name="T2" fmla="*/ 84 w 169"/>
                  <a:gd name="T3" fmla="*/ 213 h 213"/>
                  <a:gd name="T4" fmla="*/ 92 w 169"/>
                  <a:gd name="T5" fmla="*/ 211 h 213"/>
                  <a:gd name="T6" fmla="*/ 100 w 169"/>
                  <a:gd name="T7" fmla="*/ 211 h 213"/>
                  <a:gd name="T8" fmla="*/ 108 w 169"/>
                  <a:gd name="T9" fmla="*/ 209 h 213"/>
                  <a:gd name="T10" fmla="*/ 116 w 169"/>
                  <a:gd name="T11" fmla="*/ 206 h 213"/>
                  <a:gd name="T12" fmla="*/ 131 w 169"/>
                  <a:gd name="T13" fmla="*/ 198 h 213"/>
                  <a:gd name="T14" fmla="*/ 143 w 169"/>
                  <a:gd name="T15" fmla="*/ 187 h 213"/>
                  <a:gd name="T16" fmla="*/ 154 w 169"/>
                  <a:gd name="T17" fmla="*/ 175 h 213"/>
                  <a:gd name="T18" fmla="*/ 162 w 169"/>
                  <a:gd name="T19" fmla="*/ 160 h 213"/>
                  <a:gd name="T20" fmla="*/ 165 w 169"/>
                  <a:gd name="T21" fmla="*/ 154 h 213"/>
                  <a:gd name="T22" fmla="*/ 166 w 169"/>
                  <a:gd name="T23" fmla="*/ 144 h 213"/>
                  <a:gd name="T24" fmla="*/ 168 w 169"/>
                  <a:gd name="T25" fmla="*/ 136 h 213"/>
                  <a:gd name="T26" fmla="*/ 169 w 169"/>
                  <a:gd name="T27" fmla="*/ 128 h 213"/>
                  <a:gd name="T28" fmla="*/ 169 w 169"/>
                  <a:gd name="T29" fmla="*/ 85 h 213"/>
                  <a:gd name="T30" fmla="*/ 169 w 169"/>
                  <a:gd name="T31" fmla="*/ 85 h 213"/>
                  <a:gd name="T32" fmla="*/ 168 w 169"/>
                  <a:gd name="T33" fmla="*/ 77 h 213"/>
                  <a:gd name="T34" fmla="*/ 166 w 169"/>
                  <a:gd name="T35" fmla="*/ 69 h 213"/>
                  <a:gd name="T36" fmla="*/ 165 w 169"/>
                  <a:gd name="T37" fmla="*/ 61 h 213"/>
                  <a:gd name="T38" fmla="*/ 162 w 169"/>
                  <a:gd name="T39" fmla="*/ 53 h 213"/>
                  <a:gd name="T40" fmla="*/ 154 w 169"/>
                  <a:gd name="T41" fmla="*/ 38 h 213"/>
                  <a:gd name="T42" fmla="*/ 143 w 169"/>
                  <a:gd name="T43" fmla="*/ 26 h 213"/>
                  <a:gd name="T44" fmla="*/ 131 w 169"/>
                  <a:gd name="T45" fmla="*/ 15 h 213"/>
                  <a:gd name="T46" fmla="*/ 116 w 169"/>
                  <a:gd name="T47" fmla="*/ 7 h 213"/>
                  <a:gd name="T48" fmla="*/ 108 w 169"/>
                  <a:gd name="T49" fmla="*/ 4 h 213"/>
                  <a:gd name="T50" fmla="*/ 100 w 169"/>
                  <a:gd name="T51" fmla="*/ 3 h 213"/>
                  <a:gd name="T52" fmla="*/ 92 w 169"/>
                  <a:gd name="T53" fmla="*/ 2 h 213"/>
                  <a:gd name="T54" fmla="*/ 84 w 169"/>
                  <a:gd name="T55" fmla="*/ 0 h 213"/>
                  <a:gd name="T56" fmla="*/ 84 w 169"/>
                  <a:gd name="T57" fmla="*/ 0 h 213"/>
                  <a:gd name="T58" fmla="*/ 75 w 169"/>
                  <a:gd name="T59" fmla="*/ 2 h 213"/>
                  <a:gd name="T60" fmla="*/ 67 w 169"/>
                  <a:gd name="T61" fmla="*/ 3 h 213"/>
                  <a:gd name="T62" fmla="*/ 59 w 169"/>
                  <a:gd name="T63" fmla="*/ 4 h 213"/>
                  <a:gd name="T64" fmla="*/ 51 w 169"/>
                  <a:gd name="T65" fmla="*/ 7 h 213"/>
                  <a:gd name="T66" fmla="*/ 37 w 169"/>
                  <a:gd name="T67" fmla="*/ 15 h 213"/>
                  <a:gd name="T68" fmla="*/ 24 w 169"/>
                  <a:gd name="T69" fmla="*/ 26 h 213"/>
                  <a:gd name="T70" fmla="*/ 14 w 169"/>
                  <a:gd name="T71" fmla="*/ 38 h 213"/>
                  <a:gd name="T72" fmla="*/ 6 w 169"/>
                  <a:gd name="T73" fmla="*/ 53 h 213"/>
                  <a:gd name="T74" fmla="*/ 4 w 169"/>
                  <a:gd name="T75" fmla="*/ 61 h 213"/>
                  <a:gd name="T76" fmla="*/ 1 w 169"/>
                  <a:gd name="T77" fmla="*/ 69 h 213"/>
                  <a:gd name="T78" fmla="*/ 0 w 169"/>
                  <a:gd name="T79" fmla="*/ 77 h 213"/>
                  <a:gd name="T80" fmla="*/ 0 w 169"/>
                  <a:gd name="T81" fmla="*/ 85 h 213"/>
                  <a:gd name="T82" fmla="*/ 0 w 169"/>
                  <a:gd name="T83" fmla="*/ 128 h 213"/>
                  <a:gd name="T84" fmla="*/ 0 w 169"/>
                  <a:gd name="T85" fmla="*/ 128 h 213"/>
                  <a:gd name="T86" fmla="*/ 0 w 169"/>
                  <a:gd name="T87" fmla="*/ 136 h 213"/>
                  <a:gd name="T88" fmla="*/ 1 w 169"/>
                  <a:gd name="T89" fmla="*/ 144 h 213"/>
                  <a:gd name="T90" fmla="*/ 4 w 169"/>
                  <a:gd name="T91" fmla="*/ 154 h 213"/>
                  <a:gd name="T92" fmla="*/ 6 w 169"/>
                  <a:gd name="T93" fmla="*/ 160 h 213"/>
                  <a:gd name="T94" fmla="*/ 14 w 169"/>
                  <a:gd name="T95" fmla="*/ 175 h 213"/>
                  <a:gd name="T96" fmla="*/ 24 w 169"/>
                  <a:gd name="T97" fmla="*/ 187 h 213"/>
                  <a:gd name="T98" fmla="*/ 37 w 169"/>
                  <a:gd name="T99" fmla="*/ 198 h 213"/>
                  <a:gd name="T100" fmla="*/ 51 w 169"/>
                  <a:gd name="T101" fmla="*/ 206 h 213"/>
                  <a:gd name="T102" fmla="*/ 59 w 169"/>
                  <a:gd name="T103" fmla="*/ 209 h 213"/>
                  <a:gd name="T104" fmla="*/ 67 w 169"/>
                  <a:gd name="T105" fmla="*/ 211 h 213"/>
                  <a:gd name="T106" fmla="*/ 75 w 169"/>
                  <a:gd name="T107" fmla="*/ 211 h 213"/>
                  <a:gd name="T108" fmla="*/ 84 w 169"/>
                  <a:gd name="T109" fmla="*/ 213 h 213"/>
                  <a:gd name="T110" fmla="*/ 84 w 169"/>
                  <a:gd name="T11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9" h="213">
                    <a:moveTo>
                      <a:pt x="84" y="213"/>
                    </a:moveTo>
                    <a:lnTo>
                      <a:pt x="84" y="213"/>
                    </a:lnTo>
                    <a:lnTo>
                      <a:pt x="92" y="211"/>
                    </a:lnTo>
                    <a:lnTo>
                      <a:pt x="100" y="211"/>
                    </a:lnTo>
                    <a:lnTo>
                      <a:pt x="108" y="209"/>
                    </a:lnTo>
                    <a:lnTo>
                      <a:pt x="116" y="206"/>
                    </a:lnTo>
                    <a:lnTo>
                      <a:pt x="131" y="198"/>
                    </a:lnTo>
                    <a:lnTo>
                      <a:pt x="143" y="187"/>
                    </a:lnTo>
                    <a:lnTo>
                      <a:pt x="154" y="175"/>
                    </a:lnTo>
                    <a:lnTo>
                      <a:pt x="162" y="160"/>
                    </a:lnTo>
                    <a:lnTo>
                      <a:pt x="165" y="154"/>
                    </a:lnTo>
                    <a:lnTo>
                      <a:pt x="166" y="144"/>
                    </a:lnTo>
                    <a:lnTo>
                      <a:pt x="168" y="136"/>
                    </a:lnTo>
                    <a:lnTo>
                      <a:pt x="169" y="128"/>
                    </a:lnTo>
                    <a:lnTo>
                      <a:pt x="169" y="85"/>
                    </a:lnTo>
                    <a:lnTo>
                      <a:pt x="169" y="85"/>
                    </a:lnTo>
                    <a:lnTo>
                      <a:pt x="168" y="77"/>
                    </a:lnTo>
                    <a:lnTo>
                      <a:pt x="166" y="69"/>
                    </a:lnTo>
                    <a:lnTo>
                      <a:pt x="165" y="61"/>
                    </a:lnTo>
                    <a:lnTo>
                      <a:pt x="162" y="53"/>
                    </a:lnTo>
                    <a:lnTo>
                      <a:pt x="154" y="38"/>
                    </a:lnTo>
                    <a:lnTo>
                      <a:pt x="143" y="26"/>
                    </a:lnTo>
                    <a:lnTo>
                      <a:pt x="131" y="15"/>
                    </a:lnTo>
                    <a:lnTo>
                      <a:pt x="116" y="7"/>
                    </a:lnTo>
                    <a:lnTo>
                      <a:pt x="108" y="4"/>
                    </a:lnTo>
                    <a:lnTo>
                      <a:pt x="100" y="3"/>
                    </a:lnTo>
                    <a:lnTo>
                      <a:pt x="92" y="2"/>
                    </a:lnTo>
                    <a:lnTo>
                      <a:pt x="84" y="0"/>
                    </a:lnTo>
                    <a:lnTo>
                      <a:pt x="84" y="0"/>
                    </a:lnTo>
                    <a:lnTo>
                      <a:pt x="75" y="2"/>
                    </a:lnTo>
                    <a:lnTo>
                      <a:pt x="67" y="3"/>
                    </a:lnTo>
                    <a:lnTo>
                      <a:pt x="59" y="4"/>
                    </a:lnTo>
                    <a:lnTo>
                      <a:pt x="51" y="7"/>
                    </a:lnTo>
                    <a:lnTo>
                      <a:pt x="37" y="15"/>
                    </a:lnTo>
                    <a:lnTo>
                      <a:pt x="24" y="26"/>
                    </a:lnTo>
                    <a:lnTo>
                      <a:pt x="14" y="38"/>
                    </a:lnTo>
                    <a:lnTo>
                      <a:pt x="6" y="53"/>
                    </a:lnTo>
                    <a:lnTo>
                      <a:pt x="4" y="61"/>
                    </a:lnTo>
                    <a:lnTo>
                      <a:pt x="1" y="69"/>
                    </a:lnTo>
                    <a:lnTo>
                      <a:pt x="0" y="77"/>
                    </a:lnTo>
                    <a:lnTo>
                      <a:pt x="0" y="85"/>
                    </a:lnTo>
                    <a:lnTo>
                      <a:pt x="0" y="128"/>
                    </a:lnTo>
                    <a:lnTo>
                      <a:pt x="0" y="128"/>
                    </a:lnTo>
                    <a:lnTo>
                      <a:pt x="0" y="136"/>
                    </a:lnTo>
                    <a:lnTo>
                      <a:pt x="1" y="144"/>
                    </a:lnTo>
                    <a:lnTo>
                      <a:pt x="4" y="154"/>
                    </a:lnTo>
                    <a:lnTo>
                      <a:pt x="6" y="160"/>
                    </a:lnTo>
                    <a:lnTo>
                      <a:pt x="14" y="175"/>
                    </a:lnTo>
                    <a:lnTo>
                      <a:pt x="24" y="187"/>
                    </a:lnTo>
                    <a:lnTo>
                      <a:pt x="37" y="198"/>
                    </a:lnTo>
                    <a:lnTo>
                      <a:pt x="51" y="206"/>
                    </a:lnTo>
                    <a:lnTo>
                      <a:pt x="59" y="209"/>
                    </a:lnTo>
                    <a:lnTo>
                      <a:pt x="67" y="211"/>
                    </a:lnTo>
                    <a:lnTo>
                      <a:pt x="75" y="211"/>
                    </a:lnTo>
                    <a:lnTo>
                      <a:pt x="84" y="213"/>
                    </a:lnTo>
                    <a:lnTo>
                      <a:pt x="84" y="2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139"/>
              <p:cNvSpPr>
                <a:spLocks/>
              </p:cNvSpPr>
              <p:nvPr/>
            </p:nvSpPr>
            <p:spPr bwMode="auto">
              <a:xfrm>
                <a:off x="5089526" y="1946910"/>
                <a:ext cx="250825" cy="101600"/>
              </a:xfrm>
              <a:custGeom>
                <a:avLst/>
                <a:gdLst>
                  <a:gd name="T0" fmla="*/ 216 w 315"/>
                  <a:gd name="T1" fmla="*/ 0 h 128"/>
                  <a:gd name="T2" fmla="*/ 216 w 315"/>
                  <a:gd name="T3" fmla="*/ 0 h 128"/>
                  <a:gd name="T4" fmla="*/ 204 w 315"/>
                  <a:gd name="T5" fmla="*/ 8 h 128"/>
                  <a:gd name="T6" fmla="*/ 189 w 315"/>
                  <a:gd name="T7" fmla="*/ 15 h 128"/>
                  <a:gd name="T8" fmla="*/ 174 w 315"/>
                  <a:gd name="T9" fmla="*/ 19 h 128"/>
                  <a:gd name="T10" fmla="*/ 158 w 315"/>
                  <a:gd name="T11" fmla="*/ 20 h 128"/>
                  <a:gd name="T12" fmla="*/ 158 w 315"/>
                  <a:gd name="T13" fmla="*/ 20 h 128"/>
                  <a:gd name="T14" fmla="*/ 142 w 315"/>
                  <a:gd name="T15" fmla="*/ 19 h 128"/>
                  <a:gd name="T16" fmla="*/ 126 w 315"/>
                  <a:gd name="T17" fmla="*/ 15 h 128"/>
                  <a:gd name="T18" fmla="*/ 113 w 315"/>
                  <a:gd name="T19" fmla="*/ 8 h 128"/>
                  <a:gd name="T20" fmla="*/ 99 w 315"/>
                  <a:gd name="T21" fmla="*/ 0 h 128"/>
                  <a:gd name="T22" fmla="*/ 99 w 315"/>
                  <a:gd name="T23" fmla="*/ 0 h 128"/>
                  <a:gd name="T24" fmla="*/ 90 w 315"/>
                  <a:gd name="T25" fmla="*/ 3 h 128"/>
                  <a:gd name="T26" fmla="*/ 80 w 315"/>
                  <a:gd name="T27" fmla="*/ 6 h 128"/>
                  <a:gd name="T28" fmla="*/ 71 w 315"/>
                  <a:gd name="T29" fmla="*/ 10 h 128"/>
                  <a:gd name="T30" fmla="*/ 63 w 315"/>
                  <a:gd name="T31" fmla="*/ 14 h 128"/>
                  <a:gd name="T32" fmla="*/ 53 w 315"/>
                  <a:gd name="T33" fmla="*/ 20 h 128"/>
                  <a:gd name="T34" fmla="*/ 47 w 315"/>
                  <a:gd name="T35" fmla="*/ 26 h 128"/>
                  <a:gd name="T36" fmla="*/ 39 w 315"/>
                  <a:gd name="T37" fmla="*/ 34 h 128"/>
                  <a:gd name="T38" fmla="*/ 32 w 315"/>
                  <a:gd name="T39" fmla="*/ 41 h 128"/>
                  <a:gd name="T40" fmla="*/ 20 w 315"/>
                  <a:gd name="T41" fmla="*/ 58 h 128"/>
                  <a:gd name="T42" fmla="*/ 10 w 315"/>
                  <a:gd name="T43" fmla="*/ 77 h 128"/>
                  <a:gd name="T44" fmla="*/ 4 w 315"/>
                  <a:gd name="T45" fmla="*/ 97 h 128"/>
                  <a:gd name="T46" fmla="*/ 1 w 315"/>
                  <a:gd name="T47" fmla="*/ 106 h 128"/>
                  <a:gd name="T48" fmla="*/ 0 w 315"/>
                  <a:gd name="T49" fmla="*/ 116 h 128"/>
                  <a:gd name="T50" fmla="*/ 0 w 315"/>
                  <a:gd name="T51" fmla="*/ 116 h 128"/>
                  <a:gd name="T52" fmla="*/ 0 w 315"/>
                  <a:gd name="T53" fmla="*/ 121 h 128"/>
                  <a:gd name="T54" fmla="*/ 2 w 315"/>
                  <a:gd name="T55" fmla="*/ 124 h 128"/>
                  <a:gd name="T56" fmla="*/ 6 w 315"/>
                  <a:gd name="T57" fmla="*/ 127 h 128"/>
                  <a:gd name="T58" fmla="*/ 10 w 315"/>
                  <a:gd name="T59" fmla="*/ 128 h 128"/>
                  <a:gd name="T60" fmla="*/ 306 w 315"/>
                  <a:gd name="T61" fmla="*/ 128 h 128"/>
                  <a:gd name="T62" fmla="*/ 306 w 315"/>
                  <a:gd name="T63" fmla="*/ 128 h 128"/>
                  <a:gd name="T64" fmla="*/ 310 w 315"/>
                  <a:gd name="T65" fmla="*/ 127 h 128"/>
                  <a:gd name="T66" fmla="*/ 313 w 315"/>
                  <a:gd name="T67" fmla="*/ 124 h 128"/>
                  <a:gd name="T68" fmla="*/ 315 w 315"/>
                  <a:gd name="T69" fmla="*/ 121 h 128"/>
                  <a:gd name="T70" fmla="*/ 315 w 315"/>
                  <a:gd name="T71" fmla="*/ 116 h 128"/>
                  <a:gd name="T72" fmla="*/ 315 w 315"/>
                  <a:gd name="T73" fmla="*/ 116 h 128"/>
                  <a:gd name="T74" fmla="*/ 314 w 315"/>
                  <a:gd name="T75" fmla="*/ 106 h 128"/>
                  <a:gd name="T76" fmla="*/ 313 w 315"/>
                  <a:gd name="T77" fmla="*/ 97 h 128"/>
                  <a:gd name="T78" fmla="*/ 306 w 315"/>
                  <a:gd name="T79" fmla="*/ 77 h 128"/>
                  <a:gd name="T80" fmla="*/ 297 w 315"/>
                  <a:gd name="T81" fmla="*/ 58 h 128"/>
                  <a:gd name="T82" fmla="*/ 285 w 315"/>
                  <a:gd name="T83" fmla="*/ 41 h 128"/>
                  <a:gd name="T84" fmla="*/ 276 w 315"/>
                  <a:gd name="T85" fmla="*/ 34 h 128"/>
                  <a:gd name="T86" fmla="*/ 270 w 315"/>
                  <a:gd name="T87" fmla="*/ 26 h 128"/>
                  <a:gd name="T88" fmla="*/ 262 w 315"/>
                  <a:gd name="T89" fmla="*/ 20 h 128"/>
                  <a:gd name="T90" fmla="*/ 254 w 315"/>
                  <a:gd name="T91" fmla="*/ 14 h 128"/>
                  <a:gd name="T92" fmla="*/ 244 w 315"/>
                  <a:gd name="T93" fmla="*/ 10 h 128"/>
                  <a:gd name="T94" fmla="*/ 235 w 315"/>
                  <a:gd name="T95" fmla="*/ 6 h 128"/>
                  <a:gd name="T96" fmla="*/ 225 w 315"/>
                  <a:gd name="T97" fmla="*/ 3 h 128"/>
                  <a:gd name="T98" fmla="*/ 216 w 315"/>
                  <a:gd name="T99" fmla="*/ 0 h 128"/>
                  <a:gd name="T100" fmla="*/ 216 w 315"/>
                  <a:gd name="T101"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5" h="128">
                    <a:moveTo>
                      <a:pt x="216" y="0"/>
                    </a:moveTo>
                    <a:lnTo>
                      <a:pt x="216" y="0"/>
                    </a:lnTo>
                    <a:lnTo>
                      <a:pt x="204" y="8"/>
                    </a:lnTo>
                    <a:lnTo>
                      <a:pt x="189" y="15"/>
                    </a:lnTo>
                    <a:lnTo>
                      <a:pt x="174" y="19"/>
                    </a:lnTo>
                    <a:lnTo>
                      <a:pt x="158" y="20"/>
                    </a:lnTo>
                    <a:lnTo>
                      <a:pt x="158" y="20"/>
                    </a:lnTo>
                    <a:lnTo>
                      <a:pt x="142" y="19"/>
                    </a:lnTo>
                    <a:lnTo>
                      <a:pt x="126" y="15"/>
                    </a:lnTo>
                    <a:lnTo>
                      <a:pt x="113" y="8"/>
                    </a:lnTo>
                    <a:lnTo>
                      <a:pt x="99" y="0"/>
                    </a:lnTo>
                    <a:lnTo>
                      <a:pt x="99" y="0"/>
                    </a:lnTo>
                    <a:lnTo>
                      <a:pt x="90" y="3"/>
                    </a:lnTo>
                    <a:lnTo>
                      <a:pt x="80" y="6"/>
                    </a:lnTo>
                    <a:lnTo>
                      <a:pt x="71" y="10"/>
                    </a:lnTo>
                    <a:lnTo>
                      <a:pt x="63" y="14"/>
                    </a:lnTo>
                    <a:lnTo>
                      <a:pt x="53" y="20"/>
                    </a:lnTo>
                    <a:lnTo>
                      <a:pt x="47" y="26"/>
                    </a:lnTo>
                    <a:lnTo>
                      <a:pt x="39" y="34"/>
                    </a:lnTo>
                    <a:lnTo>
                      <a:pt x="32" y="41"/>
                    </a:lnTo>
                    <a:lnTo>
                      <a:pt x="20" y="58"/>
                    </a:lnTo>
                    <a:lnTo>
                      <a:pt x="10" y="77"/>
                    </a:lnTo>
                    <a:lnTo>
                      <a:pt x="4" y="97"/>
                    </a:lnTo>
                    <a:lnTo>
                      <a:pt x="1" y="106"/>
                    </a:lnTo>
                    <a:lnTo>
                      <a:pt x="0" y="116"/>
                    </a:lnTo>
                    <a:lnTo>
                      <a:pt x="0" y="116"/>
                    </a:lnTo>
                    <a:lnTo>
                      <a:pt x="0" y="121"/>
                    </a:lnTo>
                    <a:lnTo>
                      <a:pt x="2" y="124"/>
                    </a:lnTo>
                    <a:lnTo>
                      <a:pt x="6" y="127"/>
                    </a:lnTo>
                    <a:lnTo>
                      <a:pt x="10" y="128"/>
                    </a:lnTo>
                    <a:lnTo>
                      <a:pt x="306" y="128"/>
                    </a:lnTo>
                    <a:lnTo>
                      <a:pt x="306" y="128"/>
                    </a:lnTo>
                    <a:lnTo>
                      <a:pt x="310" y="127"/>
                    </a:lnTo>
                    <a:lnTo>
                      <a:pt x="313" y="124"/>
                    </a:lnTo>
                    <a:lnTo>
                      <a:pt x="315" y="121"/>
                    </a:lnTo>
                    <a:lnTo>
                      <a:pt x="315" y="116"/>
                    </a:lnTo>
                    <a:lnTo>
                      <a:pt x="315" y="116"/>
                    </a:lnTo>
                    <a:lnTo>
                      <a:pt x="314" y="106"/>
                    </a:lnTo>
                    <a:lnTo>
                      <a:pt x="313" y="97"/>
                    </a:lnTo>
                    <a:lnTo>
                      <a:pt x="306" y="77"/>
                    </a:lnTo>
                    <a:lnTo>
                      <a:pt x="297" y="58"/>
                    </a:lnTo>
                    <a:lnTo>
                      <a:pt x="285" y="41"/>
                    </a:lnTo>
                    <a:lnTo>
                      <a:pt x="276" y="34"/>
                    </a:lnTo>
                    <a:lnTo>
                      <a:pt x="270" y="26"/>
                    </a:lnTo>
                    <a:lnTo>
                      <a:pt x="262" y="20"/>
                    </a:lnTo>
                    <a:lnTo>
                      <a:pt x="254" y="14"/>
                    </a:lnTo>
                    <a:lnTo>
                      <a:pt x="244" y="10"/>
                    </a:lnTo>
                    <a:lnTo>
                      <a:pt x="235" y="6"/>
                    </a:lnTo>
                    <a:lnTo>
                      <a:pt x="225" y="3"/>
                    </a:lnTo>
                    <a:lnTo>
                      <a:pt x="216" y="0"/>
                    </a:lnTo>
                    <a:lnTo>
                      <a:pt x="2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7" name="Group 96"/>
          <p:cNvGrpSpPr/>
          <p:nvPr/>
        </p:nvGrpSpPr>
        <p:grpSpPr>
          <a:xfrm>
            <a:off x="311220" y="3906059"/>
            <a:ext cx="5289748" cy="1915887"/>
            <a:chOff x="311220" y="3956986"/>
            <a:chExt cx="5289748" cy="1915887"/>
          </a:xfrm>
        </p:grpSpPr>
        <p:cxnSp>
          <p:nvCxnSpPr>
            <p:cNvPr id="98" name="Straight Connector 97">
              <a:extLst>
                <a:ext uri="{FF2B5EF4-FFF2-40B4-BE49-F238E27FC236}">
                  <a16:creationId xmlns:a16="http://schemas.microsoft.com/office/drawing/2014/main" id="{296F3DE4-E136-4031-A795-F2C2AA077709}"/>
                </a:ext>
              </a:extLst>
            </p:cNvPr>
            <p:cNvCxnSpPr/>
            <p:nvPr/>
          </p:nvCxnSpPr>
          <p:spPr>
            <a:xfrm>
              <a:off x="742082" y="4204228"/>
              <a:ext cx="4449678" cy="0"/>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99" name="Text Placeholder 15"/>
            <p:cNvSpPr txBox="1">
              <a:spLocks/>
            </p:cNvSpPr>
            <p:nvPr/>
          </p:nvSpPr>
          <p:spPr>
            <a:xfrm>
              <a:off x="715620" y="4322583"/>
              <a:ext cx="4807072" cy="1550290"/>
            </a:xfrm>
            <a:prstGeom prst="rect">
              <a:avLst/>
            </a:prstGeom>
          </p:spPr>
          <p:txBody>
            <a:bodyPr vert="horz" lIns="0" tIns="0" rIns="0" bIns="0" rtlCol="0" anchor="t">
              <a:noAutofit/>
            </a:bodyPr>
            <a:lstStyle>
              <a:lvl1pPr marL="0" indent="0" algn="l" defTabSz="990571" rtl="0" eaLnBrk="1" latinLnBrk="0" hangingPunct="1">
                <a:spcBef>
                  <a:spcPts val="0"/>
                </a:spcBef>
                <a:spcAft>
                  <a:spcPts val="300"/>
                </a:spcAft>
                <a:buSzPct val="100000"/>
                <a:buFont typeface="Arial" panose="020B0604020202020204" pitchFamily="34" charset="0"/>
                <a:buNone/>
                <a:defRPr sz="900" b="0" kern="1200" baseline="0">
                  <a:solidFill>
                    <a:schemeClr val="tx1"/>
                  </a:solidFill>
                  <a:latin typeface="+mn-lt"/>
                  <a:ea typeface="+mn-ea"/>
                  <a:cs typeface="+mn-cs"/>
                </a:defRPr>
              </a:lvl1pPr>
              <a:lvl2pPr marL="0" indent="0" algn="l" defTabSz="990571" rtl="0" eaLnBrk="1" latinLnBrk="0" hangingPunct="1">
                <a:spcBef>
                  <a:spcPts val="0"/>
                </a:spcBef>
                <a:spcAft>
                  <a:spcPts val="300"/>
                </a:spcAft>
                <a:buClrTx/>
                <a:buSzPct val="100000"/>
                <a:buFont typeface="Arial"/>
                <a:buNone/>
                <a:defRPr lang="en-US" sz="900" b="1" kern="1200">
                  <a:solidFill>
                    <a:schemeClr val="tx1"/>
                  </a:solidFill>
                  <a:latin typeface="+mn-lt"/>
                  <a:ea typeface="+mn-ea"/>
                  <a:cs typeface="+mn-cs"/>
                </a:defRPr>
              </a:lvl2pPr>
              <a:lvl3pPr marL="191094" indent="-191094" algn="l" defTabSz="990571" rtl="0" eaLnBrk="1" latinLnBrk="0" hangingPunct="1">
                <a:spcBef>
                  <a:spcPts val="0"/>
                </a:spcBef>
                <a:spcAft>
                  <a:spcPts val="300"/>
                </a:spcAft>
                <a:buClrTx/>
                <a:buSzPct val="100000"/>
                <a:buFont typeface="Arial" panose="020B0604020202020204" pitchFamily="34" charset="0"/>
                <a:buChar char="•"/>
                <a:defRPr lang="en-US" sz="900" kern="1200">
                  <a:solidFill>
                    <a:schemeClr val="tx1"/>
                  </a:solidFill>
                  <a:latin typeface="+mn-lt"/>
                  <a:ea typeface="+mn-ea"/>
                  <a:cs typeface="+mn-cs"/>
                </a:defRPr>
              </a:lvl3pPr>
              <a:lvl4pPr marL="386089" indent="-191094" algn="l" defTabSz="990571"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82" indent="-191094" algn="l" defTabSz="865030"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87313" lvl="2" indent="-87313" defTabSz="914400" fontAlgn="base">
                <a:spcAft>
                  <a:spcPts val="20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Deloitte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since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2017</a:t>
              </a:r>
            </a:p>
            <a:p>
              <a:pPr marL="87313" lvl="2" indent="-87313" defTabSz="914400" fontAlgn="base">
                <a:spcAft>
                  <a:spcPts val="20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eFrontech</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(2004 à 2017): </a:t>
              </a:r>
            </a:p>
            <a:p>
              <a:pPr marL="282308" lvl="3" indent="-87313" defTabSz="914400" fontAlgn="base">
                <a:spcAft>
                  <a:spcPts val="200"/>
                </a:spcAft>
                <a:buSzPct val="50000"/>
                <a:defRPr/>
              </a:pP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Associate</a:t>
              </a:r>
              <a:r>
                <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Director</a:t>
              </a:r>
              <a:endPar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282308" lvl="3" indent="-87313" defTabSz="914400" fontAlgn="base">
                <a:spcAft>
                  <a:spcPts val="200"/>
                </a:spcAft>
                <a:buSzPct val="50000"/>
                <a:defRPr/>
              </a:pP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a:t>
              </a:r>
              <a:r>
                <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Practice </a:t>
              </a: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Director</a:t>
              </a:r>
              <a:endPar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282308" lvl="3" indent="-87313" defTabSz="914400" fontAlgn="base">
                <a:spcAft>
                  <a:spcPts val="200"/>
                </a:spcAft>
                <a:buSzPct val="50000"/>
                <a:defRPr/>
              </a:pP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Mobility</a:t>
              </a:r>
              <a:r>
                <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Practice </a:t>
              </a: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Director</a:t>
              </a:r>
              <a:endPar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282308" lvl="3" indent="-87313" defTabSz="914400" fontAlgn="base">
                <a:spcAft>
                  <a:spcPts val="200"/>
                </a:spcAft>
                <a:buSzPct val="50000"/>
                <a:defRPr/>
              </a:pPr>
              <a:r>
                <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Project </a:t>
              </a:r>
              <a:r>
                <a:rPr lang="fr-FR"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Director</a:t>
              </a:r>
              <a:endPar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282308" lvl="3" indent="-87313" defTabSz="914400" fontAlgn="base">
                <a:spcAft>
                  <a:spcPts val="200"/>
                </a:spcAft>
                <a:buSzPct val="50000"/>
                <a:defRPr/>
              </a:pPr>
              <a:r>
                <a:rPr lang="fr-FR"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Project Manager</a:t>
              </a:r>
            </a:p>
            <a:p>
              <a:pPr marL="87313" lvl="2" indent="-87313" defTabSz="914400" fontAlgn="base">
                <a:spcAft>
                  <a:spcPts val="20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Cap Gemini (2001 à 2004): CRM Consultant</a:t>
              </a:r>
            </a:p>
            <a:p>
              <a:pPr marL="87313" lvl="2" indent="-87313" defTabSz="914400" fontAlgn="base">
                <a:spcAft>
                  <a:spcPts val="20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DESS Informatique de Gestion, Paris Dauphine</a:t>
              </a:r>
            </a:p>
            <a:p>
              <a:pPr marL="87313" lvl="2" indent="-87313" defTabSz="914400" fontAlgn="base">
                <a:spcAft>
                  <a:spcPts val="20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Maîtrise Finance &amp; Fiscalité, Paris Dauphine</a:t>
              </a:r>
            </a:p>
            <a:p>
              <a:pPr marL="87313" lvl="2" indent="-87313" defTabSz="914400" fontAlgn="base">
                <a:spcAft>
                  <a:spcPts val="200"/>
                </a:spcAft>
                <a:buSzPct val="50000"/>
                <a:defRPr/>
              </a:pP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87313" lvl="2" indent="-87313" defTabSz="914400" fontAlgn="base">
                <a:spcAft>
                  <a:spcPts val="200"/>
                </a:spcAft>
                <a:buSzPct val="50000"/>
                <a:defRPr/>
              </a:pP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00" name="Text Box 11"/>
            <p:cNvSpPr txBox="1">
              <a:spLocks noChangeArrowheads="1"/>
            </p:cNvSpPr>
            <p:nvPr/>
          </p:nvSpPr>
          <p:spPr bwMode="auto">
            <a:xfrm>
              <a:off x="754782" y="4075341"/>
              <a:ext cx="4846186" cy="227213"/>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en-GB" sz="1050" spc="300" dirty="0">
                  <a:solidFill>
                    <a:srgbClr val="000000"/>
                  </a:solidFill>
                  <a:ea typeface="Open Sans bold" panose="020B0806030504020204" pitchFamily="34" charset="0"/>
                  <a:cs typeface="Open Sans bold" panose="020B0806030504020204" pitchFamily="34" charset="0"/>
                </a:rPr>
                <a:t>PROFESSIONAL BACKGROUND AND EDUCATION</a:t>
              </a:r>
            </a:p>
          </p:txBody>
        </p:sp>
        <p:grpSp>
          <p:nvGrpSpPr>
            <p:cNvPr id="101" name="Group 100"/>
            <p:cNvGrpSpPr/>
            <p:nvPr/>
          </p:nvGrpSpPr>
          <p:grpSpPr>
            <a:xfrm>
              <a:off x="311220" y="3956986"/>
              <a:ext cx="365598" cy="365598"/>
              <a:chOff x="311220" y="3956986"/>
              <a:chExt cx="365598" cy="365598"/>
            </a:xfrm>
          </p:grpSpPr>
          <p:sp>
            <p:nvSpPr>
              <p:cNvPr id="102" name="Oval 101"/>
              <p:cNvSpPr/>
              <p:nvPr/>
            </p:nvSpPr>
            <p:spPr>
              <a:xfrm>
                <a:off x="311220" y="3956986"/>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Freeform 22"/>
              <p:cNvSpPr>
                <a:spLocks noEditPoints="1"/>
              </p:cNvSpPr>
              <p:nvPr/>
            </p:nvSpPr>
            <p:spPr bwMode="auto">
              <a:xfrm>
                <a:off x="344297" y="3989608"/>
                <a:ext cx="299445" cy="30035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04" name="Group 103"/>
              <p:cNvGrpSpPr/>
              <p:nvPr/>
            </p:nvGrpSpPr>
            <p:grpSpPr>
              <a:xfrm>
                <a:off x="422572" y="4075342"/>
                <a:ext cx="142894" cy="128886"/>
                <a:chOff x="8613776" y="981075"/>
                <a:chExt cx="242888" cy="219075"/>
              </a:xfrm>
            </p:grpSpPr>
            <p:sp>
              <p:nvSpPr>
                <p:cNvPr id="105" name="Freeform 102"/>
                <p:cNvSpPr>
                  <a:spLocks/>
                </p:cNvSpPr>
                <p:nvPr/>
              </p:nvSpPr>
              <p:spPr bwMode="auto">
                <a:xfrm>
                  <a:off x="8629651" y="1149350"/>
                  <a:ext cx="211138" cy="50800"/>
                </a:xfrm>
                <a:custGeom>
                  <a:avLst/>
                  <a:gdLst>
                    <a:gd name="T0" fmla="*/ 4 w 266"/>
                    <a:gd name="T1" fmla="*/ 0 h 65"/>
                    <a:gd name="T2" fmla="*/ 4 w 266"/>
                    <a:gd name="T3" fmla="*/ 0 h 65"/>
                    <a:gd name="T4" fmla="*/ 1 w 266"/>
                    <a:gd name="T5" fmla="*/ 2 h 65"/>
                    <a:gd name="T6" fmla="*/ 0 w 266"/>
                    <a:gd name="T7" fmla="*/ 6 h 65"/>
                    <a:gd name="T8" fmla="*/ 0 w 266"/>
                    <a:gd name="T9" fmla="*/ 59 h 65"/>
                    <a:gd name="T10" fmla="*/ 0 w 266"/>
                    <a:gd name="T11" fmla="*/ 59 h 65"/>
                    <a:gd name="T12" fmla="*/ 1 w 266"/>
                    <a:gd name="T13" fmla="*/ 63 h 65"/>
                    <a:gd name="T14" fmla="*/ 4 w 266"/>
                    <a:gd name="T15" fmla="*/ 65 h 65"/>
                    <a:gd name="T16" fmla="*/ 260 w 266"/>
                    <a:gd name="T17" fmla="*/ 65 h 65"/>
                    <a:gd name="T18" fmla="*/ 260 w 266"/>
                    <a:gd name="T19" fmla="*/ 65 h 65"/>
                    <a:gd name="T20" fmla="*/ 264 w 266"/>
                    <a:gd name="T21" fmla="*/ 63 h 65"/>
                    <a:gd name="T22" fmla="*/ 266 w 266"/>
                    <a:gd name="T23" fmla="*/ 59 h 65"/>
                    <a:gd name="T24" fmla="*/ 266 w 266"/>
                    <a:gd name="T25" fmla="*/ 6 h 65"/>
                    <a:gd name="T26" fmla="*/ 266 w 266"/>
                    <a:gd name="T27" fmla="*/ 6 h 65"/>
                    <a:gd name="T28" fmla="*/ 264 w 266"/>
                    <a:gd name="T29" fmla="*/ 2 h 65"/>
                    <a:gd name="T30" fmla="*/ 260 w 266"/>
                    <a:gd name="T31" fmla="*/ 0 h 65"/>
                    <a:gd name="T32" fmla="*/ 157 w 266"/>
                    <a:gd name="T33" fmla="*/ 0 h 65"/>
                    <a:gd name="T34" fmla="*/ 157 w 266"/>
                    <a:gd name="T35" fmla="*/ 10 h 65"/>
                    <a:gd name="T36" fmla="*/ 157 w 266"/>
                    <a:gd name="T37" fmla="*/ 10 h 65"/>
                    <a:gd name="T38" fmla="*/ 156 w 266"/>
                    <a:gd name="T39" fmla="*/ 14 h 65"/>
                    <a:gd name="T40" fmla="*/ 152 w 266"/>
                    <a:gd name="T41" fmla="*/ 15 h 65"/>
                    <a:gd name="T42" fmla="*/ 113 w 266"/>
                    <a:gd name="T43" fmla="*/ 15 h 65"/>
                    <a:gd name="T44" fmla="*/ 113 w 266"/>
                    <a:gd name="T45" fmla="*/ 15 h 65"/>
                    <a:gd name="T46" fmla="*/ 109 w 266"/>
                    <a:gd name="T47" fmla="*/ 14 h 65"/>
                    <a:gd name="T48" fmla="*/ 107 w 266"/>
                    <a:gd name="T49" fmla="*/ 10 h 65"/>
                    <a:gd name="T50" fmla="*/ 107 w 266"/>
                    <a:gd name="T51" fmla="*/ 0 h 65"/>
                    <a:gd name="T52" fmla="*/ 4 w 266"/>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6" h="65">
                      <a:moveTo>
                        <a:pt x="4" y="0"/>
                      </a:moveTo>
                      <a:lnTo>
                        <a:pt x="4" y="0"/>
                      </a:lnTo>
                      <a:lnTo>
                        <a:pt x="1" y="2"/>
                      </a:lnTo>
                      <a:lnTo>
                        <a:pt x="0" y="6"/>
                      </a:lnTo>
                      <a:lnTo>
                        <a:pt x="0" y="59"/>
                      </a:lnTo>
                      <a:lnTo>
                        <a:pt x="0" y="59"/>
                      </a:lnTo>
                      <a:lnTo>
                        <a:pt x="1" y="63"/>
                      </a:lnTo>
                      <a:lnTo>
                        <a:pt x="4" y="65"/>
                      </a:lnTo>
                      <a:lnTo>
                        <a:pt x="260" y="65"/>
                      </a:lnTo>
                      <a:lnTo>
                        <a:pt x="260" y="65"/>
                      </a:lnTo>
                      <a:lnTo>
                        <a:pt x="264" y="63"/>
                      </a:lnTo>
                      <a:lnTo>
                        <a:pt x="266" y="59"/>
                      </a:lnTo>
                      <a:lnTo>
                        <a:pt x="266" y="6"/>
                      </a:lnTo>
                      <a:lnTo>
                        <a:pt x="266" y="6"/>
                      </a:lnTo>
                      <a:lnTo>
                        <a:pt x="264" y="2"/>
                      </a:lnTo>
                      <a:lnTo>
                        <a:pt x="260" y="0"/>
                      </a:lnTo>
                      <a:lnTo>
                        <a:pt x="157" y="0"/>
                      </a:lnTo>
                      <a:lnTo>
                        <a:pt x="157" y="10"/>
                      </a:lnTo>
                      <a:lnTo>
                        <a:pt x="157" y="10"/>
                      </a:lnTo>
                      <a:lnTo>
                        <a:pt x="156" y="14"/>
                      </a:lnTo>
                      <a:lnTo>
                        <a:pt x="152" y="15"/>
                      </a:lnTo>
                      <a:lnTo>
                        <a:pt x="113" y="15"/>
                      </a:lnTo>
                      <a:lnTo>
                        <a:pt x="113" y="15"/>
                      </a:lnTo>
                      <a:lnTo>
                        <a:pt x="109" y="14"/>
                      </a:lnTo>
                      <a:lnTo>
                        <a:pt x="107" y="10"/>
                      </a:lnTo>
                      <a:lnTo>
                        <a:pt x="107"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03"/>
                <p:cNvSpPr>
                  <a:spLocks noEditPoints="1"/>
                </p:cNvSpPr>
                <p:nvPr/>
              </p:nvSpPr>
              <p:spPr bwMode="auto">
                <a:xfrm>
                  <a:off x="8613776" y="981075"/>
                  <a:ext cx="242888" cy="160338"/>
                </a:xfrm>
                <a:custGeom>
                  <a:avLst/>
                  <a:gdLst>
                    <a:gd name="T0" fmla="*/ 301 w 306"/>
                    <a:gd name="T1" fmla="*/ 30 h 203"/>
                    <a:gd name="T2" fmla="*/ 207 w 306"/>
                    <a:gd name="T3" fmla="*/ 30 h 203"/>
                    <a:gd name="T4" fmla="*/ 207 w 306"/>
                    <a:gd name="T5" fmla="*/ 6 h 203"/>
                    <a:gd name="T6" fmla="*/ 207 w 306"/>
                    <a:gd name="T7" fmla="*/ 6 h 203"/>
                    <a:gd name="T8" fmla="*/ 205 w 306"/>
                    <a:gd name="T9" fmla="*/ 1 h 203"/>
                    <a:gd name="T10" fmla="*/ 201 w 306"/>
                    <a:gd name="T11" fmla="*/ 0 h 203"/>
                    <a:gd name="T12" fmla="*/ 103 w 306"/>
                    <a:gd name="T13" fmla="*/ 0 h 203"/>
                    <a:gd name="T14" fmla="*/ 103 w 306"/>
                    <a:gd name="T15" fmla="*/ 0 h 203"/>
                    <a:gd name="T16" fmla="*/ 99 w 306"/>
                    <a:gd name="T17" fmla="*/ 1 h 203"/>
                    <a:gd name="T18" fmla="*/ 98 w 306"/>
                    <a:gd name="T19" fmla="*/ 6 h 203"/>
                    <a:gd name="T20" fmla="*/ 98 w 306"/>
                    <a:gd name="T21" fmla="*/ 30 h 203"/>
                    <a:gd name="T22" fmla="*/ 5 w 306"/>
                    <a:gd name="T23" fmla="*/ 30 h 203"/>
                    <a:gd name="T24" fmla="*/ 5 w 306"/>
                    <a:gd name="T25" fmla="*/ 30 h 203"/>
                    <a:gd name="T26" fmla="*/ 1 w 306"/>
                    <a:gd name="T27" fmla="*/ 31 h 203"/>
                    <a:gd name="T28" fmla="*/ 0 w 306"/>
                    <a:gd name="T29" fmla="*/ 35 h 203"/>
                    <a:gd name="T30" fmla="*/ 0 w 306"/>
                    <a:gd name="T31" fmla="*/ 198 h 203"/>
                    <a:gd name="T32" fmla="*/ 0 w 306"/>
                    <a:gd name="T33" fmla="*/ 198 h 203"/>
                    <a:gd name="T34" fmla="*/ 1 w 306"/>
                    <a:gd name="T35" fmla="*/ 200 h 203"/>
                    <a:gd name="T36" fmla="*/ 5 w 306"/>
                    <a:gd name="T37" fmla="*/ 203 h 203"/>
                    <a:gd name="T38" fmla="*/ 127 w 306"/>
                    <a:gd name="T39" fmla="*/ 203 h 203"/>
                    <a:gd name="T40" fmla="*/ 127 w 306"/>
                    <a:gd name="T41" fmla="*/ 183 h 203"/>
                    <a:gd name="T42" fmla="*/ 127 w 306"/>
                    <a:gd name="T43" fmla="*/ 183 h 203"/>
                    <a:gd name="T44" fmla="*/ 129 w 306"/>
                    <a:gd name="T45" fmla="*/ 179 h 203"/>
                    <a:gd name="T46" fmla="*/ 133 w 306"/>
                    <a:gd name="T47" fmla="*/ 177 h 203"/>
                    <a:gd name="T48" fmla="*/ 172 w 306"/>
                    <a:gd name="T49" fmla="*/ 177 h 203"/>
                    <a:gd name="T50" fmla="*/ 172 w 306"/>
                    <a:gd name="T51" fmla="*/ 177 h 203"/>
                    <a:gd name="T52" fmla="*/ 176 w 306"/>
                    <a:gd name="T53" fmla="*/ 179 h 203"/>
                    <a:gd name="T54" fmla="*/ 177 w 306"/>
                    <a:gd name="T55" fmla="*/ 183 h 203"/>
                    <a:gd name="T56" fmla="*/ 177 w 306"/>
                    <a:gd name="T57" fmla="*/ 203 h 203"/>
                    <a:gd name="T58" fmla="*/ 301 w 306"/>
                    <a:gd name="T59" fmla="*/ 203 h 203"/>
                    <a:gd name="T60" fmla="*/ 301 w 306"/>
                    <a:gd name="T61" fmla="*/ 203 h 203"/>
                    <a:gd name="T62" fmla="*/ 303 w 306"/>
                    <a:gd name="T63" fmla="*/ 200 h 203"/>
                    <a:gd name="T64" fmla="*/ 306 w 306"/>
                    <a:gd name="T65" fmla="*/ 198 h 203"/>
                    <a:gd name="T66" fmla="*/ 306 w 306"/>
                    <a:gd name="T67" fmla="*/ 35 h 203"/>
                    <a:gd name="T68" fmla="*/ 306 w 306"/>
                    <a:gd name="T69" fmla="*/ 35 h 203"/>
                    <a:gd name="T70" fmla="*/ 303 w 306"/>
                    <a:gd name="T71" fmla="*/ 31 h 203"/>
                    <a:gd name="T72" fmla="*/ 301 w 306"/>
                    <a:gd name="T73" fmla="*/ 30 h 203"/>
                    <a:gd name="T74" fmla="*/ 301 w 306"/>
                    <a:gd name="T75" fmla="*/ 30 h 203"/>
                    <a:gd name="T76" fmla="*/ 197 w 306"/>
                    <a:gd name="T77" fmla="*/ 30 h 203"/>
                    <a:gd name="T78" fmla="*/ 108 w 306"/>
                    <a:gd name="T79" fmla="*/ 30 h 203"/>
                    <a:gd name="T80" fmla="*/ 108 w 306"/>
                    <a:gd name="T81" fmla="*/ 10 h 203"/>
                    <a:gd name="T82" fmla="*/ 197 w 306"/>
                    <a:gd name="T83" fmla="*/ 10 h 203"/>
                    <a:gd name="T84" fmla="*/ 197 w 306"/>
                    <a:gd name="T85" fmla="*/ 3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6" h="203">
                      <a:moveTo>
                        <a:pt x="301" y="30"/>
                      </a:moveTo>
                      <a:lnTo>
                        <a:pt x="207" y="30"/>
                      </a:lnTo>
                      <a:lnTo>
                        <a:pt x="207" y="6"/>
                      </a:lnTo>
                      <a:lnTo>
                        <a:pt x="207" y="6"/>
                      </a:lnTo>
                      <a:lnTo>
                        <a:pt x="205" y="1"/>
                      </a:lnTo>
                      <a:lnTo>
                        <a:pt x="201" y="0"/>
                      </a:lnTo>
                      <a:lnTo>
                        <a:pt x="103" y="0"/>
                      </a:lnTo>
                      <a:lnTo>
                        <a:pt x="103" y="0"/>
                      </a:lnTo>
                      <a:lnTo>
                        <a:pt x="99" y="1"/>
                      </a:lnTo>
                      <a:lnTo>
                        <a:pt x="98" y="6"/>
                      </a:lnTo>
                      <a:lnTo>
                        <a:pt x="98" y="30"/>
                      </a:lnTo>
                      <a:lnTo>
                        <a:pt x="5" y="30"/>
                      </a:lnTo>
                      <a:lnTo>
                        <a:pt x="5" y="30"/>
                      </a:lnTo>
                      <a:lnTo>
                        <a:pt x="1" y="31"/>
                      </a:lnTo>
                      <a:lnTo>
                        <a:pt x="0" y="35"/>
                      </a:lnTo>
                      <a:lnTo>
                        <a:pt x="0" y="198"/>
                      </a:lnTo>
                      <a:lnTo>
                        <a:pt x="0" y="198"/>
                      </a:lnTo>
                      <a:lnTo>
                        <a:pt x="1" y="200"/>
                      </a:lnTo>
                      <a:lnTo>
                        <a:pt x="5" y="203"/>
                      </a:lnTo>
                      <a:lnTo>
                        <a:pt x="127" y="203"/>
                      </a:lnTo>
                      <a:lnTo>
                        <a:pt x="127" y="183"/>
                      </a:lnTo>
                      <a:lnTo>
                        <a:pt x="127" y="183"/>
                      </a:lnTo>
                      <a:lnTo>
                        <a:pt x="129" y="179"/>
                      </a:lnTo>
                      <a:lnTo>
                        <a:pt x="133" y="177"/>
                      </a:lnTo>
                      <a:lnTo>
                        <a:pt x="172" y="177"/>
                      </a:lnTo>
                      <a:lnTo>
                        <a:pt x="172" y="177"/>
                      </a:lnTo>
                      <a:lnTo>
                        <a:pt x="176" y="179"/>
                      </a:lnTo>
                      <a:lnTo>
                        <a:pt x="177" y="183"/>
                      </a:lnTo>
                      <a:lnTo>
                        <a:pt x="177" y="203"/>
                      </a:lnTo>
                      <a:lnTo>
                        <a:pt x="301" y="203"/>
                      </a:lnTo>
                      <a:lnTo>
                        <a:pt x="301" y="203"/>
                      </a:lnTo>
                      <a:lnTo>
                        <a:pt x="303" y="200"/>
                      </a:lnTo>
                      <a:lnTo>
                        <a:pt x="306" y="198"/>
                      </a:lnTo>
                      <a:lnTo>
                        <a:pt x="306" y="35"/>
                      </a:lnTo>
                      <a:lnTo>
                        <a:pt x="306" y="35"/>
                      </a:lnTo>
                      <a:lnTo>
                        <a:pt x="303" y="31"/>
                      </a:lnTo>
                      <a:lnTo>
                        <a:pt x="301" y="30"/>
                      </a:lnTo>
                      <a:lnTo>
                        <a:pt x="301" y="30"/>
                      </a:lnTo>
                      <a:close/>
                      <a:moveTo>
                        <a:pt x="197" y="30"/>
                      </a:moveTo>
                      <a:lnTo>
                        <a:pt x="108" y="30"/>
                      </a:lnTo>
                      <a:lnTo>
                        <a:pt x="108" y="10"/>
                      </a:lnTo>
                      <a:lnTo>
                        <a:pt x="197" y="10"/>
                      </a:lnTo>
                      <a:lnTo>
                        <a:pt x="19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107" name="Group 106"/>
          <p:cNvGrpSpPr/>
          <p:nvPr/>
        </p:nvGrpSpPr>
        <p:grpSpPr>
          <a:xfrm>
            <a:off x="311220" y="6046200"/>
            <a:ext cx="5211472" cy="555089"/>
            <a:chOff x="311220" y="6046200"/>
            <a:chExt cx="5211472" cy="555089"/>
          </a:xfrm>
        </p:grpSpPr>
        <p:cxnSp>
          <p:nvCxnSpPr>
            <p:cNvPr id="108" name="Straight Connector 107">
              <a:extLst>
                <a:ext uri="{FF2B5EF4-FFF2-40B4-BE49-F238E27FC236}">
                  <a16:creationId xmlns:a16="http://schemas.microsoft.com/office/drawing/2014/main" id="{296F3DE4-E136-4031-A795-F2C2AA077709}"/>
                </a:ext>
              </a:extLst>
            </p:cNvPr>
            <p:cNvCxnSpPr/>
            <p:nvPr/>
          </p:nvCxnSpPr>
          <p:spPr>
            <a:xfrm>
              <a:off x="742082" y="6293442"/>
              <a:ext cx="1152525" cy="5726"/>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109" name="Text Placeholder 15"/>
            <p:cNvSpPr txBox="1">
              <a:spLocks/>
            </p:cNvSpPr>
            <p:nvPr/>
          </p:nvSpPr>
          <p:spPr>
            <a:xfrm>
              <a:off x="715620" y="6411797"/>
              <a:ext cx="4807072" cy="189492"/>
            </a:xfrm>
            <a:prstGeom prst="rect">
              <a:avLst/>
            </a:prstGeom>
          </p:spPr>
          <p:txBody>
            <a:bodyPr vert="horz" lIns="0" tIns="0" rIns="0" bIns="0" rtlCol="0" anchor="t">
              <a:noAutofit/>
            </a:bodyPr>
            <a:lstStyle>
              <a:lvl1pPr marL="0" indent="0" algn="l" defTabSz="990571" rtl="0" eaLnBrk="1" latinLnBrk="0" hangingPunct="1">
                <a:spcBef>
                  <a:spcPts val="0"/>
                </a:spcBef>
                <a:spcAft>
                  <a:spcPts val="300"/>
                </a:spcAft>
                <a:buSzPct val="100000"/>
                <a:buFont typeface="Arial" panose="020B0604020202020204" pitchFamily="34" charset="0"/>
                <a:buNone/>
                <a:defRPr sz="900" b="0" kern="1200" baseline="0">
                  <a:solidFill>
                    <a:schemeClr val="tx1"/>
                  </a:solidFill>
                  <a:latin typeface="+mn-lt"/>
                  <a:ea typeface="+mn-ea"/>
                  <a:cs typeface="+mn-cs"/>
                </a:defRPr>
              </a:lvl1pPr>
              <a:lvl2pPr marL="0" indent="0" algn="l" defTabSz="990571" rtl="0" eaLnBrk="1" latinLnBrk="0" hangingPunct="1">
                <a:spcBef>
                  <a:spcPts val="0"/>
                </a:spcBef>
                <a:spcAft>
                  <a:spcPts val="300"/>
                </a:spcAft>
                <a:buClrTx/>
                <a:buSzPct val="100000"/>
                <a:buFont typeface="Arial"/>
                <a:buNone/>
                <a:defRPr lang="en-US" sz="900" b="1" kern="1200">
                  <a:solidFill>
                    <a:schemeClr val="tx1"/>
                  </a:solidFill>
                  <a:latin typeface="+mn-lt"/>
                  <a:ea typeface="+mn-ea"/>
                  <a:cs typeface="+mn-cs"/>
                </a:defRPr>
              </a:lvl2pPr>
              <a:lvl3pPr marL="191094" indent="-191094" algn="l" defTabSz="990571" rtl="0" eaLnBrk="1" latinLnBrk="0" hangingPunct="1">
                <a:spcBef>
                  <a:spcPts val="0"/>
                </a:spcBef>
                <a:spcAft>
                  <a:spcPts val="300"/>
                </a:spcAft>
                <a:buClrTx/>
                <a:buSzPct val="100000"/>
                <a:buFont typeface="Arial" panose="020B0604020202020204" pitchFamily="34" charset="0"/>
                <a:buChar char="•"/>
                <a:defRPr lang="en-US" sz="900" kern="1200">
                  <a:solidFill>
                    <a:schemeClr val="tx1"/>
                  </a:solidFill>
                  <a:latin typeface="+mn-lt"/>
                  <a:ea typeface="+mn-ea"/>
                  <a:cs typeface="+mn-cs"/>
                </a:defRPr>
              </a:lvl3pPr>
              <a:lvl4pPr marL="386089" indent="-191094" algn="l" defTabSz="990571"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82" indent="-191094" algn="l" defTabSz="865030"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lvl="2" indent="0" defTabSz="914400" fontAlgn="base">
                <a:lnSpc>
                  <a:spcPts val="1500"/>
                </a:lnSpc>
                <a:spcBef>
                  <a:spcPct val="0"/>
                </a:spcBef>
                <a:spcAft>
                  <a:spcPct val="0"/>
                </a:spcAft>
                <a:buNone/>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French - English</a:t>
              </a:r>
            </a:p>
          </p:txBody>
        </p:sp>
        <p:sp>
          <p:nvSpPr>
            <p:cNvPr id="110" name="Text Box 11"/>
            <p:cNvSpPr txBox="1">
              <a:spLocks noChangeArrowheads="1"/>
            </p:cNvSpPr>
            <p:nvPr/>
          </p:nvSpPr>
          <p:spPr bwMode="auto">
            <a:xfrm>
              <a:off x="754781" y="6158830"/>
              <a:ext cx="1139825" cy="232939"/>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fr-FR" sz="1050" spc="300" dirty="0">
                  <a:solidFill>
                    <a:srgbClr val="000000"/>
                  </a:solidFill>
                  <a:ea typeface="Open Sans bold" panose="020B0806030504020204" pitchFamily="34" charset="0"/>
                  <a:cs typeface="Open Sans bold" panose="020B0806030504020204" pitchFamily="34" charset="0"/>
                </a:rPr>
                <a:t>LANGUAGES</a:t>
              </a:r>
            </a:p>
          </p:txBody>
        </p:sp>
        <p:grpSp>
          <p:nvGrpSpPr>
            <p:cNvPr id="111" name="Group 110"/>
            <p:cNvGrpSpPr/>
            <p:nvPr/>
          </p:nvGrpSpPr>
          <p:grpSpPr>
            <a:xfrm>
              <a:off x="311220" y="6046200"/>
              <a:ext cx="365598" cy="365598"/>
              <a:chOff x="311220" y="5980111"/>
              <a:chExt cx="365598" cy="365598"/>
            </a:xfrm>
          </p:grpSpPr>
          <p:sp>
            <p:nvSpPr>
              <p:cNvPr id="112" name="Oval 111"/>
              <p:cNvSpPr/>
              <p:nvPr/>
            </p:nvSpPr>
            <p:spPr>
              <a:xfrm>
                <a:off x="311220" y="5980111"/>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Freeform 22"/>
              <p:cNvSpPr>
                <a:spLocks noEditPoints="1"/>
              </p:cNvSpPr>
              <p:nvPr/>
            </p:nvSpPr>
            <p:spPr bwMode="auto">
              <a:xfrm>
                <a:off x="344297" y="6012733"/>
                <a:ext cx="299445" cy="30035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78"/>
              <p:cNvSpPr>
                <a:spLocks/>
              </p:cNvSpPr>
              <p:nvPr/>
            </p:nvSpPr>
            <p:spPr bwMode="auto">
              <a:xfrm>
                <a:off x="416053" y="6092741"/>
                <a:ext cx="155932" cy="140338"/>
              </a:xfrm>
              <a:custGeom>
                <a:avLst/>
                <a:gdLst>
                  <a:gd name="T0" fmla="*/ 330 w 340"/>
                  <a:gd name="T1" fmla="*/ 0 h 307"/>
                  <a:gd name="T2" fmla="*/ 11 w 340"/>
                  <a:gd name="T3" fmla="*/ 0 h 307"/>
                  <a:gd name="T4" fmla="*/ 11 w 340"/>
                  <a:gd name="T5" fmla="*/ 0 h 307"/>
                  <a:gd name="T6" fmla="*/ 7 w 340"/>
                  <a:gd name="T7" fmla="*/ 2 h 307"/>
                  <a:gd name="T8" fmla="*/ 4 w 340"/>
                  <a:gd name="T9" fmla="*/ 4 h 307"/>
                  <a:gd name="T10" fmla="*/ 2 w 340"/>
                  <a:gd name="T11" fmla="*/ 7 h 307"/>
                  <a:gd name="T12" fmla="*/ 0 w 340"/>
                  <a:gd name="T13" fmla="*/ 11 h 307"/>
                  <a:gd name="T14" fmla="*/ 0 w 340"/>
                  <a:gd name="T15" fmla="*/ 219 h 307"/>
                  <a:gd name="T16" fmla="*/ 0 w 340"/>
                  <a:gd name="T17" fmla="*/ 219 h 307"/>
                  <a:gd name="T18" fmla="*/ 2 w 340"/>
                  <a:gd name="T19" fmla="*/ 223 h 307"/>
                  <a:gd name="T20" fmla="*/ 4 w 340"/>
                  <a:gd name="T21" fmla="*/ 227 h 307"/>
                  <a:gd name="T22" fmla="*/ 7 w 340"/>
                  <a:gd name="T23" fmla="*/ 230 h 307"/>
                  <a:gd name="T24" fmla="*/ 11 w 340"/>
                  <a:gd name="T25" fmla="*/ 230 h 307"/>
                  <a:gd name="T26" fmla="*/ 77 w 340"/>
                  <a:gd name="T27" fmla="*/ 230 h 307"/>
                  <a:gd name="T28" fmla="*/ 77 w 340"/>
                  <a:gd name="T29" fmla="*/ 301 h 307"/>
                  <a:gd name="T30" fmla="*/ 77 w 340"/>
                  <a:gd name="T31" fmla="*/ 301 h 307"/>
                  <a:gd name="T32" fmla="*/ 78 w 340"/>
                  <a:gd name="T33" fmla="*/ 304 h 307"/>
                  <a:gd name="T34" fmla="*/ 81 w 340"/>
                  <a:gd name="T35" fmla="*/ 307 h 307"/>
                  <a:gd name="T36" fmla="*/ 81 w 340"/>
                  <a:gd name="T37" fmla="*/ 307 h 307"/>
                  <a:gd name="T38" fmla="*/ 82 w 340"/>
                  <a:gd name="T39" fmla="*/ 307 h 307"/>
                  <a:gd name="T40" fmla="*/ 82 w 340"/>
                  <a:gd name="T41" fmla="*/ 307 h 307"/>
                  <a:gd name="T42" fmla="*/ 86 w 340"/>
                  <a:gd name="T43" fmla="*/ 305 h 307"/>
                  <a:gd name="T44" fmla="*/ 183 w 340"/>
                  <a:gd name="T45" fmla="*/ 230 h 307"/>
                  <a:gd name="T46" fmla="*/ 330 w 340"/>
                  <a:gd name="T47" fmla="*/ 230 h 307"/>
                  <a:gd name="T48" fmla="*/ 330 w 340"/>
                  <a:gd name="T49" fmla="*/ 230 h 307"/>
                  <a:gd name="T50" fmla="*/ 334 w 340"/>
                  <a:gd name="T51" fmla="*/ 230 h 307"/>
                  <a:gd name="T52" fmla="*/ 336 w 340"/>
                  <a:gd name="T53" fmla="*/ 227 h 307"/>
                  <a:gd name="T54" fmla="*/ 339 w 340"/>
                  <a:gd name="T55" fmla="*/ 223 h 307"/>
                  <a:gd name="T56" fmla="*/ 340 w 340"/>
                  <a:gd name="T57" fmla="*/ 219 h 307"/>
                  <a:gd name="T58" fmla="*/ 340 w 340"/>
                  <a:gd name="T59" fmla="*/ 11 h 307"/>
                  <a:gd name="T60" fmla="*/ 340 w 340"/>
                  <a:gd name="T61" fmla="*/ 11 h 307"/>
                  <a:gd name="T62" fmla="*/ 339 w 340"/>
                  <a:gd name="T63" fmla="*/ 7 h 307"/>
                  <a:gd name="T64" fmla="*/ 336 w 340"/>
                  <a:gd name="T65" fmla="*/ 4 h 307"/>
                  <a:gd name="T66" fmla="*/ 334 w 340"/>
                  <a:gd name="T67" fmla="*/ 2 h 307"/>
                  <a:gd name="T68" fmla="*/ 330 w 340"/>
                  <a:gd name="T69" fmla="*/ 0 h 307"/>
                  <a:gd name="T70" fmla="*/ 330 w 340"/>
                  <a:gd name="T7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0" h="307">
                    <a:moveTo>
                      <a:pt x="330" y="0"/>
                    </a:moveTo>
                    <a:lnTo>
                      <a:pt x="11" y="0"/>
                    </a:lnTo>
                    <a:lnTo>
                      <a:pt x="11" y="0"/>
                    </a:lnTo>
                    <a:lnTo>
                      <a:pt x="7" y="2"/>
                    </a:lnTo>
                    <a:lnTo>
                      <a:pt x="4" y="4"/>
                    </a:lnTo>
                    <a:lnTo>
                      <a:pt x="2" y="7"/>
                    </a:lnTo>
                    <a:lnTo>
                      <a:pt x="0" y="11"/>
                    </a:lnTo>
                    <a:lnTo>
                      <a:pt x="0" y="219"/>
                    </a:lnTo>
                    <a:lnTo>
                      <a:pt x="0" y="219"/>
                    </a:lnTo>
                    <a:lnTo>
                      <a:pt x="2" y="223"/>
                    </a:lnTo>
                    <a:lnTo>
                      <a:pt x="4" y="227"/>
                    </a:lnTo>
                    <a:lnTo>
                      <a:pt x="7" y="230"/>
                    </a:lnTo>
                    <a:lnTo>
                      <a:pt x="11" y="230"/>
                    </a:lnTo>
                    <a:lnTo>
                      <a:pt x="77" y="230"/>
                    </a:lnTo>
                    <a:lnTo>
                      <a:pt x="77" y="301"/>
                    </a:lnTo>
                    <a:lnTo>
                      <a:pt x="77" y="301"/>
                    </a:lnTo>
                    <a:lnTo>
                      <a:pt x="78" y="304"/>
                    </a:lnTo>
                    <a:lnTo>
                      <a:pt x="81" y="307"/>
                    </a:lnTo>
                    <a:lnTo>
                      <a:pt x="81" y="307"/>
                    </a:lnTo>
                    <a:lnTo>
                      <a:pt x="82" y="307"/>
                    </a:lnTo>
                    <a:lnTo>
                      <a:pt x="82" y="307"/>
                    </a:lnTo>
                    <a:lnTo>
                      <a:pt x="86" y="305"/>
                    </a:lnTo>
                    <a:lnTo>
                      <a:pt x="183" y="230"/>
                    </a:lnTo>
                    <a:lnTo>
                      <a:pt x="330" y="230"/>
                    </a:lnTo>
                    <a:lnTo>
                      <a:pt x="330" y="230"/>
                    </a:lnTo>
                    <a:lnTo>
                      <a:pt x="334" y="230"/>
                    </a:lnTo>
                    <a:lnTo>
                      <a:pt x="336" y="227"/>
                    </a:lnTo>
                    <a:lnTo>
                      <a:pt x="339" y="223"/>
                    </a:lnTo>
                    <a:lnTo>
                      <a:pt x="340" y="219"/>
                    </a:lnTo>
                    <a:lnTo>
                      <a:pt x="340" y="11"/>
                    </a:lnTo>
                    <a:lnTo>
                      <a:pt x="340" y="11"/>
                    </a:lnTo>
                    <a:lnTo>
                      <a:pt x="339" y="7"/>
                    </a:lnTo>
                    <a:lnTo>
                      <a:pt x="336" y="4"/>
                    </a:lnTo>
                    <a:lnTo>
                      <a:pt x="334" y="2"/>
                    </a:lnTo>
                    <a:lnTo>
                      <a:pt x="330" y="0"/>
                    </a:lnTo>
                    <a:lnTo>
                      <a:pt x="3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19" name="Title 13"/>
          <p:cNvSpPr txBox="1">
            <a:spLocks/>
          </p:cNvSpPr>
          <p:nvPr/>
        </p:nvSpPr>
        <p:spPr>
          <a:xfrm>
            <a:off x="2123382" y="369538"/>
            <a:ext cx="2855255" cy="295349"/>
          </a:xfrm>
          <a:prstGeom prst="rect">
            <a:avLst/>
          </a:prstGeom>
        </p:spPr>
        <p:txBody>
          <a:bodyPr vert="horz" lIns="0" tIns="45720" rIns="91440" bIns="0" rtlCol="0" anchor="t" anchorCtr="0">
            <a:noAutofit/>
          </a:bodyPr>
          <a:lstStyle>
            <a:lvl1pPr algn="l" defTabSz="914400" rtl="0" eaLnBrk="1" latinLnBrk="0" hangingPunct="1">
              <a:lnSpc>
                <a:spcPct val="80000"/>
              </a:lnSpc>
              <a:spcBef>
                <a:spcPct val="0"/>
              </a:spcBef>
              <a:buNone/>
              <a:defRPr sz="3200" b="0" i="0" kern="1200" cap="none" spc="-100" baseline="0">
                <a:solidFill>
                  <a:schemeClr val="tx1"/>
                </a:solidFill>
                <a:latin typeface="+mj-lt"/>
                <a:ea typeface="Bebas Neue" charset="0"/>
                <a:cs typeface="Chronicle Display Black"/>
              </a:defRPr>
            </a:lvl1pPr>
          </a:lstStyle>
          <a:p>
            <a:r>
              <a:rPr lang="en-US" sz="2000" spc="0" dirty="0"/>
              <a:t>Julien </a:t>
            </a:r>
            <a:r>
              <a:rPr lang="en-US" sz="2000" spc="0" dirty="0" err="1"/>
              <a:t>Delouvée</a:t>
            </a:r>
            <a:endParaRPr lang="en-US" sz="2000" spc="0" dirty="0"/>
          </a:p>
        </p:txBody>
      </p:sp>
      <p:sp>
        <p:nvSpPr>
          <p:cNvPr id="120" name="Text Box 46"/>
          <p:cNvSpPr txBox="1">
            <a:spLocks noChangeArrowheads="1"/>
          </p:cNvSpPr>
          <p:nvPr/>
        </p:nvSpPr>
        <p:spPr bwMode="gray">
          <a:xfrm>
            <a:off x="2123381" y="755177"/>
            <a:ext cx="2855256" cy="414914"/>
          </a:xfrm>
          <a:prstGeom prst="rect">
            <a:avLst/>
          </a:prstGeom>
          <a:noFill/>
          <a:ln w="12700" algn="ctr">
            <a:noFill/>
            <a:miter lim="800000"/>
            <a:headEnd/>
            <a:tailEnd/>
          </a:ln>
        </p:spPr>
        <p:txBody>
          <a:bodyPr lIns="0" tIns="0" rIns="0" bIns="0"/>
          <a:lstStyle/>
          <a:p>
            <a:pPr defTabSz="957998" fontAlgn="base">
              <a:spcBef>
                <a:spcPct val="10000"/>
              </a:spcBef>
              <a:spcAft>
                <a:spcPct val="0"/>
              </a:spcAft>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Partner</a:t>
            </a:r>
          </a:p>
          <a:p>
            <a:pPr defTabSz="957998" fontAlgn="base">
              <a:spcBef>
                <a:spcPct val="10000"/>
              </a:spcBef>
              <a:spcAft>
                <a:spcPct val="0"/>
              </a:spcAft>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Lead Sales &amp; Service– Lead Alliance MuleSoft </a:t>
            </a:r>
          </a:p>
        </p:txBody>
      </p:sp>
      <p:sp>
        <p:nvSpPr>
          <p:cNvPr id="121" name="Text Box 46"/>
          <p:cNvSpPr txBox="1">
            <a:spLocks noChangeArrowheads="1"/>
          </p:cNvSpPr>
          <p:nvPr/>
        </p:nvSpPr>
        <p:spPr bwMode="gray">
          <a:xfrm>
            <a:off x="2123382" y="1199723"/>
            <a:ext cx="2855255" cy="664902"/>
          </a:xfrm>
          <a:prstGeom prst="rect">
            <a:avLst/>
          </a:prstGeom>
          <a:noFill/>
          <a:ln w="12700" algn="ctr">
            <a:noFill/>
            <a:miter lim="800000"/>
            <a:headEnd/>
            <a:tailEnd/>
          </a:ln>
        </p:spPr>
        <p:txBody>
          <a:bodyPr lIns="0" tIns="0" rIns="0" bIns="0"/>
          <a:lstStyle/>
          <a:p>
            <a:pPr lvl="0" fontAlgn="base">
              <a:lnSpc>
                <a:spcPts val="1700"/>
              </a:lnSpc>
              <a:spcBef>
                <a:spcPct val="0"/>
              </a:spcBef>
              <a:spcAft>
                <a:spcPct val="0"/>
              </a:spcAft>
            </a:pPr>
            <a:r>
              <a:rPr lang="en-US" sz="1200" dirty="0">
                <a:solidFill>
                  <a:srgbClr val="000000"/>
                </a:solidFill>
                <a:latin typeface="Chronicle Display Black"/>
                <a:ea typeface="Open Sans bold" panose="020B0806030504020204" pitchFamily="34" charset="0"/>
                <a:cs typeface="Open Sans bold" panose="020B0806030504020204" pitchFamily="34" charset="0"/>
              </a:rPr>
              <a:t>Deloitte Digital</a:t>
            </a:r>
          </a:p>
          <a:p>
            <a:pPr lvl="0" defTabSz="957998" fontAlgn="base">
              <a:lnSpc>
                <a:spcPct val="110000"/>
              </a:lnSpc>
              <a:spcBef>
                <a:spcPct val="10000"/>
              </a:spcBef>
              <a:spcAft>
                <a:spcPct val="0"/>
              </a:spcAft>
            </a:pP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+33 6 26 60 83 95 </a:t>
            </a:r>
            <a:b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br>
            <a:r>
              <a:rPr lang="en-US"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jdelouvee@deloitte.fr</a:t>
            </a:r>
          </a:p>
        </p:txBody>
      </p:sp>
      <p:grpSp>
        <p:nvGrpSpPr>
          <p:cNvPr id="64" name="Group 63"/>
          <p:cNvGrpSpPr/>
          <p:nvPr/>
        </p:nvGrpSpPr>
        <p:grpSpPr>
          <a:xfrm>
            <a:off x="6195600" y="5644586"/>
            <a:ext cx="5527619" cy="1563146"/>
            <a:chOff x="6195600" y="5644586"/>
            <a:chExt cx="5527619" cy="1563146"/>
          </a:xfrm>
        </p:grpSpPr>
        <p:cxnSp>
          <p:nvCxnSpPr>
            <p:cNvPr id="68" name="Straight Connector 67">
              <a:extLst>
                <a:ext uri="{FF2B5EF4-FFF2-40B4-BE49-F238E27FC236}">
                  <a16:creationId xmlns:a16="http://schemas.microsoft.com/office/drawing/2014/main" id="{296F3DE4-E136-4031-A795-F2C2AA077709}"/>
                </a:ext>
              </a:extLst>
            </p:cNvPr>
            <p:cNvCxnSpPr/>
            <p:nvPr/>
          </p:nvCxnSpPr>
          <p:spPr>
            <a:xfrm>
              <a:off x="6626462" y="5887101"/>
              <a:ext cx="1620218" cy="0"/>
            </a:xfrm>
            <a:prstGeom prst="line">
              <a:avLst/>
            </a:prstGeom>
            <a:ln w="57150" cmpd="sng">
              <a:solidFill>
                <a:srgbClr val="3EFAC5"/>
              </a:solidFill>
            </a:ln>
          </p:spPr>
          <p:style>
            <a:lnRef idx="2">
              <a:schemeClr val="accent1"/>
            </a:lnRef>
            <a:fillRef idx="0">
              <a:schemeClr val="accent1"/>
            </a:fillRef>
            <a:effectRef idx="1">
              <a:schemeClr val="accent1"/>
            </a:effectRef>
            <a:fontRef idx="minor">
              <a:schemeClr val="tx1"/>
            </a:fontRef>
          </p:style>
        </p:cxnSp>
        <p:sp>
          <p:nvSpPr>
            <p:cNvPr id="69" name="Text Placeholder 15"/>
            <p:cNvSpPr txBox="1">
              <a:spLocks/>
            </p:cNvSpPr>
            <p:nvPr/>
          </p:nvSpPr>
          <p:spPr>
            <a:xfrm>
              <a:off x="6600000" y="6010183"/>
              <a:ext cx="2351444" cy="1197549"/>
            </a:xfrm>
            <a:prstGeom prst="rect">
              <a:avLst/>
            </a:prstGeom>
          </p:spPr>
          <p:txBody>
            <a:bodyPr vert="horz" lIns="0" tIns="0" rIns="0" bIns="0" rtlCol="0" anchor="t">
              <a:noAutofit/>
            </a:bodyPr>
            <a:lstStyle>
              <a:lvl1pPr marL="0" indent="0" algn="l" defTabSz="990571" rtl="0" eaLnBrk="1" latinLnBrk="0" hangingPunct="1">
                <a:spcBef>
                  <a:spcPts val="0"/>
                </a:spcBef>
                <a:spcAft>
                  <a:spcPts val="300"/>
                </a:spcAft>
                <a:buSzPct val="100000"/>
                <a:buFont typeface="Arial" panose="020B0604020202020204" pitchFamily="34" charset="0"/>
                <a:buNone/>
                <a:defRPr sz="900" b="0" kern="1200" baseline="0">
                  <a:solidFill>
                    <a:schemeClr val="tx1"/>
                  </a:solidFill>
                  <a:latin typeface="+mn-lt"/>
                  <a:ea typeface="+mn-ea"/>
                  <a:cs typeface="+mn-cs"/>
                </a:defRPr>
              </a:lvl1pPr>
              <a:lvl2pPr marL="0" indent="0" algn="l" defTabSz="990571" rtl="0" eaLnBrk="1" latinLnBrk="0" hangingPunct="1">
                <a:spcBef>
                  <a:spcPts val="0"/>
                </a:spcBef>
                <a:spcAft>
                  <a:spcPts val="300"/>
                </a:spcAft>
                <a:buClrTx/>
                <a:buSzPct val="100000"/>
                <a:buFont typeface="Arial"/>
                <a:buNone/>
                <a:defRPr lang="en-US" sz="900" b="1" kern="1200">
                  <a:solidFill>
                    <a:schemeClr val="tx1"/>
                  </a:solidFill>
                  <a:latin typeface="+mn-lt"/>
                  <a:ea typeface="+mn-ea"/>
                  <a:cs typeface="+mn-cs"/>
                </a:defRPr>
              </a:lvl2pPr>
              <a:lvl3pPr marL="191094" indent="-191094" algn="l" defTabSz="990571" rtl="0" eaLnBrk="1" latinLnBrk="0" hangingPunct="1">
                <a:spcBef>
                  <a:spcPts val="0"/>
                </a:spcBef>
                <a:spcAft>
                  <a:spcPts val="300"/>
                </a:spcAft>
                <a:buClrTx/>
                <a:buSzPct val="100000"/>
                <a:buFont typeface="Arial" panose="020B0604020202020204" pitchFamily="34" charset="0"/>
                <a:buChar char="•"/>
                <a:defRPr lang="en-US" sz="900" kern="1200">
                  <a:solidFill>
                    <a:schemeClr val="tx1"/>
                  </a:solidFill>
                  <a:latin typeface="+mn-lt"/>
                  <a:ea typeface="+mn-ea"/>
                  <a:cs typeface="+mn-cs"/>
                </a:defRPr>
              </a:lvl3pPr>
              <a:lvl4pPr marL="386089" indent="-191094" algn="l" defTabSz="990571"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82" indent="-191094" algn="l" defTabSz="865030"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Administrator</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Force.com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Developer</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87313" lvl="2" indent="-87313" defTabSz="914400" fontAlgn="base">
                <a:lnSpc>
                  <a:spcPts val="1500"/>
                </a:lnSpc>
                <a:spcBef>
                  <a:spcPct val="0"/>
                </a:spcBef>
                <a:spcAft>
                  <a:spcPct val="0"/>
                </a:spcAft>
                <a:buSzPct val="50000"/>
                <a:defRPr/>
              </a:pP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 Platform App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Builder</a:t>
              </a:r>
              <a:endPar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4" name="Text Box 11"/>
            <p:cNvSpPr txBox="1">
              <a:spLocks noChangeArrowheads="1"/>
            </p:cNvSpPr>
            <p:nvPr/>
          </p:nvSpPr>
          <p:spPr bwMode="auto">
            <a:xfrm>
              <a:off x="6639161" y="5764111"/>
              <a:ext cx="2312283" cy="226043"/>
            </a:xfrm>
            <a:prstGeom prst="rect">
              <a:avLst/>
            </a:prstGeom>
            <a:noFill/>
            <a:ln w="3175" algn="ctr">
              <a:noFill/>
              <a:miter lim="800000"/>
              <a:headEnd/>
              <a:tailEnd/>
            </a:ln>
          </p:spPr>
          <p:txBody>
            <a:bodyPr lIns="0" tIns="0" rIns="0" bIns="0"/>
            <a:lstStyle/>
            <a:p>
              <a:pPr fontAlgn="base">
                <a:lnSpc>
                  <a:spcPts val="1300"/>
                </a:lnSpc>
                <a:spcBef>
                  <a:spcPct val="0"/>
                </a:spcBef>
                <a:spcAft>
                  <a:spcPct val="0"/>
                </a:spcAft>
              </a:pPr>
              <a:r>
                <a:rPr lang="fr-FR" sz="1050" spc="300" dirty="0">
                  <a:solidFill>
                    <a:srgbClr val="000000"/>
                  </a:solidFill>
                  <a:ea typeface="Open Sans bold" panose="020B0806030504020204" pitchFamily="34" charset="0"/>
                  <a:cs typeface="Open Sans bold" panose="020B0806030504020204" pitchFamily="34" charset="0"/>
                </a:rPr>
                <a:t>CERTIFICATIONS</a:t>
              </a:r>
            </a:p>
          </p:txBody>
        </p:sp>
        <p:sp>
          <p:nvSpPr>
            <p:cNvPr id="115" name="Oval 114"/>
            <p:cNvSpPr/>
            <p:nvPr/>
          </p:nvSpPr>
          <p:spPr>
            <a:xfrm>
              <a:off x="6195600" y="5644586"/>
              <a:ext cx="365598" cy="3655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Freeform 22"/>
            <p:cNvSpPr>
              <a:spLocks noEditPoints="1"/>
            </p:cNvSpPr>
            <p:nvPr/>
          </p:nvSpPr>
          <p:spPr bwMode="auto">
            <a:xfrm>
              <a:off x="6237319" y="5677393"/>
              <a:ext cx="299445" cy="300355"/>
            </a:xfrm>
            <a:custGeom>
              <a:avLst/>
              <a:gdLst>
                <a:gd name="T0" fmla="*/ 312 w 658"/>
                <a:gd name="T1" fmla="*/ 659 h 659"/>
                <a:gd name="T2" fmla="*/ 262 w 658"/>
                <a:gd name="T3" fmla="*/ 652 h 659"/>
                <a:gd name="T4" fmla="*/ 202 w 658"/>
                <a:gd name="T5" fmla="*/ 634 h 659"/>
                <a:gd name="T6" fmla="*/ 120 w 658"/>
                <a:gd name="T7" fmla="*/ 584 h 659"/>
                <a:gd name="T8" fmla="*/ 56 w 658"/>
                <a:gd name="T9" fmla="*/ 514 h 659"/>
                <a:gd name="T10" fmla="*/ 15 w 658"/>
                <a:gd name="T11" fmla="*/ 428 h 659"/>
                <a:gd name="T12" fmla="*/ 4 w 658"/>
                <a:gd name="T13" fmla="*/ 380 h 659"/>
                <a:gd name="T14" fmla="*/ 0 w 658"/>
                <a:gd name="T15" fmla="*/ 330 h 659"/>
                <a:gd name="T16" fmla="*/ 1 w 658"/>
                <a:gd name="T17" fmla="*/ 296 h 659"/>
                <a:gd name="T18" fmla="*/ 11 w 658"/>
                <a:gd name="T19" fmla="*/ 248 h 659"/>
                <a:gd name="T20" fmla="*/ 40 w 658"/>
                <a:gd name="T21" fmla="*/ 174 h 659"/>
                <a:gd name="T22" fmla="*/ 97 w 658"/>
                <a:gd name="T23" fmla="*/ 97 h 659"/>
                <a:gd name="T24" fmla="*/ 172 w 658"/>
                <a:gd name="T25" fmla="*/ 41 h 659"/>
                <a:gd name="T26" fmla="*/ 247 w 658"/>
                <a:gd name="T27" fmla="*/ 11 h 659"/>
                <a:gd name="T28" fmla="*/ 296 w 658"/>
                <a:gd name="T29" fmla="*/ 3 h 659"/>
                <a:gd name="T30" fmla="*/ 329 w 658"/>
                <a:gd name="T31" fmla="*/ 0 h 659"/>
                <a:gd name="T32" fmla="*/ 379 w 658"/>
                <a:gd name="T33" fmla="*/ 5 h 659"/>
                <a:gd name="T34" fmla="*/ 426 w 658"/>
                <a:gd name="T35" fmla="*/ 15 h 659"/>
                <a:gd name="T36" fmla="*/ 513 w 658"/>
                <a:gd name="T37" fmla="*/ 57 h 659"/>
                <a:gd name="T38" fmla="*/ 583 w 658"/>
                <a:gd name="T39" fmla="*/ 121 h 659"/>
                <a:gd name="T40" fmla="*/ 632 w 658"/>
                <a:gd name="T41" fmla="*/ 202 h 659"/>
                <a:gd name="T42" fmla="*/ 652 w 658"/>
                <a:gd name="T43" fmla="*/ 264 h 659"/>
                <a:gd name="T44" fmla="*/ 657 w 658"/>
                <a:gd name="T45" fmla="*/ 314 h 659"/>
                <a:gd name="T46" fmla="*/ 657 w 658"/>
                <a:gd name="T47" fmla="*/ 347 h 659"/>
                <a:gd name="T48" fmla="*/ 652 w 658"/>
                <a:gd name="T49" fmla="*/ 396 h 659"/>
                <a:gd name="T50" fmla="*/ 632 w 658"/>
                <a:gd name="T51" fmla="*/ 457 h 659"/>
                <a:gd name="T52" fmla="*/ 583 w 658"/>
                <a:gd name="T53" fmla="*/ 539 h 659"/>
                <a:gd name="T54" fmla="*/ 513 w 658"/>
                <a:gd name="T55" fmla="*/ 603 h 659"/>
                <a:gd name="T56" fmla="*/ 426 w 658"/>
                <a:gd name="T57" fmla="*/ 644 h 659"/>
                <a:gd name="T58" fmla="*/ 379 w 658"/>
                <a:gd name="T59" fmla="*/ 655 h 659"/>
                <a:gd name="T60" fmla="*/ 329 w 658"/>
                <a:gd name="T61" fmla="*/ 659 h 659"/>
                <a:gd name="T62" fmla="*/ 329 w 658"/>
                <a:gd name="T63" fmla="*/ 38 h 659"/>
                <a:gd name="T64" fmla="*/ 242 w 658"/>
                <a:gd name="T65" fmla="*/ 52 h 659"/>
                <a:gd name="T66" fmla="*/ 167 w 658"/>
                <a:gd name="T67" fmla="*/ 89 h 659"/>
                <a:gd name="T68" fmla="*/ 105 w 658"/>
                <a:gd name="T69" fmla="*/ 144 h 659"/>
                <a:gd name="T70" fmla="*/ 60 w 658"/>
                <a:gd name="T71" fmla="*/ 217 h 659"/>
                <a:gd name="T72" fmla="*/ 39 w 658"/>
                <a:gd name="T73" fmla="*/ 300 h 659"/>
                <a:gd name="T74" fmla="*/ 39 w 658"/>
                <a:gd name="T75" fmla="*/ 359 h 659"/>
                <a:gd name="T76" fmla="*/ 60 w 658"/>
                <a:gd name="T77" fmla="*/ 444 h 659"/>
                <a:gd name="T78" fmla="*/ 105 w 658"/>
                <a:gd name="T79" fmla="*/ 515 h 659"/>
                <a:gd name="T80" fmla="*/ 167 w 658"/>
                <a:gd name="T81" fmla="*/ 572 h 659"/>
                <a:gd name="T82" fmla="*/ 242 w 658"/>
                <a:gd name="T83" fmla="*/ 608 h 659"/>
                <a:gd name="T84" fmla="*/ 329 w 658"/>
                <a:gd name="T85" fmla="*/ 621 h 659"/>
                <a:gd name="T86" fmla="*/ 387 w 658"/>
                <a:gd name="T87" fmla="*/ 616 h 659"/>
                <a:gd name="T88" fmla="*/ 468 w 658"/>
                <a:gd name="T89" fmla="*/ 586 h 659"/>
                <a:gd name="T90" fmla="*/ 535 w 658"/>
                <a:gd name="T91" fmla="*/ 535 h 659"/>
                <a:gd name="T92" fmla="*/ 585 w 658"/>
                <a:gd name="T93" fmla="*/ 468 h 659"/>
                <a:gd name="T94" fmla="*/ 614 w 658"/>
                <a:gd name="T95" fmla="*/ 389 h 659"/>
                <a:gd name="T96" fmla="*/ 621 w 658"/>
                <a:gd name="T97" fmla="*/ 330 h 659"/>
                <a:gd name="T98" fmla="*/ 607 w 658"/>
                <a:gd name="T99" fmla="*/ 244 h 659"/>
                <a:gd name="T100" fmla="*/ 570 w 658"/>
                <a:gd name="T101" fmla="*/ 167 h 659"/>
                <a:gd name="T102" fmla="*/ 515 w 658"/>
                <a:gd name="T103" fmla="*/ 105 h 659"/>
                <a:gd name="T104" fmla="*/ 442 w 658"/>
                <a:gd name="T105" fmla="*/ 62 h 659"/>
                <a:gd name="T106" fmla="*/ 359 w 658"/>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8" h="659">
                  <a:moveTo>
                    <a:pt x="329" y="659"/>
                  </a:moveTo>
                  <a:lnTo>
                    <a:pt x="329" y="659"/>
                  </a:lnTo>
                  <a:lnTo>
                    <a:pt x="312" y="659"/>
                  </a:lnTo>
                  <a:lnTo>
                    <a:pt x="296" y="658"/>
                  </a:lnTo>
                  <a:lnTo>
                    <a:pt x="279" y="655"/>
                  </a:lnTo>
                  <a:lnTo>
                    <a:pt x="262" y="652"/>
                  </a:lnTo>
                  <a:lnTo>
                    <a:pt x="247" y="648"/>
                  </a:lnTo>
                  <a:lnTo>
                    <a:pt x="231" y="644"/>
                  </a:lnTo>
                  <a:lnTo>
                    <a:pt x="202" y="634"/>
                  </a:lnTo>
                  <a:lnTo>
                    <a:pt x="172" y="619"/>
                  </a:lnTo>
                  <a:lnTo>
                    <a:pt x="145" y="603"/>
                  </a:lnTo>
                  <a:lnTo>
                    <a:pt x="120" y="584"/>
                  </a:lnTo>
                  <a:lnTo>
                    <a:pt x="97" y="562"/>
                  </a:lnTo>
                  <a:lnTo>
                    <a:pt x="75" y="539"/>
                  </a:lnTo>
                  <a:lnTo>
                    <a:pt x="56" y="514"/>
                  </a:lnTo>
                  <a:lnTo>
                    <a:pt x="40" y="487"/>
                  </a:lnTo>
                  <a:lnTo>
                    <a:pt x="25"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5" y="202"/>
                  </a:lnTo>
                  <a:lnTo>
                    <a:pt x="40" y="174"/>
                  </a:lnTo>
                  <a:lnTo>
                    <a:pt x="56" y="146"/>
                  </a:lnTo>
                  <a:lnTo>
                    <a:pt x="75" y="121"/>
                  </a:lnTo>
                  <a:lnTo>
                    <a:pt x="97" y="97"/>
                  </a:lnTo>
                  <a:lnTo>
                    <a:pt x="120" y="76"/>
                  </a:lnTo>
                  <a:lnTo>
                    <a:pt x="145" y="57"/>
                  </a:lnTo>
                  <a:lnTo>
                    <a:pt x="172" y="41"/>
                  </a:lnTo>
                  <a:lnTo>
                    <a:pt x="202" y="27"/>
                  </a:lnTo>
                  <a:lnTo>
                    <a:pt x="231" y="15"/>
                  </a:lnTo>
                  <a:lnTo>
                    <a:pt x="247" y="11"/>
                  </a:lnTo>
                  <a:lnTo>
                    <a:pt x="262" y="7"/>
                  </a:lnTo>
                  <a:lnTo>
                    <a:pt x="279"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3" y="57"/>
                  </a:lnTo>
                  <a:lnTo>
                    <a:pt x="538" y="76"/>
                  </a:lnTo>
                  <a:lnTo>
                    <a:pt x="562" y="97"/>
                  </a:lnTo>
                  <a:lnTo>
                    <a:pt x="583" y="121"/>
                  </a:lnTo>
                  <a:lnTo>
                    <a:pt x="602" y="146"/>
                  </a:lnTo>
                  <a:lnTo>
                    <a:pt x="618" y="174"/>
                  </a:lnTo>
                  <a:lnTo>
                    <a:pt x="632" y="202"/>
                  </a:lnTo>
                  <a:lnTo>
                    <a:pt x="644" y="233"/>
                  </a:lnTo>
                  <a:lnTo>
                    <a:pt x="648" y="248"/>
                  </a:lnTo>
                  <a:lnTo>
                    <a:pt x="652" y="264"/>
                  </a:lnTo>
                  <a:lnTo>
                    <a:pt x="654" y="280"/>
                  </a:lnTo>
                  <a:lnTo>
                    <a:pt x="656" y="296"/>
                  </a:lnTo>
                  <a:lnTo>
                    <a:pt x="657" y="314"/>
                  </a:lnTo>
                  <a:lnTo>
                    <a:pt x="658" y="330"/>
                  </a:lnTo>
                  <a:lnTo>
                    <a:pt x="658" y="330"/>
                  </a:lnTo>
                  <a:lnTo>
                    <a:pt x="657" y="347"/>
                  </a:lnTo>
                  <a:lnTo>
                    <a:pt x="656" y="363"/>
                  </a:lnTo>
                  <a:lnTo>
                    <a:pt x="654" y="380"/>
                  </a:lnTo>
                  <a:lnTo>
                    <a:pt x="652" y="396"/>
                  </a:lnTo>
                  <a:lnTo>
                    <a:pt x="648" y="412"/>
                  </a:lnTo>
                  <a:lnTo>
                    <a:pt x="644" y="428"/>
                  </a:lnTo>
                  <a:lnTo>
                    <a:pt x="632" y="457"/>
                  </a:lnTo>
                  <a:lnTo>
                    <a:pt x="618" y="487"/>
                  </a:lnTo>
                  <a:lnTo>
                    <a:pt x="602" y="514"/>
                  </a:lnTo>
                  <a:lnTo>
                    <a:pt x="583" y="539"/>
                  </a:lnTo>
                  <a:lnTo>
                    <a:pt x="562" y="562"/>
                  </a:lnTo>
                  <a:lnTo>
                    <a:pt x="538" y="584"/>
                  </a:lnTo>
                  <a:lnTo>
                    <a:pt x="513"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300" y="41"/>
                  </a:lnTo>
                  <a:lnTo>
                    <a:pt x="270" y="45"/>
                  </a:lnTo>
                  <a:lnTo>
                    <a:pt x="242" y="52"/>
                  </a:lnTo>
                  <a:lnTo>
                    <a:pt x="215" y="62"/>
                  </a:lnTo>
                  <a:lnTo>
                    <a:pt x="191" y="74"/>
                  </a:lnTo>
                  <a:lnTo>
                    <a:pt x="167" y="89"/>
                  </a:lnTo>
                  <a:lnTo>
                    <a:pt x="144" y="105"/>
                  </a:lnTo>
                  <a:lnTo>
                    <a:pt x="124" y="124"/>
                  </a:lnTo>
                  <a:lnTo>
                    <a:pt x="105" y="144"/>
                  </a:lnTo>
                  <a:lnTo>
                    <a:pt x="87" y="167"/>
                  </a:lnTo>
                  <a:lnTo>
                    <a:pt x="73" y="191"/>
                  </a:lnTo>
                  <a:lnTo>
                    <a:pt x="60" y="217"/>
                  </a:lnTo>
                  <a:lnTo>
                    <a:pt x="51" y="244"/>
                  </a:lnTo>
                  <a:lnTo>
                    <a:pt x="43" y="272"/>
                  </a:lnTo>
                  <a:lnTo>
                    <a:pt x="39" y="300"/>
                  </a:lnTo>
                  <a:lnTo>
                    <a:pt x="38" y="330"/>
                  </a:lnTo>
                  <a:lnTo>
                    <a:pt x="38" y="330"/>
                  </a:lnTo>
                  <a:lnTo>
                    <a:pt x="39" y="359"/>
                  </a:lnTo>
                  <a:lnTo>
                    <a:pt x="43" y="389"/>
                  </a:lnTo>
                  <a:lnTo>
                    <a:pt x="51" y="417"/>
                  </a:lnTo>
                  <a:lnTo>
                    <a:pt x="60" y="444"/>
                  </a:lnTo>
                  <a:lnTo>
                    <a:pt x="73" y="468"/>
                  </a:lnTo>
                  <a:lnTo>
                    <a:pt x="87" y="492"/>
                  </a:lnTo>
                  <a:lnTo>
                    <a:pt x="105" y="515"/>
                  </a:lnTo>
                  <a:lnTo>
                    <a:pt x="124" y="535"/>
                  </a:lnTo>
                  <a:lnTo>
                    <a:pt x="144" y="554"/>
                  </a:lnTo>
                  <a:lnTo>
                    <a:pt x="167" y="572"/>
                  </a:lnTo>
                  <a:lnTo>
                    <a:pt x="191" y="586"/>
                  </a:lnTo>
                  <a:lnTo>
                    <a:pt x="215" y="599"/>
                  </a:lnTo>
                  <a:lnTo>
                    <a:pt x="242" y="608"/>
                  </a:lnTo>
                  <a:lnTo>
                    <a:pt x="270" y="616"/>
                  </a:lnTo>
                  <a:lnTo>
                    <a:pt x="300" y="620"/>
                  </a:lnTo>
                  <a:lnTo>
                    <a:pt x="329" y="621"/>
                  </a:lnTo>
                  <a:lnTo>
                    <a:pt x="329" y="621"/>
                  </a:lnTo>
                  <a:lnTo>
                    <a:pt x="359" y="620"/>
                  </a:lnTo>
                  <a:lnTo>
                    <a:pt x="387" y="616"/>
                  </a:lnTo>
                  <a:lnTo>
                    <a:pt x="415" y="608"/>
                  </a:lnTo>
                  <a:lnTo>
                    <a:pt x="442" y="599"/>
                  </a:lnTo>
                  <a:lnTo>
                    <a:pt x="468" y="586"/>
                  </a:lnTo>
                  <a:lnTo>
                    <a:pt x="492" y="572"/>
                  </a:lnTo>
                  <a:lnTo>
                    <a:pt x="515" y="554"/>
                  </a:lnTo>
                  <a:lnTo>
                    <a:pt x="535" y="535"/>
                  </a:lnTo>
                  <a:lnTo>
                    <a:pt x="554" y="515"/>
                  </a:lnTo>
                  <a:lnTo>
                    <a:pt x="570" y="492"/>
                  </a:lnTo>
                  <a:lnTo>
                    <a:pt x="585" y="468"/>
                  </a:lnTo>
                  <a:lnTo>
                    <a:pt x="597" y="444"/>
                  </a:lnTo>
                  <a:lnTo>
                    <a:pt x="607" y="417"/>
                  </a:lnTo>
                  <a:lnTo>
                    <a:pt x="614" y="389"/>
                  </a:lnTo>
                  <a:lnTo>
                    <a:pt x="618" y="359"/>
                  </a:lnTo>
                  <a:lnTo>
                    <a:pt x="621" y="330"/>
                  </a:lnTo>
                  <a:lnTo>
                    <a:pt x="621" y="330"/>
                  </a:lnTo>
                  <a:lnTo>
                    <a:pt x="618" y="300"/>
                  </a:lnTo>
                  <a:lnTo>
                    <a:pt x="614" y="272"/>
                  </a:lnTo>
                  <a:lnTo>
                    <a:pt x="607" y="244"/>
                  </a:lnTo>
                  <a:lnTo>
                    <a:pt x="597" y="217"/>
                  </a:lnTo>
                  <a:lnTo>
                    <a:pt x="585" y="191"/>
                  </a:lnTo>
                  <a:lnTo>
                    <a:pt x="570" y="167"/>
                  </a:lnTo>
                  <a:lnTo>
                    <a:pt x="554" y="144"/>
                  </a:lnTo>
                  <a:lnTo>
                    <a:pt x="535" y="124"/>
                  </a:lnTo>
                  <a:lnTo>
                    <a:pt x="515" y="105"/>
                  </a:lnTo>
                  <a:lnTo>
                    <a:pt x="492" y="89"/>
                  </a:lnTo>
                  <a:lnTo>
                    <a:pt x="468" y="74"/>
                  </a:lnTo>
                  <a:lnTo>
                    <a:pt x="442" y="62"/>
                  </a:lnTo>
                  <a:lnTo>
                    <a:pt x="415" y="52"/>
                  </a:lnTo>
                  <a:lnTo>
                    <a:pt x="387" y="45"/>
                  </a:lnTo>
                  <a:lnTo>
                    <a:pt x="359" y="41"/>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17" name="Group 116"/>
            <p:cNvGrpSpPr/>
            <p:nvPr/>
          </p:nvGrpSpPr>
          <p:grpSpPr>
            <a:xfrm>
              <a:off x="6312601" y="5737788"/>
              <a:ext cx="148880" cy="179559"/>
              <a:chOff x="6869113" y="2635256"/>
              <a:chExt cx="207963" cy="250819"/>
            </a:xfrm>
          </p:grpSpPr>
          <p:sp>
            <p:nvSpPr>
              <p:cNvPr id="122" name="Freeform 142"/>
              <p:cNvSpPr>
                <a:spLocks/>
              </p:cNvSpPr>
              <p:nvPr/>
            </p:nvSpPr>
            <p:spPr bwMode="auto">
              <a:xfrm>
                <a:off x="6869113" y="2790825"/>
                <a:ext cx="95250" cy="95250"/>
              </a:xfrm>
              <a:custGeom>
                <a:avLst/>
                <a:gdLst>
                  <a:gd name="T0" fmla="*/ 5 w 121"/>
                  <a:gd name="T1" fmla="*/ 83 h 119"/>
                  <a:gd name="T2" fmla="*/ 52 w 121"/>
                  <a:gd name="T3" fmla="*/ 76 h 119"/>
                  <a:gd name="T4" fmla="*/ 76 w 121"/>
                  <a:gd name="T5" fmla="*/ 116 h 119"/>
                  <a:gd name="T6" fmla="*/ 76 w 121"/>
                  <a:gd name="T7" fmla="*/ 116 h 119"/>
                  <a:gd name="T8" fmla="*/ 78 w 121"/>
                  <a:gd name="T9" fmla="*/ 118 h 119"/>
                  <a:gd name="T10" fmla="*/ 80 w 121"/>
                  <a:gd name="T11" fmla="*/ 119 h 119"/>
                  <a:gd name="T12" fmla="*/ 80 w 121"/>
                  <a:gd name="T13" fmla="*/ 119 h 119"/>
                  <a:gd name="T14" fmla="*/ 80 w 121"/>
                  <a:gd name="T15" fmla="*/ 119 h 119"/>
                  <a:gd name="T16" fmla="*/ 80 w 121"/>
                  <a:gd name="T17" fmla="*/ 119 h 119"/>
                  <a:gd name="T18" fmla="*/ 83 w 121"/>
                  <a:gd name="T19" fmla="*/ 118 h 119"/>
                  <a:gd name="T20" fmla="*/ 86 w 121"/>
                  <a:gd name="T21" fmla="*/ 115 h 119"/>
                  <a:gd name="T22" fmla="*/ 121 w 121"/>
                  <a:gd name="T23" fmla="*/ 42 h 119"/>
                  <a:gd name="T24" fmla="*/ 121 w 121"/>
                  <a:gd name="T25" fmla="*/ 42 h 119"/>
                  <a:gd name="T26" fmla="*/ 107 w 121"/>
                  <a:gd name="T27" fmla="*/ 41 h 119"/>
                  <a:gd name="T28" fmla="*/ 95 w 121"/>
                  <a:gd name="T29" fmla="*/ 38 h 119"/>
                  <a:gd name="T30" fmla="*/ 84 w 121"/>
                  <a:gd name="T31" fmla="*/ 34 h 119"/>
                  <a:gd name="T32" fmla="*/ 74 w 121"/>
                  <a:gd name="T33" fmla="*/ 29 h 119"/>
                  <a:gd name="T34" fmla="*/ 63 w 121"/>
                  <a:gd name="T35" fmla="*/ 22 h 119"/>
                  <a:gd name="T36" fmla="*/ 54 w 121"/>
                  <a:gd name="T37" fmla="*/ 16 h 119"/>
                  <a:gd name="T38" fmla="*/ 44 w 121"/>
                  <a:gd name="T39" fmla="*/ 8 h 119"/>
                  <a:gd name="T40" fmla="*/ 36 w 121"/>
                  <a:gd name="T41" fmla="*/ 0 h 119"/>
                  <a:gd name="T42" fmla="*/ 0 w 121"/>
                  <a:gd name="T43" fmla="*/ 75 h 119"/>
                  <a:gd name="T44" fmla="*/ 0 w 121"/>
                  <a:gd name="T45" fmla="*/ 75 h 119"/>
                  <a:gd name="T46" fmla="*/ 0 w 121"/>
                  <a:gd name="T47" fmla="*/ 77 h 119"/>
                  <a:gd name="T48" fmla="*/ 1 w 121"/>
                  <a:gd name="T49" fmla="*/ 80 h 119"/>
                  <a:gd name="T50" fmla="*/ 1 w 121"/>
                  <a:gd name="T51" fmla="*/ 80 h 119"/>
                  <a:gd name="T52" fmla="*/ 3 w 121"/>
                  <a:gd name="T53" fmla="*/ 83 h 119"/>
                  <a:gd name="T54" fmla="*/ 5 w 121"/>
                  <a:gd name="T55" fmla="*/ 83 h 119"/>
                  <a:gd name="T56" fmla="*/ 5 w 121"/>
                  <a:gd name="T57" fmla="*/ 8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1" h="119">
                    <a:moveTo>
                      <a:pt x="5" y="83"/>
                    </a:moveTo>
                    <a:lnTo>
                      <a:pt x="52" y="76"/>
                    </a:lnTo>
                    <a:lnTo>
                      <a:pt x="76" y="116"/>
                    </a:lnTo>
                    <a:lnTo>
                      <a:pt x="76" y="116"/>
                    </a:lnTo>
                    <a:lnTo>
                      <a:pt x="78" y="118"/>
                    </a:lnTo>
                    <a:lnTo>
                      <a:pt x="80" y="119"/>
                    </a:lnTo>
                    <a:lnTo>
                      <a:pt x="80" y="119"/>
                    </a:lnTo>
                    <a:lnTo>
                      <a:pt x="80" y="119"/>
                    </a:lnTo>
                    <a:lnTo>
                      <a:pt x="80" y="119"/>
                    </a:lnTo>
                    <a:lnTo>
                      <a:pt x="83" y="118"/>
                    </a:lnTo>
                    <a:lnTo>
                      <a:pt x="86" y="115"/>
                    </a:lnTo>
                    <a:lnTo>
                      <a:pt x="121" y="42"/>
                    </a:lnTo>
                    <a:lnTo>
                      <a:pt x="121" y="42"/>
                    </a:lnTo>
                    <a:lnTo>
                      <a:pt x="107" y="41"/>
                    </a:lnTo>
                    <a:lnTo>
                      <a:pt x="95" y="38"/>
                    </a:lnTo>
                    <a:lnTo>
                      <a:pt x="84" y="34"/>
                    </a:lnTo>
                    <a:lnTo>
                      <a:pt x="74" y="29"/>
                    </a:lnTo>
                    <a:lnTo>
                      <a:pt x="63" y="22"/>
                    </a:lnTo>
                    <a:lnTo>
                      <a:pt x="54" y="16"/>
                    </a:lnTo>
                    <a:lnTo>
                      <a:pt x="44" y="8"/>
                    </a:lnTo>
                    <a:lnTo>
                      <a:pt x="36" y="0"/>
                    </a:lnTo>
                    <a:lnTo>
                      <a:pt x="0" y="75"/>
                    </a:lnTo>
                    <a:lnTo>
                      <a:pt x="0" y="75"/>
                    </a:lnTo>
                    <a:lnTo>
                      <a:pt x="0" y="77"/>
                    </a:lnTo>
                    <a:lnTo>
                      <a:pt x="1" y="80"/>
                    </a:lnTo>
                    <a:lnTo>
                      <a:pt x="1" y="80"/>
                    </a:lnTo>
                    <a:lnTo>
                      <a:pt x="3" y="83"/>
                    </a:lnTo>
                    <a:lnTo>
                      <a:pt x="5" y="83"/>
                    </a:lnTo>
                    <a:lnTo>
                      <a:pt x="5"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43"/>
              <p:cNvSpPr>
                <a:spLocks/>
              </p:cNvSpPr>
              <p:nvPr/>
            </p:nvSpPr>
            <p:spPr bwMode="auto">
              <a:xfrm>
                <a:off x="6980238" y="2790825"/>
                <a:ext cx="96838" cy="95250"/>
              </a:xfrm>
              <a:custGeom>
                <a:avLst/>
                <a:gdLst>
                  <a:gd name="T0" fmla="*/ 0 w 121"/>
                  <a:gd name="T1" fmla="*/ 42 h 119"/>
                  <a:gd name="T2" fmla="*/ 35 w 121"/>
                  <a:gd name="T3" fmla="*/ 115 h 119"/>
                  <a:gd name="T4" fmla="*/ 35 w 121"/>
                  <a:gd name="T5" fmla="*/ 115 h 119"/>
                  <a:gd name="T6" fmla="*/ 36 w 121"/>
                  <a:gd name="T7" fmla="*/ 118 h 119"/>
                  <a:gd name="T8" fmla="*/ 39 w 121"/>
                  <a:gd name="T9" fmla="*/ 119 h 119"/>
                  <a:gd name="T10" fmla="*/ 39 w 121"/>
                  <a:gd name="T11" fmla="*/ 119 h 119"/>
                  <a:gd name="T12" fmla="*/ 39 w 121"/>
                  <a:gd name="T13" fmla="*/ 119 h 119"/>
                  <a:gd name="T14" fmla="*/ 39 w 121"/>
                  <a:gd name="T15" fmla="*/ 119 h 119"/>
                  <a:gd name="T16" fmla="*/ 42 w 121"/>
                  <a:gd name="T17" fmla="*/ 118 h 119"/>
                  <a:gd name="T18" fmla="*/ 44 w 121"/>
                  <a:gd name="T19" fmla="*/ 116 h 119"/>
                  <a:gd name="T20" fmla="*/ 68 w 121"/>
                  <a:gd name="T21" fmla="*/ 76 h 119"/>
                  <a:gd name="T22" fmla="*/ 114 w 121"/>
                  <a:gd name="T23" fmla="*/ 83 h 119"/>
                  <a:gd name="T24" fmla="*/ 114 w 121"/>
                  <a:gd name="T25" fmla="*/ 83 h 119"/>
                  <a:gd name="T26" fmla="*/ 115 w 121"/>
                  <a:gd name="T27" fmla="*/ 83 h 119"/>
                  <a:gd name="T28" fmla="*/ 115 w 121"/>
                  <a:gd name="T29" fmla="*/ 83 h 119"/>
                  <a:gd name="T30" fmla="*/ 115 w 121"/>
                  <a:gd name="T31" fmla="*/ 83 h 119"/>
                  <a:gd name="T32" fmla="*/ 115 w 121"/>
                  <a:gd name="T33" fmla="*/ 83 h 119"/>
                  <a:gd name="T34" fmla="*/ 117 w 121"/>
                  <a:gd name="T35" fmla="*/ 83 h 119"/>
                  <a:gd name="T36" fmla="*/ 118 w 121"/>
                  <a:gd name="T37" fmla="*/ 81 h 119"/>
                  <a:gd name="T38" fmla="*/ 119 w 121"/>
                  <a:gd name="T39" fmla="*/ 80 h 119"/>
                  <a:gd name="T40" fmla="*/ 121 w 121"/>
                  <a:gd name="T41" fmla="*/ 77 h 119"/>
                  <a:gd name="T42" fmla="*/ 121 w 121"/>
                  <a:gd name="T43" fmla="*/ 77 h 119"/>
                  <a:gd name="T44" fmla="*/ 119 w 121"/>
                  <a:gd name="T45" fmla="*/ 75 h 119"/>
                  <a:gd name="T46" fmla="*/ 84 w 121"/>
                  <a:gd name="T47" fmla="*/ 0 h 119"/>
                  <a:gd name="T48" fmla="*/ 84 w 121"/>
                  <a:gd name="T49" fmla="*/ 0 h 119"/>
                  <a:gd name="T50" fmla="*/ 75 w 121"/>
                  <a:gd name="T51" fmla="*/ 8 h 119"/>
                  <a:gd name="T52" fmla="*/ 67 w 121"/>
                  <a:gd name="T53" fmla="*/ 16 h 119"/>
                  <a:gd name="T54" fmla="*/ 58 w 121"/>
                  <a:gd name="T55" fmla="*/ 22 h 119"/>
                  <a:gd name="T56" fmla="*/ 47 w 121"/>
                  <a:gd name="T57" fmla="*/ 29 h 119"/>
                  <a:gd name="T58" fmla="*/ 36 w 121"/>
                  <a:gd name="T59" fmla="*/ 34 h 119"/>
                  <a:gd name="T60" fmla="*/ 24 w 121"/>
                  <a:gd name="T61" fmla="*/ 38 h 119"/>
                  <a:gd name="T62" fmla="*/ 12 w 121"/>
                  <a:gd name="T63" fmla="*/ 41 h 119"/>
                  <a:gd name="T64" fmla="*/ 0 w 121"/>
                  <a:gd name="T65" fmla="*/ 42 h 119"/>
                  <a:gd name="T66" fmla="*/ 0 w 121"/>
                  <a:gd name="T67" fmla="*/ 4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119">
                    <a:moveTo>
                      <a:pt x="0" y="42"/>
                    </a:moveTo>
                    <a:lnTo>
                      <a:pt x="35" y="115"/>
                    </a:lnTo>
                    <a:lnTo>
                      <a:pt x="35" y="115"/>
                    </a:lnTo>
                    <a:lnTo>
                      <a:pt x="36" y="118"/>
                    </a:lnTo>
                    <a:lnTo>
                      <a:pt x="39" y="119"/>
                    </a:lnTo>
                    <a:lnTo>
                      <a:pt x="39" y="119"/>
                    </a:lnTo>
                    <a:lnTo>
                      <a:pt x="39" y="119"/>
                    </a:lnTo>
                    <a:lnTo>
                      <a:pt x="39" y="119"/>
                    </a:lnTo>
                    <a:lnTo>
                      <a:pt x="42" y="118"/>
                    </a:lnTo>
                    <a:lnTo>
                      <a:pt x="44" y="116"/>
                    </a:lnTo>
                    <a:lnTo>
                      <a:pt x="68" y="76"/>
                    </a:lnTo>
                    <a:lnTo>
                      <a:pt x="114" y="83"/>
                    </a:lnTo>
                    <a:lnTo>
                      <a:pt x="114" y="83"/>
                    </a:lnTo>
                    <a:lnTo>
                      <a:pt x="115" y="83"/>
                    </a:lnTo>
                    <a:lnTo>
                      <a:pt x="115" y="83"/>
                    </a:lnTo>
                    <a:lnTo>
                      <a:pt x="115" y="83"/>
                    </a:lnTo>
                    <a:lnTo>
                      <a:pt x="115" y="83"/>
                    </a:lnTo>
                    <a:lnTo>
                      <a:pt x="117" y="83"/>
                    </a:lnTo>
                    <a:lnTo>
                      <a:pt x="118" y="81"/>
                    </a:lnTo>
                    <a:lnTo>
                      <a:pt x="119" y="80"/>
                    </a:lnTo>
                    <a:lnTo>
                      <a:pt x="121" y="77"/>
                    </a:lnTo>
                    <a:lnTo>
                      <a:pt x="121" y="77"/>
                    </a:lnTo>
                    <a:lnTo>
                      <a:pt x="119" y="75"/>
                    </a:lnTo>
                    <a:lnTo>
                      <a:pt x="84" y="0"/>
                    </a:lnTo>
                    <a:lnTo>
                      <a:pt x="84" y="0"/>
                    </a:lnTo>
                    <a:lnTo>
                      <a:pt x="75" y="8"/>
                    </a:lnTo>
                    <a:lnTo>
                      <a:pt x="67" y="16"/>
                    </a:lnTo>
                    <a:lnTo>
                      <a:pt x="58" y="22"/>
                    </a:lnTo>
                    <a:lnTo>
                      <a:pt x="47" y="29"/>
                    </a:lnTo>
                    <a:lnTo>
                      <a:pt x="36" y="34"/>
                    </a:lnTo>
                    <a:lnTo>
                      <a:pt x="24" y="38"/>
                    </a:lnTo>
                    <a:lnTo>
                      <a:pt x="12" y="41"/>
                    </a:lnTo>
                    <a:lnTo>
                      <a:pt x="0"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44"/>
              <p:cNvSpPr>
                <a:spLocks noEditPoints="1"/>
              </p:cNvSpPr>
              <p:nvPr/>
            </p:nvSpPr>
            <p:spPr bwMode="auto">
              <a:xfrm>
                <a:off x="6883401" y="2635256"/>
                <a:ext cx="179388" cy="180976"/>
              </a:xfrm>
              <a:custGeom>
                <a:avLst/>
                <a:gdLst>
                  <a:gd name="T0" fmla="*/ 227 w 227"/>
                  <a:gd name="T1" fmla="*/ 113 h 227"/>
                  <a:gd name="T2" fmla="*/ 225 w 227"/>
                  <a:gd name="T3" fmla="*/ 90 h 227"/>
                  <a:gd name="T4" fmla="*/ 218 w 227"/>
                  <a:gd name="T5" fmla="*/ 70 h 227"/>
                  <a:gd name="T6" fmla="*/ 207 w 227"/>
                  <a:gd name="T7" fmla="*/ 49 h 227"/>
                  <a:gd name="T8" fmla="*/ 194 w 227"/>
                  <a:gd name="T9" fmla="*/ 33 h 227"/>
                  <a:gd name="T10" fmla="*/ 178 w 227"/>
                  <a:gd name="T11" fmla="*/ 19 h 227"/>
                  <a:gd name="T12" fmla="*/ 157 w 227"/>
                  <a:gd name="T13" fmla="*/ 8 h 227"/>
                  <a:gd name="T14" fmla="*/ 136 w 227"/>
                  <a:gd name="T15" fmla="*/ 2 h 227"/>
                  <a:gd name="T16" fmla="*/ 113 w 227"/>
                  <a:gd name="T17" fmla="*/ 0 h 227"/>
                  <a:gd name="T18" fmla="*/ 102 w 227"/>
                  <a:gd name="T19" fmla="*/ 0 h 227"/>
                  <a:gd name="T20" fmla="*/ 80 w 227"/>
                  <a:gd name="T21" fmla="*/ 5 h 227"/>
                  <a:gd name="T22" fmla="*/ 59 w 227"/>
                  <a:gd name="T23" fmla="*/ 13 h 227"/>
                  <a:gd name="T24" fmla="*/ 41 w 227"/>
                  <a:gd name="T25" fmla="*/ 25 h 227"/>
                  <a:gd name="T26" fmla="*/ 26 w 227"/>
                  <a:gd name="T27" fmla="*/ 41 h 227"/>
                  <a:gd name="T28" fmla="*/ 14 w 227"/>
                  <a:gd name="T29" fmla="*/ 59 h 227"/>
                  <a:gd name="T30" fmla="*/ 4 w 227"/>
                  <a:gd name="T31" fmla="*/ 79 h 227"/>
                  <a:gd name="T32" fmla="*/ 0 w 227"/>
                  <a:gd name="T33" fmla="*/ 102 h 227"/>
                  <a:gd name="T34" fmla="*/ 0 w 227"/>
                  <a:gd name="T35" fmla="*/ 113 h 227"/>
                  <a:gd name="T36" fmla="*/ 2 w 227"/>
                  <a:gd name="T37" fmla="*/ 137 h 227"/>
                  <a:gd name="T38" fmla="*/ 8 w 227"/>
                  <a:gd name="T39" fmla="*/ 157 h 227"/>
                  <a:gd name="T40" fmla="*/ 19 w 227"/>
                  <a:gd name="T41" fmla="*/ 177 h 227"/>
                  <a:gd name="T42" fmla="*/ 33 w 227"/>
                  <a:gd name="T43" fmla="*/ 193 h 227"/>
                  <a:gd name="T44" fmla="*/ 50 w 227"/>
                  <a:gd name="T45" fmla="*/ 208 h 227"/>
                  <a:gd name="T46" fmla="*/ 69 w 227"/>
                  <a:gd name="T47" fmla="*/ 217 h 227"/>
                  <a:gd name="T48" fmla="*/ 90 w 227"/>
                  <a:gd name="T49" fmla="*/ 224 h 227"/>
                  <a:gd name="T50" fmla="*/ 113 w 227"/>
                  <a:gd name="T51" fmla="*/ 227 h 227"/>
                  <a:gd name="T52" fmla="*/ 125 w 227"/>
                  <a:gd name="T53" fmla="*/ 227 h 227"/>
                  <a:gd name="T54" fmla="*/ 147 w 227"/>
                  <a:gd name="T55" fmla="*/ 221 h 227"/>
                  <a:gd name="T56" fmla="*/ 168 w 227"/>
                  <a:gd name="T57" fmla="*/ 213 h 227"/>
                  <a:gd name="T58" fmla="*/ 186 w 227"/>
                  <a:gd name="T59" fmla="*/ 201 h 227"/>
                  <a:gd name="T60" fmla="*/ 202 w 227"/>
                  <a:gd name="T61" fmla="*/ 185 h 227"/>
                  <a:gd name="T62" fmla="*/ 214 w 227"/>
                  <a:gd name="T63" fmla="*/ 168 h 227"/>
                  <a:gd name="T64" fmla="*/ 222 w 227"/>
                  <a:gd name="T65" fmla="*/ 147 h 227"/>
                  <a:gd name="T66" fmla="*/ 226 w 227"/>
                  <a:gd name="T67" fmla="*/ 125 h 227"/>
                  <a:gd name="T68" fmla="*/ 227 w 227"/>
                  <a:gd name="T69" fmla="*/ 113 h 227"/>
                  <a:gd name="T70" fmla="*/ 82 w 227"/>
                  <a:gd name="T71" fmla="*/ 169 h 227"/>
                  <a:gd name="T72" fmla="*/ 77 w 227"/>
                  <a:gd name="T73" fmla="*/ 169 h 227"/>
                  <a:gd name="T74" fmla="*/ 74 w 227"/>
                  <a:gd name="T75" fmla="*/ 166 h 227"/>
                  <a:gd name="T76" fmla="*/ 81 w 227"/>
                  <a:gd name="T77" fmla="*/ 129 h 227"/>
                  <a:gd name="T78" fmla="*/ 55 w 227"/>
                  <a:gd name="T79" fmla="*/ 105 h 227"/>
                  <a:gd name="T80" fmla="*/ 54 w 227"/>
                  <a:gd name="T81" fmla="*/ 99 h 227"/>
                  <a:gd name="T82" fmla="*/ 55 w 227"/>
                  <a:gd name="T83" fmla="*/ 96 h 227"/>
                  <a:gd name="T84" fmla="*/ 93 w 227"/>
                  <a:gd name="T85" fmla="*/ 90 h 227"/>
                  <a:gd name="T86" fmla="*/ 109 w 227"/>
                  <a:gd name="T87" fmla="*/ 59 h 227"/>
                  <a:gd name="T88" fmla="*/ 113 w 227"/>
                  <a:gd name="T89" fmla="*/ 56 h 227"/>
                  <a:gd name="T90" fmla="*/ 117 w 227"/>
                  <a:gd name="T91" fmla="*/ 58 h 227"/>
                  <a:gd name="T92" fmla="*/ 133 w 227"/>
                  <a:gd name="T93" fmla="*/ 91 h 227"/>
                  <a:gd name="T94" fmla="*/ 168 w 227"/>
                  <a:gd name="T95" fmla="*/ 96 h 227"/>
                  <a:gd name="T96" fmla="*/ 172 w 227"/>
                  <a:gd name="T97" fmla="*/ 99 h 227"/>
                  <a:gd name="T98" fmla="*/ 172 w 227"/>
                  <a:gd name="T99" fmla="*/ 103 h 227"/>
                  <a:gd name="T100" fmla="*/ 147 w 227"/>
                  <a:gd name="T101" fmla="*/ 130 h 227"/>
                  <a:gd name="T102" fmla="*/ 152 w 227"/>
                  <a:gd name="T103" fmla="*/ 164 h 227"/>
                  <a:gd name="T104" fmla="*/ 149 w 227"/>
                  <a:gd name="T105" fmla="*/ 169 h 227"/>
                  <a:gd name="T106" fmla="*/ 147 w 227"/>
                  <a:gd name="T107" fmla="*/ 170 h 227"/>
                  <a:gd name="T108" fmla="*/ 144 w 227"/>
                  <a:gd name="T109" fmla="*/ 169 h 227"/>
                  <a:gd name="T110" fmla="*/ 82 w 227"/>
                  <a:gd name="T111" fmla="*/ 169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27">
                    <a:moveTo>
                      <a:pt x="227" y="113"/>
                    </a:moveTo>
                    <a:lnTo>
                      <a:pt x="227" y="113"/>
                    </a:lnTo>
                    <a:lnTo>
                      <a:pt x="226" y="102"/>
                    </a:lnTo>
                    <a:lnTo>
                      <a:pt x="225" y="90"/>
                    </a:lnTo>
                    <a:lnTo>
                      <a:pt x="222" y="79"/>
                    </a:lnTo>
                    <a:lnTo>
                      <a:pt x="218" y="70"/>
                    </a:lnTo>
                    <a:lnTo>
                      <a:pt x="214" y="59"/>
                    </a:lnTo>
                    <a:lnTo>
                      <a:pt x="207" y="49"/>
                    </a:lnTo>
                    <a:lnTo>
                      <a:pt x="202" y="41"/>
                    </a:lnTo>
                    <a:lnTo>
                      <a:pt x="194" y="33"/>
                    </a:lnTo>
                    <a:lnTo>
                      <a:pt x="186" y="25"/>
                    </a:lnTo>
                    <a:lnTo>
                      <a:pt x="178" y="19"/>
                    </a:lnTo>
                    <a:lnTo>
                      <a:pt x="168" y="13"/>
                    </a:lnTo>
                    <a:lnTo>
                      <a:pt x="157" y="8"/>
                    </a:lnTo>
                    <a:lnTo>
                      <a:pt x="147" y="5"/>
                    </a:lnTo>
                    <a:lnTo>
                      <a:pt x="136" y="2"/>
                    </a:lnTo>
                    <a:lnTo>
                      <a:pt x="125" y="0"/>
                    </a:lnTo>
                    <a:lnTo>
                      <a:pt x="113" y="0"/>
                    </a:lnTo>
                    <a:lnTo>
                      <a:pt x="113" y="0"/>
                    </a:lnTo>
                    <a:lnTo>
                      <a:pt x="102" y="0"/>
                    </a:lnTo>
                    <a:lnTo>
                      <a:pt x="90" y="2"/>
                    </a:lnTo>
                    <a:lnTo>
                      <a:pt x="80" y="5"/>
                    </a:lnTo>
                    <a:lnTo>
                      <a:pt x="69" y="8"/>
                    </a:lnTo>
                    <a:lnTo>
                      <a:pt x="59" y="13"/>
                    </a:lnTo>
                    <a:lnTo>
                      <a:pt x="50" y="19"/>
                    </a:lnTo>
                    <a:lnTo>
                      <a:pt x="41" y="25"/>
                    </a:lnTo>
                    <a:lnTo>
                      <a:pt x="33" y="33"/>
                    </a:lnTo>
                    <a:lnTo>
                      <a:pt x="26" y="41"/>
                    </a:lnTo>
                    <a:lnTo>
                      <a:pt x="19" y="49"/>
                    </a:lnTo>
                    <a:lnTo>
                      <a:pt x="14" y="59"/>
                    </a:lnTo>
                    <a:lnTo>
                      <a:pt x="8" y="70"/>
                    </a:lnTo>
                    <a:lnTo>
                      <a:pt x="4" y="79"/>
                    </a:lnTo>
                    <a:lnTo>
                      <a:pt x="2" y="90"/>
                    </a:lnTo>
                    <a:lnTo>
                      <a:pt x="0" y="102"/>
                    </a:lnTo>
                    <a:lnTo>
                      <a:pt x="0" y="113"/>
                    </a:lnTo>
                    <a:lnTo>
                      <a:pt x="0" y="113"/>
                    </a:lnTo>
                    <a:lnTo>
                      <a:pt x="0" y="125"/>
                    </a:lnTo>
                    <a:lnTo>
                      <a:pt x="2" y="137"/>
                    </a:lnTo>
                    <a:lnTo>
                      <a:pt x="4" y="147"/>
                    </a:lnTo>
                    <a:lnTo>
                      <a:pt x="8" y="157"/>
                    </a:lnTo>
                    <a:lnTo>
                      <a:pt x="14" y="168"/>
                    </a:lnTo>
                    <a:lnTo>
                      <a:pt x="19" y="177"/>
                    </a:lnTo>
                    <a:lnTo>
                      <a:pt x="26" y="185"/>
                    </a:lnTo>
                    <a:lnTo>
                      <a:pt x="33" y="193"/>
                    </a:lnTo>
                    <a:lnTo>
                      <a:pt x="41" y="201"/>
                    </a:lnTo>
                    <a:lnTo>
                      <a:pt x="50" y="208"/>
                    </a:lnTo>
                    <a:lnTo>
                      <a:pt x="59" y="213"/>
                    </a:lnTo>
                    <a:lnTo>
                      <a:pt x="69" y="217"/>
                    </a:lnTo>
                    <a:lnTo>
                      <a:pt x="80" y="221"/>
                    </a:lnTo>
                    <a:lnTo>
                      <a:pt x="90" y="224"/>
                    </a:lnTo>
                    <a:lnTo>
                      <a:pt x="102" y="227"/>
                    </a:lnTo>
                    <a:lnTo>
                      <a:pt x="113" y="227"/>
                    </a:lnTo>
                    <a:lnTo>
                      <a:pt x="113" y="227"/>
                    </a:lnTo>
                    <a:lnTo>
                      <a:pt x="125" y="227"/>
                    </a:lnTo>
                    <a:lnTo>
                      <a:pt x="136" y="224"/>
                    </a:lnTo>
                    <a:lnTo>
                      <a:pt x="147" y="221"/>
                    </a:lnTo>
                    <a:lnTo>
                      <a:pt x="157" y="217"/>
                    </a:lnTo>
                    <a:lnTo>
                      <a:pt x="168" y="213"/>
                    </a:lnTo>
                    <a:lnTo>
                      <a:pt x="178" y="208"/>
                    </a:lnTo>
                    <a:lnTo>
                      <a:pt x="186" y="201"/>
                    </a:lnTo>
                    <a:lnTo>
                      <a:pt x="194" y="193"/>
                    </a:lnTo>
                    <a:lnTo>
                      <a:pt x="202" y="185"/>
                    </a:lnTo>
                    <a:lnTo>
                      <a:pt x="207" y="177"/>
                    </a:lnTo>
                    <a:lnTo>
                      <a:pt x="214" y="168"/>
                    </a:lnTo>
                    <a:lnTo>
                      <a:pt x="218" y="157"/>
                    </a:lnTo>
                    <a:lnTo>
                      <a:pt x="222" y="147"/>
                    </a:lnTo>
                    <a:lnTo>
                      <a:pt x="225" y="137"/>
                    </a:lnTo>
                    <a:lnTo>
                      <a:pt x="226" y="125"/>
                    </a:lnTo>
                    <a:lnTo>
                      <a:pt x="227" y="113"/>
                    </a:lnTo>
                    <a:lnTo>
                      <a:pt x="227" y="113"/>
                    </a:lnTo>
                    <a:close/>
                    <a:moveTo>
                      <a:pt x="82" y="169"/>
                    </a:moveTo>
                    <a:lnTo>
                      <a:pt x="82" y="169"/>
                    </a:lnTo>
                    <a:lnTo>
                      <a:pt x="80" y="170"/>
                    </a:lnTo>
                    <a:lnTo>
                      <a:pt x="77" y="169"/>
                    </a:lnTo>
                    <a:lnTo>
                      <a:pt x="77" y="169"/>
                    </a:lnTo>
                    <a:lnTo>
                      <a:pt x="74" y="166"/>
                    </a:lnTo>
                    <a:lnTo>
                      <a:pt x="74" y="164"/>
                    </a:lnTo>
                    <a:lnTo>
                      <a:pt x="81" y="129"/>
                    </a:lnTo>
                    <a:lnTo>
                      <a:pt x="55" y="105"/>
                    </a:lnTo>
                    <a:lnTo>
                      <a:pt x="55" y="105"/>
                    </a:lnTo>
                    <a:lnTo>
                      <a:pt x="54" y="102"/>
                    </a:lnTo>
                    <a:lnTo>
                      <a:pt x="54" y="99"/>
                    </a:lnTo>
                    <a:lnTo>
                      <a:pt x="54" y="99"/>
                    </a:lnTo>
                    <a:lnTo>
                      <a:pt x="55" y="96"/>
                    </a:lnTo>
                    <a:lnTo>
                      <a:pt x="58" y="95"/>
                    </a:lnTo>
                    <a:lnTo>
                      <a:pt x="93" y="90"/>
                    </a:lnTo>
                    <a:lnTo>
                      <a:pt x="109" y="59"/>
                    </a:lnTo>
                    <a:lnTo>
                      <a:pt x="109" y="59"/>
                    </a:lnTo>
                    <a:lnTo>
                      <a:pt x="110" y="58"/>
                    </a:lnTo>
                    <a:lnTo>
                      <a:pt x="113" y="56"/>
                    </a:lnTo>
                    <a:lnTo>
                      <a:pt x="113" y="56"/>
                    </a:lnTo>
                    <a:lnTo>
                      <a:pt x="117" y="58"/>
                    </a:lnTo>
                    <a:lnTo>
                      <a:pt x="118" y="59"/>
                    </a:lnTo>
                    <a:lnTo>
                      <a:pt x="133" y="91"/>
                    </a:lnTo>
                    <a:lnTo>
                      <a:pt x="168" y="96"/>
                    </a:lnTo>
                    <a:lnTo>
                      <a:pt x="168" y="96"/>
                    </a:lnTo>
                    <a:lnTo>
                      <a:pt x="171" y="98"/>
                    </a:lnTo>
                    <a:lnTo>
                      <a:pt x="172" y="99"/>
                    </a:lnTo>
                    <a:lnTo>
                      <a:pt x="172" y="99"/>
                    </a:lnTo>
                    <a:lnTo>
                      <a:pt x="172" y="103"/>
                    </a:lnTo>
                    <a:lnTo>
                      <a:pt x="171" y="106"/>
                    </a:lnTo>
                    <a:lnTo>
                      <a:pt x="147" y="130"/>
                    </a:lnTo>
                    <a:lnTo>
                      <a:pt x="152" y="164"/>
                    </a:lnTo>
                    <a:lnTo>
                      <a:pt x="152" y="164"/>
                    </a:lnTo>
                    <a:lnTo>
                      <a:pt x="152" y="166"/>
                    </a:lnTo>
                    <a:lnTo>
                      <a:pt x="149" y="169"/>
                    </a:lnTo>
                    <a:lnTo>
                      <a:pt x="149" y="169"/>
                    </a:lnTo>
                    <a:lnTo>
                      <a:pt x="147" y="170"/>
                    </a:lnTo>
                    <a:lnTo>
                      <a:pt x="147" y="170"/>
                    </a:lnTo>
                    <a:lnTo>
                      <a:pt x="144" y="169"/>
                    </a:lnTo>
                    <a:lnTo>
                      <a:pt x="113" y="153"/>
                    </a:lnTo>
                    <a:lnTo>
                      <a:pt x="82" y="1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8" name="Text Placeholder 15"/>
            <p:cNvSpPr txBox="1">
              <a:spLocks/>
            </p:cNvSpPr>
            <p:nvPr/>
          </p:nvSpPr>
          <p:spPr>
            <a:xfrm>
              <a:off x="9168283" y="6010183"/>
              <a:ext cx="2554936" cy="1197549"/>
            </a:xfrm>
            <a:prstGeom prst="rect">
              <a:avLst/>
            </a:prstGeom>
          </p:spPr>
          <p:txBody>
            <a:bodyPr vert="horz" lIns="0" tIns="0" rIns="0" bIns="0" rtlCol="0" anchor="t">
              <a:noAutofit/>
            </a:bodyPr>
            <a:lstStyle>
              <a:lvl1pPr marL="0" indent="0" algn="l" defTabSz="990571" rtl="0" eaLnBrk="1" latinLnBrk="0" hangingPunct="1">
                <a:spcBef>
                  <a:spcPts val="0"/>
                </a:spcBef>
                <a:spcAft>
                  <a:spcPts val="300"/>
                </a:spcAft>
                <a:buSzPct val="100000"/>
                <a:buFont typeface="Arial" panose="020B0604020202020204" pitchFamily="34" charset="0"/>
                <a:buNone/>
                <a:defRPr sz="900" b="0" kern="1200" baseline="0">
                  <a:solidFill>
                    <a:schemeClr val="tx1"/>
                  </a:solidFill>
                  <a:latin typeface="+mn-lt"/>
                  <a:ea typeface="+mn-ea"/>
                  <a:cs typeface="+mn-cs"/>
                </a:defRPr>
              </a:lvl1pPr>
              <a:lvl2pPr marL="0" indent="0" algn="l" defTabSz="990571" rtl="0" eaLnBrk="1" latinLnBrk="0" hangingPunct="1">
                <a:spcBef>
                  <a:spcPts val="0"/>
                </a:spcBef>
                <a:spcAft>
                  <a:spcPts val="300"/>
                </a:spcAft>
                <a:buClrTx/>
                <a:buSzPct val="100000"/>
                <a:buFont typeface="Arial"/>
                <a:buNone/>
                <a:defRPr lang="en-US" sz="900" b="1" kern="1200">
                  <a:solidFill>
                    <a:schemeClr val="tx1"/>
                  </a:solidFill>
                  <a:latin typeface="+mn-lt"/>
                  <a:ea typeface="+mn-ea"/>
                  <a:cs typeface="+mn-cs"/>
                </a:defRPr>
              </a:lvl2pPr>
              <a:lvl3pPr marL="191094" indent="-191094" algn="l" defTabSz="990571" rtl="0" eaLnBrk="1" latinLnBrk="0" hangingPunct="1">
                <a:spcBef>
                  <a:spcPts val="0"/>
                </a:spcBef>
                <a:spcAft>
                  <a:spcPts val="300"/>
                </a:spcAft>
                <a:buClrTx/>
                <a:buSzPct val="100000"/>
                <a:buFont typeface="Arial" panose="020B0604020202020204" pitchFamily="34" charset="0"/>
                <a:buChar char="•"/>
                <a:defRPr lang="en-US" sz="900" kern="1200">
                  <a:solidFill>
                    <a:schemeClr val="tx1"/>
                  </a:solidFill>
                  <a:latin typeface="+mn-lt"/>
                  <a:ea typeface="+mn-ea"/>
                  <a:cs typeface="+mn-cs"/>
                </a:defRPr>
              </a:lvl3pPr>
              <a:lvl4pPr marL="386089" indent="-191094" algn="l" defTabSz="990571"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82" indent="-191094" algn="l" defTabSz="865030"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Sales Cloud Consultant</a:t>
              </a:r>
            </a:p>
            <a:p>
              <a:pPr marL="87313" lvl="2" indent="-87313" defTabSz="914400" fontAlgn="base">
                <a:lnSpc>
                  <a:spcPts val="1500"/>
                </a:lnSpc>
                <a:spcBef>
                  <a:spcPct val="0"/>
                </a:spcBef>
                <a:spcAft>
                  <a:spcPct val="0"/>
                </a:spcAft>
                <a:buSzPct val="50000"/>
                <a:defRPr/>
              </a:pP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Salesforce</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t>
              </a:r>
              <a:r>
                <a:rPr lang="fr-FR" sz="1000" dirty="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Community</a:t>
              </a:r>
              <a:r>
                <a:rPr lang="fr-FR" sz="10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Cloud Consultant</a:t>
              </a:r>
            </a:p>
          </p:txBody>
        </p:sp>
      </p:grpSp>
    </p:spTree>
    <p:extLst>
      <p:ext uri="{BB962C8B-B14F-4D97-AF65-F5344CB8AC3E}">
        <p14:creationId xmlns:p14="http://schemas.microsoft.com/office/powerpoint/2010/main" val="3722629578"/>
      </p:ext>
    </p:extLst>
  </p:cSld>
  <p:clrMapOvr>
    <a:masterClrMapping/>
  </p:clrMapOvr>
</p:sld>
</file>

<file path=ppt/theme/theme1.xml><?xml version="1.0" encoding="utf-8"?>
<a:theme xmlns:a="http://schemas.openxmlformats.org/drawingml/2006/main" name="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Read-Only]" id="{98160FD6-AF98-4B8A-ABC5-9CDB79965C21}" vid="{1D9A428B-3151-4EE2-ADBE-F8296A13EE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NFListDisplayForm</Display>
  <Edit>NFListEditForm</Edit>
  <New>NFListEditForm</New>
</FormTemplates>
</file>

<file path=customXml/item2.xml><?xml version="1.0" encoding="utf-8"?>
<?mso-contentType ?>
<FormTemplates>
  <Display>DocumentLibraryForm</Display>
  <Edit>DocumentLibraryForm</Edit>
  <New>DocumentLibraryForm</New>
  <MobileDisplayFormUrl/>
  <MobileEditFormUrl/>
  <MobileNewFormUrl/>
</FormTemplates>
</file>

<file path=customXml/item3.xml><?xml version="1.0" encoding="utf-8"?>
<ct:contentTypeSchema xmlns:ct="http://schemas.microsoft.com/office/2006/metadata/contentType" xmlns:ma="http://schemas.microsoft.com/office/2006/metadata/properties/metaAttributes" ct:_="" ma:_="" ma:contentTypeName="Asset" ma:contentTypeID="0x0101009F82DE041937A7498CF31180CBB1B6F7" ma:contentTypeVersion="112" ma:contentTypeDescription="Create a new document." ma:contentTypeScope="" ma:versionID="5702b83c4e4fb5e97eadcb34f9ed24d6">
  <xsd:schema xmlns:xsd="http://www.w3.org/2001/XMLSchema" xmlns:xs="http://www.w3.org/2001/XMLSchema" xmlns:p="http://schemas.microsoft.com/office/2006/metadata/properties" xmlns:ns1="http://schemas.microsoft.com/sharepoint/v3" xmlns:ns2="3a90c32c-a72d-43b1-b654-bba8c32019ef" xmlns:ns3="http://schemas.microsoft.com/sharepoint/v4" targetNamespace="http://schemas.microsoft.com/office/2006/metadata/properties" ma:root="true" ma:fieldsID="8c45e29c84ac71f629d2b29241c025f2" ns1:_="" ns2:_="" ns3:_="">
    <xsd:import namespace="http://schemas.microsoft.com/sharepoint/v3"/>
    <xsd:import namespace="3a90c32c-a72d-43b1-b654-bba8c32019ef"/>
    <xsd:import namespace="http://schemas.microsoft.com/sharepoint/v4"/>
    <xsd:element name="properties">
      <xsd:complexType>
        <xsd:sequence>
          <xsd:element name="documentManagement">
            <xsd:complexType>
              <xsd:all>
                <xsd:element ref="ns2:Submitter_x0020_Name" minOccurs="0"/>
                <xsd:element ref="ns2:Date_x0020_of_x0020_Submission" minOccurs="0"/>
                <xsd:element ref="ns2:Asset_x0020_Last_x0020_Modified_x0020_Date" minOccurs="0"/>
                <xsd:element ref="ns2:Description0" minOccurs="0"/>
                <xsd:element ref="ns2:Asset_x0020_Sponsor_x0028_s_x0029_" minOccurs="0"/>
                <xsd:element ref="ns2:Author_x0020_or_x0020_Owner_x0020_of_x0020_Asset" minOccurs="0"/>
                <xsd:element ref="ns2:Asset_x0020_Type" minOccurs="0"/>
                <xsd:element ref="ns2:Video_x0020_Type" minOccurs="0"/>
                <xsd:element ref="ns2:Capability" minOccurs="0"/>
                <xsd:element ref="ns2:Sub_x002d_Capability" minOccurs="0"/>
                <xsd:element ref="ns2:Alliance_x0020__x002f__x0020_Technology" minOccurs="0"/>
                <xsd:element ref="ns2:Tools_x002c__x0020_Frameworks" minOccurs="0"/>
                <xsd:element ref="ns2:Methodology" minOccurs="0"/>
                <xsd:element ref="ns2:Market_x0020_Audience" minOccurs="0"/>
                <xsd:element ref="ns2:Interaction_x0020_Channels" minOccurs="0"/>
                <xsd:element ref="ns2:Exponential_x0020_Enablers" minOccurs="0"/>
                <xsd:element ref="ns2:Approval_x0020_Requirements" minOccurs="0"/>
                <xsd:element ref="ns2:Client_x0020_Name" minOccurs="0"/>
                <xsd:element ref="ns2:Special_x0020_Instructions" minOccurs="0"/>
                <xsd:element ref="ns2:List_x0020_any_x0020_additional_x0020_keywords_x0020_needed" minOccurs="0"/>
                <xsd:element ref="ns2:Client_x0020_audience" minOccurs="0"/>
                <xsd:element ref="ns2:Owned_x0020_by_x0020_Marketing_x0020_team" minOccurs="0"/>
                <xsd:element ref="ns2:Owned_x0020_by_x0020_QMT_x0020_Team" minOccurs="0"/>
                <xsd:element ref="ns2:Archive_x0020_Date" minOccurs="0"/>
                <xsd:element ref="ns2:Date_x0020_of_x0020_Archival" minOccurs="0"/>
                <xsd:element ref="ns2:Archive_x0020_Comments" minOccurs="0"/>
                <xsd:element ref="ns2:Indsutry" minOccurs="0"/>
                <xsd:element ref="ns2:Sector" minOccurs="0"/>
                <xsd:element ref="ns1:FormData" minOccurs="0"/>
                <xsd:element ref="ns2:Country" minOccurs="0"/>
                <xsd:element ref="ns3:IconOverlay" minOccurs="0"/>
                <xsd:element ref="ns2:Studios" minOccurs="0"/>
                <xsd:element ref="ns2:Sort_x0020_Or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ormData" ma:index="36" nillable="true" ma:displayName="Form Data" ma:hidden="true" ma:internalName="FormData"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90c32c-a72d-43b1-b654-bba8c32019ef" elementFormDefault="qualified">
    <xsd:import namespace="http://schemas.microsoft.com/office/2006/documentManagement/types"/>
    <xsd:import namespace="http://schemas.microsoft.com/office/infopath/2007/PartnerControls"/>
    <xsd:element name="Submitter_x0020_Name" ma:index="8" nillable="true" ma:displayName="Submitter Name" ma:list="UserInfo" ma:SharePointGroup="0" ma:internalName="Submitter_x0020_Nam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of_x0020_Submission" ma:index="9" nillable="true" ma:displayName="Date of Submission" ma:format="DateOnly" ma:internalName="Date_x0020_of_x0020_Submission">
      <xsd:simpleType>
        <xsd:restriction base="dms:DateTime"/>
      </xsd:simpleType>
    </xsd:element>
    <xsd:element name="Asset_x0020_Last_x0020_Modified_x0020_Date" ma:index="10" nillable="true" ma:displayName="Asset Last Modified Date" ma:internalName="Asset_x0020_Last_x0020_Modified_x0020_Date">
      <xsd:simpleType>
        <xsd:restriction base="dms:Text">
          <xsd:maxLength value="255"/>
        </xsd:restriction>
      </xsd:simpleType>
    </xsd:element>
    <xsd:element name="Description0" ma:index="11" nillable="true" ma:displayName="Description" ma:internalName="Description0">
      <xsd:simpleType>
        <xsd:restriction base="dms:Note">
          <xsd:maxLength value="255"/>
        </xsd:restriction>
      </xsd:simpleType>
    </xsd:element>
    <xsd:element name="Asset_x0020_Sponsor_x0028_s_x0029_" ma:index="12" nillable="true" ma:displayName="Asset Sponsor(s)" ma:list="UserInfo" ma:SharePointGroup="0" ma:internalName="Asset_x0020_Sponsor_x0028_s_x0029_"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uthor_x0020_or_x0020_Owner_x0020_of_x0020_Asset" ma:index="13" nillable="true" ma:displayName="Author or Owner of Asset" ma:list="UserInfo" ma:SharePointGroup="0" ma:internalName="Author_x0020_or_x0020_Owner_x0020_of_x0020_Asset"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sset_x0020_Type" ma:index="14" nillable="true" ma:displayName="Asset Type" ma:internalName="Asset_x0020_Type">
      <xsd:complexType>
        <xsd:complexContent>
          <xsd:extension base="dms:MultiChoice">
            <xsd:sequence>
              <xsd:element name="Value" maxOccurs="unbounded" minOccurs="0" nillable="true">
                <xsd:simpleType>
                  <xsd:restriction base="dms:Choice">
                    <xsd:enumeration value="Analyst Relations"/>
                    <xsd:enumeration value="Awards"/>
                    <xsd:enumeration value="Capability Overview"/>
                    <xsd:enumeration value="Client Logo"/>
                    <xsd:enumeration value="DD Logo"/>
                    <xsd:enumeration value="Deloitte Digital Service Line Overview"/>
                    <xsd:enumeration value="Engagement Letter"/>
                    <xsd:enumeration value="Frequently Used Slides"/>
                    <xsd:enumeration value="Graphic / Illustration"/>
                    <xsd:enumeration value="Guide / FAQs"/>
                    <xsd:enumeration value="Icon"/>
                    <xsd:enumeration value="Marketing material - Brochure"/>
                    <xsd:enumeration value="Marketing Material -  Placemat"/>
                    <xsd:enumeration value="Orals"/>
                    <xsd:enumeration value="Org structure / design"/>
                    <xsd:enumeration value="Photo"/>
                    <xsd:enumeration value="Project Management"/>
                    <xsd:enumeration value="Proposal / RFP"/>
                    <xsd:enumeration value="Prototype / Proof of Concept / Demo / Sample Work"/>
                    <xsd:enumeration value="Provocations"/>
                    <xsd:enumeration value="Qual / Case Study"/>
                    <xsd:enumeration value="Template / Time Saver / Accelerator / Framework"/>
                    <xsd:enumeration value="Vendor Assessment"/>
                    <xsd:enumeration value="Video"/>
                    <xsd:enumeration value="Workshop"/>
                    <xsd:enumeration value="Templates"/>
                    <xsd:enumeration value="Approaches"/>
                    <xsd:enumeration value="Fonts"/>
                    <xsd:enumeration value="Image"/>
                    <xsd:enumeration value="Placemat"/>
                    <xsd:enumeration value="Brochure"/>
                    <xsd:enumeration value="Project Plan"/>
                    <xsd:enumeration value="Webinar"/>
                    <xsd:enumeration value="Capability and Offering Overview"/>
                    <xsd:enumeration value="Video (DD)"/>
                    <xsd:enumeration value="Video (Client)"/>
                    <xsd:enumeration value="Org. Structure"/>
                  </xsd:restriction>
                </xsd:simpleType>
              </xsd:element>
            </xsd:sequence>
          </xsd:extension>
        </xsd:complexContent>
      </xsd:complexType>
    </xsd:element>
    <xsd:element name="Video_x0020_Type" ma:index="15" nillable="true" ma:displayName="Video Type" ma:internalName="Video_x0020_Type">
      <xsd:complexType>
        <xsd:complexContent>
          <xsd:extension base="dms:MultiChoice">
            <xsd:sequence>
              <xsd:element name="Value" maxOccurs="unbounded" minOccurs="0" nillable="true">
                <xsd:simpleType>
                  <xsd:restriction base="dms:Choice">
                    <xsd:enumeration value="Analyst Videos"/>
                    <xsd:enumeration value="Commercial Sample Work"/>
                    <xsd:enumeration value="Deloitte Digital Overview"/>
                    <xsd:enumeration value="Federal Sample Work"/>
                    <xsd:enumeration value="Leadership Communications"/>
                    <xsd:enumeration value="Other"/>
                    <xsd:enumeration value="Sales Pitch"/>
                    <xsd:enumeration value="Selling Instructions / Advice on How to Sell"/>
                  </xsd:restriction>
                </xsd:simpleType>
              </xsd:element>
            </xsd:sequence>
          </xsd:extension>
        </xsd:complexContent>
      </xsd:complexType>
    </xsd:element>
    <xsd:element name="Capability" ma:index="16" nillable="true" ma:displayName="Capability" ma:list="{0b1279e9-ec9c-4fa5-8ede-54a0987c2932}" ma:internalName="Capability" ma:readOnly="false" ma:showField="Title">
      <xsd:complexType>
        <xsd:complexContent>
          <xsd:extension base="dms:MultiChoiceLookup">
            <xsd:sequence>
              <xsd:element name="Value" type="dms:Lookup" maxOccurs="unbounded" minOccurs="0" nillable="true"/>
            </xsd:sequence>
          </xsd:extension>
        </xsd:complexContent>
      </xsd:complexType>
    </xsd:element>
    <xsd:element name="Sub_x002d_Capability" ma:index="17" nillable="true" ma:displayName="Sub-Capability" ma:list="{50de9b05-55a2-4933-a9a1-ab9f27c63ef4}" ma:internalName="Sub_x002d_Capability" ma:readOnly="false" ma:showField="Title">
      <xsd:complexType>
        <xsd:complexContent>
          <xsd:extension base="dms:MultiChoiceLookup">
            <xsd:sequence>
              <xsd:element name="Value" type="dms:Lookup" maxOccurs="unbounded" minOccurs="0" nillable="true"/>
            </xsd:sequence>
          </xsd:extension>
        </xsd:complexContent>
      </xsd:complexType>
    </xsd:element>
    <xsd:element name="Alliance_x0020__x002f__x0020_Technology" ma:index="18" nillable="true" ma:displayName="Alliance / Technology" ma:internalName="Alliance_x0020__x002f__x0020_Technology">
      <xsd:complexType>
        <xsd:complexContent>
          <xsd:extension base="dms:MultiChoice">
            <xsd:sequence>
              <xsd:element name="Value" maxOccurs="unbounded" minOccurs="0" nillable="true">
                <xsd:simpleType>
                  <xsd:restriction base="dms:Choice">
                    <xsd:enumeration value="Adobe"/>
                    <xsd:enumeration value="Apple"/>
                    <xsd:enumeration value="Apttus"/>
                    <xsd:enumeration value="AT&amp;T"/>
                    <xsd:enumeration value="AWS"/>
                    <xsd:enumeration value="bluekai"/>
                    <xsd:enumeration value="Boomi"/>
                    <xsd:enumeration value="Cisco"/>
                    <xsd:enumeration value="cloudcraze"/>
                    <xsd:enumeration value="Cloudera"/>
                    <xsd:enumeration value="Demandware"/>
                    <xsd:enumeration value="Facebook"/>
                    <xsd:enumeration value="GE Predix"/>
                    <xsd:enumeration value="Google"/>
                    <xsd:enumeration value="IBM"/>
                    <xsd:enumeration value="IBM WebSphere Commerce"/>
                    <xsd:enumeration value="Informatica"/>
                    <xsd:enumeration value="Magento"/>
                    <xsd:enumeration value="Medallia"/>
                    <xsd:enumeration value="Microsoft Dynamics"/>
                    <xsd:enumeration value="Mulesoft"/>
                    <xsd:enumeration value="nCino"/>
                    <xsd:enumeration value="NetSuite"/>
                    <xsd:enumeration value="Neustar"/>
                    <xsd:enumeration value="Open Text"/>
                    <xsd:enumeration value="Oracle"/>
                    <xsd:enumeration value="Oracle ATG"/>
                    <xsd:enumeration value="Oracle Customer"/>
                    <xsd:enumeration value="Oracle CX"/>
                    <xsd:enumeration value="Other"/>
                    <xsd:enumeration value="PTC"/>
                    <xsd:enumeration value="QlikView"/>
                    <xsd:enumeration value="Revolution"/>
                    <xsd:enumeration value="Salesforce"/>
                    <xsd:enumeration value="SAP"/>
                    <xsd:enumeration value="SAP Customer"/>
                    <xsd:enumeration value="SAP Data"/>
                    <xsd:enumeration value="SAP Hybris"/>
                    <xsd:enumeration value="SAP PI/PO"/>
                    <xsd:enumeration value="SharePoint"/>
                    <xsd:enumeration value="Sitecore"/>
                    <xsd:enumeration value="Sprinklr"/>
                    <xsd:enumeration value="Tableau"/>
                    <xsd:enumeration value="TURN"/>
                    <xsd:enumeration value="VMWare"/>
                    <xsd:enumeration value="Yammer"/>
                    <xsd:enumeration value="Zuora"/>
                  </xsd:restriction>
                </xsd:simpleType>
              </xsd:element>
            </xsd:sequence>
          </xsd:extension>
        </xsd:complexContent>
      </xsd:complexType>
    </xsd:element>
    <xsd:element name="Tools_x002c__x0020_Frameworks" ma:index="19" nillable="true" ma:displayName="Tools, Frameworks" ma:internalName="Tools_x002c__x0020_Frameworks">
      <xsd:complexType>
        <xsd:complexContent>
          <xsd:extension base="dms:MultiChoice">
            <xsd:sequence>
              <xsd:element name="Value" maxOccurs="unbounded" minOccurs="0" nillable="true">
                <xsd:simpleType>
                  <xsd:restriction base="dms:Choice">
                    <xsd:enumeration value="DX4"/>
                    <xsd:enumeration value="Applied Design"/>
                    <xsd:enumeration value="CloudMix"/>
                    <xsd:enumeration value="ConnectMe"/>
                    <xsd:enumeration value="CXV, Customer Experience Value"/>
                    <xsd:enumeration value="Digital at the Core"/>
                    <xsd:enumeration value="Digital Foundry"/>
                    <xsd:enumeration value="Digital HC"/>
                    <xsd:enumeration value="Digital Mix"/>
                    <xsd:enumeration value="Digital Transformation"/>
                    <xsd:enumeration value="IoT, Internet of Things"/>
                    <xsd:enumeration value="MarketMix"/>
                    <xsd:enumeration value="CMO Nerve Center"/>
                  </xsd:restriction>
                </xsd:simpleType>
              </xsd:element>
            </xsd:sequence>
          </xsd:extension>
        </xsd:complexContent>
      </xsd:complexType>
    </xsd:element>
    <xsd:element name="Methodology" ma:index="20" nillable="true" ma:displayName="Methodology" ma:format="Dropdown" ma:internalName="Methodology">
      <xsd:simpleType>
        <xsd:restriction base="dms:Choice">
          <xsd:enumeration value="Agile"/>
          <xsd:enumeration value="Hybrid Agile"/>
          <xsd:enumeration value="Waterfall"/>
        </xsd:restriction>
      </xsd:simpleType>
    </xsd:element>
    <xsd:element name="Market_x0020_Audience" ma:index="21" nillable="true" ma:displayName="Market Audience" ma:format="Dropdown" ma:internalName="Market_x0020_Audience">
      <xsd:simpleType>
        <xsd:restriction base="dms:Choice">
          <xsd:enumeration value="B2B"/>
          <xsd:enumeration value="B2C"/>
          <xsd:enumeration value="B2B2C"/>
          <xsd:enumeration value="E2E"/>
        </xsd:restriction>
      </xsd:simpleType>
    </xsd:element>
    <xsd:element name="Interaction_x0020_Channels" ma:index="22" nillable="true" ma:displayName="Interaction Channels" ma:internalName="Interaction_x0020_Channels">
      <xsd:complexType>
        <xsd:complexContent>
          <xsd:extension base="dms:MultiChoice">
            <xsd:sequence>
              <xsd:element name="Value" maxOccurs="unbounded" minOccurs="0" nillable="true">
                <xsd:simpleType>
                  <xsd:restriction base="dms:Choice">
                    <xsd:enumeration value="Contact Center"/>
                    <xsd:enumeration value="Email"/>
                    <xsd:enumeration value="Mobile"/>
                    <xsd:enumeration value="Retail"/>
                    <xsd:enumeration value="SMS/Chat"/>
                    <xsd:enumeration value="Social, Facebook"/>
                    <xsd:enumeration value="Social, Twitter"/>
                    <xsd:enumeration value="Web"/>
                  </xsd:restriction>
                </xsd:simpleType>
              </xsd:element>
            </xsd:sequence>
          </xsd:extension>
        </xsd:complexContent>
      </xsd:complexType>
    </xsd:element>
    <xsd:element name="Exponential_x0020_Enablers" ma:index="23" nillable="true" ma:displayName="Exponential Enablers" ma:internalName="Exponential_x0020_Enablers">
      <xsd:complexType>
        <xsd:complexContent>
          <xsd:extension base="dms:MultiChoice">
            <xsd:sequence>
              <xsd:element name="Value" maxOccurs="unbounded" minOccurs="0" nillable="true">
                <xsd:simpleType>
                  <xsd:restriction base="dms:Choice">
                    <xsd:enumeration value="Artificial Intelligence"/>
                    <xsd:enumeration value="Chatbots"/>
                    <xsd:enumeration value="Digital Reality – Augmented, Mixed, and Virtual"/>
                    <xsd:enumeration value="Robotics"/>
                    <xsd:enumeration value="Sensors"/>
                    <xsd:enumeration value="VR, Virtual Reality"/>
                  </xsd:restriction>
                </xsd:simpleType>
              </xsd:element>
            </xsd:sequence>
          </xsd:extension>
        </xsd:complexContent>
      </xsd:complexType>
    </xsd:element>
    <xsd:element name="Approval_x0020_Requirements" ma:index="24" nillable="true" ma:displayName="Approval Requirements" ma:internalName="Approval_x0020_Requirements">
      <xsd:complexType>
        <xsd:complexContent>
          <xsd:extension base="dms:MultiChoice">
            <xsd:sequence>
              <xsd:element name="Value" maxOccurs="unbounded" minOccurs="0" nillable="true">
                <xsd:simpleType>
                  <xsd:restriction base="dms:Choice">
                    <xsd:enumeration value="Internal use only"/>
                    <xsd:enumeration value="Must remove client names before using externally"/>
                    <xsd:enumeration value="Client logo cannot be used"/>
                    <xsd:enumeration value="Must contact LCSP and engagement Partner before using externally"/>
                    <xsd:enumeration value="No approval required / public use approved"/>
                  </xsd:restriction>
                </xsd:simpleType>
              </xsd:element>
            </xsd:sequence>
          </xsd:extension>
        </xsd:complexContent>
      </xsd:complexType>
    </xsd:element>
    <xsd:element name="Client_x0020_Name" ma:index="25" nillable="true" ma:displayName="Client Name" ma:internalName="Client_x0020_Name">
      <xsd:simpleType>
        <xsd:restriction base="dms:Text">
          <xsd:maxLength value="255"/>
        </xsd:restriction>
      </xsd:simpleType>
    </xsd:element>
    <xsd:element name="Special_x0020_Instructions" ma:index="26" nillable="true" ma:displayName="Special Instructions" ma:internalName="Special_x0020_Instructions">
      <xsd:simpleType>
        <xsd:restriction base="dms:Note">
          <xsd:maxLength value="255"/>
        </xsd:restriction>
      </xsd:simpleType>
    </xsd:element>
    <xsd:element name="List_x0020_any_x0020_additional_x0020_keywords_x0020_needed" ma:index="27" nillable="true" ma:displayName="List any additional keywords needed" ma:internalName="List_x0020_any_x0020_additional_x0020_keywords_x0020_needed">
      <xsd:simpleType>
        <xsd:restriction base="dms:Text">
          <xsd:maxLength value="255"/>
        </xsd:restriction>
      </xsd:simpleType>
    </xsd:element>
    <xsd:element name="Client_x0020_audience" ma:index="28" nillable="true" ma:displayName="Client audience" ma:internalName="Client_x0020_audience">
      <xsd:complexType>
        <xsd:complexContent>
          <xsd:extension base="dms:MultiChoice">
            <xsd:sequence>
              <xsd:element name="Value" maxOccurs="unbounded" minOccurs="0" nillable="true">
                <xsd:simpleType>
                  <xsd:restriction base="dms:Choice">
                    <xsd:enumeration value="CEO"/>
                    <xsd:enumeration value="CFO"/>
                    <xsd:enumeration value="Chief Data Officer"/>
                    <xsd:enumeration value="Chief Legal Officer"/>
                    <xsd:enumeration value="Chief Risk Officer"/>
                    <xsd:enumeration value="Chief Security Officer"/>
                    <xsd:enumeration value="Chief Strategy Officer"/>
                    <xsd:enumeration value="CHRO"/>
                    <xsd:enumeration value="CIO"/>
                    <xsd:enumeration value="CMO"/>
                    <xsd:enumeration value="CTO"/>
                    <xsd:enumeration value="Executive Tax Officer"/>
                    <xsd:enumeration value="Head of Applications and Development"/>
                    <xsd:enumeration value="Head of Infrastructure and Architecture"/>
                    <xsd:enumeration value="Head of Program Management"/>
                    <xsd:enumeration value="Head of Sales"/>
                    <xsd:enumeration value="Head of Supply Chain"/>
                    <xsd:enumeration value="Head of Testing / QA"/>
                    <xsd:enumeration value="Multiple C-Suite Audiences"/>
                  </xsd:restriction>
                </xsd:simpleType>
              </xsd:element>
            </xsd:sequence>
          </xsd:extension>
        </xsd:complexContent>
      </xsd:complexType>
    </xsd:element>
    <xsd:element name="Owned_x0020_by_x0020_Marketing_x0020_team" ma:index="29" nillable="true" ma:displayName="Owned by Marketing team" ma:default="0" ma:internalName="Owned_x0020_by_x0020_Marketing_x0020_team">
      <xsd:simpleType>
        <xsd:restriction base="dms:Boolean"/>
      </xsd:simpleType>
    </xsd:element>
    <xsd:element name="Owned_x0020_by_x0020_QMT_x0020_Team" ma:index="30" nillable="true" ma:displayName="Owned by QMT Team" ma:default="0" ma:internalName="Owned_x0020_by_x0020_QMT_x0020_Team">
      <xsd:simpleType>
        <xsd:restriction base="dms:Boolean"/>
      </xsd:simpleType>
    </xsd:element>
    <xsd:element name="Archive_x0020_Date" ma:index="31" nillable="true" ma:displayName="Archive Date" ma:format="DateOnly" ma:internalName="Archive_x0020_Date">
      <xsd:simpleType>
        <xsd:restriction base="dms:DateTime"/>
      </xsd:simpleType>
    </xsd:element>
    <xsd:element name="Date_x0020_of_x0020_Archival" ma:index="32" nillable="true" ma:displayName="Date of Archival" ma:format="DateOnly" ma:internalName="Date_x0020_of_x0020_Archival">
      <xsd:simpleType>
        <xsd:restriction base="dms:DateTime"/>
      </xsd:simpleType>
    </xsd:element>
    <xsd:element name="Archive_x0020_Comments" ma:index="33" nillable="true" ma:displayName="Archive Comments" ma:internalName="Archive_x0020_Comments">
      <xsd:simpleType>
        <xsd:restriction base="dms:Note">
          <xsd:maxLength value="255"/>
        </xsd:restriction>
      </xsd:simpleType>
    </xsd:element>
    <xsd:element name="Indsutry" ma:index="34" nillable="true" ma:displayName="Industry" ma:list="{3721280c-7d2a-46e3-a276-386afc3402af}" ma:internalName="Indsutry" ma:showField="Title">
      <xsd:complexType>
        <xsd:complexContent>
          <xsd:extension base="dms:MultiChoiceLookup">
            <xsd:sequence>
              <xsd:element name="Value" type="dms:Lookup" maxOccurs="unbounded" minOccurs="0" nillable="true"/>
            </xsd:sequence>
          </xsd:extension>
        </xsd:complexContent>
      </xsd:complexType>
    </xsd:element>
    <xsd:element name="Sector" ma:index="35" nillable="true" ma:displayName="Sector" ma:list="{9f959241-0de5-497f-93bc-6743dcc127fd}" ma:internalName="Sector" ma:showField="Title">
      <xsd:complexType>
        <xsd:complexContent>
          <xsd:extension base="dms:MultiChoiceLookup">
            <xsd:sequence>
              <xsd:element name="Value" type="dms:Lookup" maxOccurs="unbounded" minOccurs="0" nillable="true"/>
            </xsd:sequence>
          </xsd:extension>
        </xsd:complexContent>
      </xsd:complexType>
    </xsd:element>
    <xsd:element name="Country" ma:index="37" nillable="true" ma:displayName="Country" ma:default="UNITED STATES" ma:format="Dropdown" ma:internalName="Country">
      <xsd:simpleType>
        <xsd:restriction base="dms:Choice">
          <xsd:enumeration value="UNITED STATES"/>
          <xsd:enumeration value="AUSTRALIA"/>
          <xsd:enumeration value="BELGIUM"/>
          <xsd:enumeration value="CANADA"/>
          <xsd:enumeration value="CENTRAL EUROPE"/>
          <xsd:enumeration value="CHINA"/>
          <xsd:enumeration value="FRANCE"/>
          <xsd:enumeration value="GERMANY"/>
          <xsd:enumeration value="IRELAND"/>
          <xsd:enumeration value="ISRAEL"/>
          <xsd:enumeration value="ITALY"/>
          <xsd:enumeration value="JAPAN"/>
          <xsd:enumeration value="LUXEMBOURG"/>
          <xsd:enumeration value="MALTA"/>
          <xsd:enumeration value="MEXICO"/>
          <xsd:enumeration value="NETHERLANDS"/>
          <xsd:enumeration value="NEW ZEALAND"/>
          <xsd:enumeration value="NORDICS"/>
          <xsd:enumeration value="PORTUGAL"/>
          <xsd:enumeration value="SOUTH AFRICA"/>
          <xsd:enumeration value="SOUTHEAST ASIA"/>
          <xsd:enumeration value="SPAIN"/>
          <xsd:enumeration value="SWITZERLAND"/>
          <xsd:enumeration value="UNITED KINGDOM"/>
          <xsd:enumeration value="INDIA"/>
        </xsd:restriction>
      </xsd:simpleType>
    </xsd:element>
    <xsd:element name="Studios" ma:index="40" nillable="true" ma:displayName="Studios" ma:internalName="Studios">
      <xsd:complexType>
        <xsd:complexContent>
          <xsd:extension base="dms:MultiChoice">
            <xsd:sequence>
              <xsd:element name="Value" maxOccurs="unbounded" minOccurs="0" nillable="true">
                <xsd:simpleType>
                  <xsd:restriction base="dms:Choice">
                    <xsd:enumeration value="Digital Experience"/>
                    <xsd:enumeration value="Heat"/>
                    <xsd:enumeration value="HeatX"/>
                    <xsd:enumeration value="Greensboro Studio"/>
                    <xsd:enumeration value="Doblin"/>
                  </xsd:restriction>
                </xsd:simpleType>
              </xsd:element>
            </xsd:sequence>
          </xsd:extension>
        </xsd:complexContent>
      </xsd:complexType>
    </xsd:element>
    <xsd:element name="Sort_x0020_Order" ma:index="41" nillable="true" ma:displayName="Sort Order" ma:internalName="Sort_x0020_Order">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3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Asset Nam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Submitter_x0020_Name xmlns="3a90c32c-a72d-43b1-b654-bba8c32019ef">
      <UserInfo>
        <DisplayName/>
        <AccountId xsi:nil="true"/>
        <AccountType/>
      </UserInfo>
    </Submitter_x0020_Name>
    <Market_x0020_Audience xmlns="3a90c32c-a72d-43b1-b654-bba8c32019ef" xsi:nil="true"/>
    <Interaction_x0020_Channels xmlns="3a90c32c-a72d-43b1-b654-bba8c32019ef"/>
    <Owned_x0020_by_x0020_Marketing_x0020_team xmlns="3a90c32c-a72d-43b1-b654-bba8c32019ef">true</Owned_x0020_by_x0020_Marketing_x0020_team>
    <Sector xmlns="3a90c32c-a72d-43b1-b654-bba8c32019ef"/>
    <Country xmlns="3a90c32c-a72d-43b1-b654-bba8c32019ef">UNITED STATES</Country>
    <Archive_x0020_Date xmlns="3a90c32c-a72d-43b1-b654-bba8c32019ef" xsi:nil="true"/>
    <Video_x0020_Type xmlns="3a90c32c-a72d-43b1-b654-bba8c32019ef"/>
    <Sub_x002d_Capability xmlns="3a90c32c-a72d-43b1-b654-bba8c32019ef"/>
    <IconOverlay xmlns="http://schemas.microsoft.com/sharepoint/v4" xsi:nil="true"/>
    <Description0 xmlns="3a90c32c-a72d-43b1-b654-bba8c32019ef">This is the official 16:9 Deloitte Digital PowerPoint template. Please install the DD Brand Fonts before you use the template. [DD Brand Asset]</Description0>
    <Client_x0020_Name xmlns="3a90c32c-a72d-43b1-b654-bba8c32019ef" xsi:nil="true"/>
    <Alliance_x0020__x002f__x0020_Technology xmlns="3a90c32c-a72d-43b1-b654-bba8c32019ef"/>
    <Date_x0020_of_x0020_Submission xmlns="3a90c32c-a72d-43b1-b654-bba8c32019ef" xsi:nil="true"/>
    <Tools_x002c__x0020_Frameworks xmlns="3a90c32c-a72d-43b1-b654-bba8c32019ef"/>
    <Special_x0020_Instructions xmlns="3a90c32c-a72d-43b1-b654-bba8c32019ef" xsi:nil="true"/>
    <Asset_x0020_Type xmlns="3a90c32c-a72d-43b1-b654-bba8c32019ef">
      <Value>Template / Time Saver / Accelerator / Framework</Value>
    </Asset_x0020_Type>
    <Exponential_x0020_Enablers xmlns="3a90c32c-a72d-43b1-b654-bba8c32019ef"/>
    <Asset_x0020_Sponsor_x0028_s_x0029_ xmlns="3a90c32c-a72d-43b1-b654-bba8c32019ef">
      <UserInfo>
        <DisplayName/>
        <AccountId xsi:nil="true"/>
        <AccountType/>
      </UserInfo>
    </Asset_x0020_Sponsor_x0028_s_x0029_>
    <Capability xmlns="3a90c32c-a72d-43b1-b654-bba8c32019ef"/>
    <List_x0020_any_x0020_additional_x0020_keywords_x0020_needed xmlns="3a90c32c-a72d-43b1-b654-bba8c32019ef" xsi:nil="true"/>
    <Client_x0020_audience xmlns="3a90c32c-a72d-43b1-b654-bba8c32019ef"/>
    <FormData xmlns="http://schemas.microsoft.com/sharepoint/v3">&lt;?xml version="1.0" encoding="utf-8"?&gt;&lt;FormVariables&gt;&lt;Version /&gt;&lt;/FormVariables&gt;</FormData>
    <Asset_x0020_Last_x0020_Modified_x0020_Date xmlns="3a90c32c-a72d-43b1-b654-bba8c32019ef">8/29/17</Asset_x0020_Last_x0020_Modified_x0020_Date>
    <Sort_x0020_Order xmlns="3a90c32c-a72d-43b1-b654-bba8c32019ef" xsi:nil="true"/>
    <Author_x0020_or_x0020_Owner_x0020_of_x0020_Asset xmlns="3a90c32c-a72d-43b1-b654-bba8c32019ef">
      <UserInfo>
        <DisplayName/>
        <AccountId xsi:nil="true"/>
        <AccountType/>
      </UserInfo>
    </Author_x0020_or_x0020_Owner_x0020_of_x0020_Asset>
    <Date_x0020_of_x0020_Archival xmlns="3a90c32c-a72d-43b1-b654-bba8c32019ef" xsi:nil="true"/>
    <Indsutry xmlns="3a90c32c-a72d-43b1-b654-bba8c32019ef"/>
    <Archive_x0020_Comments xmlns="3a90c32c-a72d-43b1-b654-bba8c32019ef" xsi:nil="true"/>
    <Studios xmlns="3a90c32c-a72d-43b1-b654-bba8c32019ef"/>
    <Methodology xmlns="3a90c32c-a72d-43b1-b654-bba8c32019ef" xsi:nil="true"/>
    <Approval_x0020_Requirements xmlns="3a90c32c-a72d-43b1-b654-bba8c32019ef">
      <Value>No approval required / public use approved</Value>
    </Approval_x0020_Requirements>
    <Owned_x0020_by_x0020_QMT_x0020_Team xmlns="3a90c32c-a72d-43b1-b654-bba8c32019ef">false</Owned_x0020_by_x0020_QMT_x0020_Team>
  </documentManagement>
</p:properties>
</file>

<file path=customXml/itemProps1.xml><?xml version="1.0" encoding="utf-8"?>
<ds:datastoreItem xmlns:ds="http://schemas.openxmlformats.org/officeDocument/2006/customXml" ds:itemID="{68A8E4BE-C77D-4873-BF82-DC5D216CCA96}">
  <ds:schemaRefs>
    <ds:schemaRef ds:uri="http://schemas.microsoft.com/sharepoint/v3/contenttype/forms"/>
  </ds:schemaRefs>
</ds:datastoreItem>
</file>

<file path=customXml/itemProps2.xml><?xml version="1.0" encoding="utf-8"?>
<ds:datastoreItem xmlns:ds="http://schemas.openxmlformats.org/officeDocument/2006/customXml" ds:itemID="{B3E6E86D-4D38-43A0-9F87-A970FAEA1145}">
  <ds:schemaRefs/>
</ds:datastoreItem>
</file>

<file path=customXml/itemProps3.xml><?xml version="1.0" encoding="utf-8"?>
<ds:datastoreItem xmlns:ds="http://schemas.openxmlformats.org/officeDocument/2006/customXml" ds:itemID="{CEAD5D96-5365-42A3-9E78-1738760FF3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a90c32c-a72d-43b1-b654-bba8c32019ef"/>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DE3A1B6-05E9-4C78-AFA4-D86EC54658AA}">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http://schemas.microsoft.com/sharepoint/v4"/>
    <ds:schemaRef ds:uri="http://www.w3.org/XML/1998/namespace"/>
    <ds:schemaRef ds:uri="http://schemas.microsoft.com/office/infopath/2007/PartnerControls"/>
    <ds:schemaRef ds:uri="3a90c32c-a72d-43b1-b654-bba8c32019ef"/>
    <ds:schemaRef ds:uri="http://schemas.microsoft.com/sharepoint/v3"/>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10662</TotalTime>
  <Words>408</Words>
  <Application>Microsoft Macintosh PowerPoint</Application>
  <PresentationFormat>Widescreen</PresentationFormat>
  <Paragraphs>53</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Chronicle Display Black</vt:lpstr>
      <vt:lpstr>Nexa Black</vt:lpstr>
      <vt:lpstr>Open Sans</vt:lpstr>
      <vt:lpstr>Open Sans bold</vt:lpstr>
      <vt:lpstr>Open Sans Extrabold</vt:lpstr>
      <vt:lpstr>Open Sans Light</vt:lpstr>
      <vt:lpstr>DD Template Aug 2017 16x9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 Presentation Template - 16x9 (.potx)</dc:title>
  <dc:creator>Microsoft Office User</dc:creator>
  <cp:lastModifiedBy>Delouvee, Julien</cp:lastModifiedBy>
  <cp:revision>544</cp:revision>
  <cp:lastPrinted>2016-05-03T17:15:39Z</cp:lastPrinted>
  <dcterms:created xsi:type="dcterms:W3CDTF">2016-11-14T19:17:18Z</dcterms:created>
  <dcterms:modified xsi:type="dcterms:W3CDTF">2024-11-01T13:58:51Z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0x0101009F82DE041937A7498CF31180CBB1B6F7</vt:lpwstr>
  </property>
  <property fmtid="{D5CDD505-2E9C-101B-9397-08002B2CF9AE}" pid="3" name="MSIP_Label_ea60d57e-af5b-4752-ac57-3e4f28ca11dc_Enabled">
    <vt:lpwstr>true</vt:lpwstr>
  </property>
  <property fmtid="{D5CDD505-2E9C-101B-9397-08002B2CF9AE}" pid="4" name="MSIP_Label_ea60d57e-af5b-4752-ac57-3e4f28ca11dc_SetDate">
    <vt:lpwstr>2021-09-28T14:46:15Z</vt:lpwstr>
  </property>
  <property fmtid="{D5CDD505-2E9C-101B-9397-08002B2CF9AE}" pid="5" name="MSIP_Label_ea60d57e-af5b-4752-ac57-3e4f28ca11dc_Method">
    <vt:lpwstr>Privileged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e57d061b-3f64-4923-8743-978da6cc1f59</vt:lpwstr>
  </property>
  <property fmtid="{D5CDD505-2E9C-101B-9397-08002B2CF9AE}" pid="9" name="MSIP_Label_ea60d57e-af5b-4752-ac57-3e4f28ca11dc_ContentBits">
    <vt:lpwstr>0</vt:lpwstr>
  </property>
</Properties>
</file>