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7" r:id="rId7"/>
    <p:sldId id="26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A39E11-4171-4EDD-A9A5-C323A37BDA54}" v="9" dt="2024-06-12T12:51:08.3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9"/>
    <p:restoredTop sz="94651"/>
  </p:normalViewPr>
  <p:slideViewPr>
    <p:cSldViewPr snapToGrid="0">
      <p:cViewPr varScale="1">
        <p:scale>
          <a:sx n="110" d="100"/>
          <a:sy n="110"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ahraoui, Jad" userId="S::jezahraoui@deloitte.fr::553b8a31-12f4-40aa-b1c7-fdd85a009789" providerId="AD" clId="Web-{1E2CB26B-7224-4746-AC83-8131CADB0A8D}"/>
    <pc:docChg chg="modSld">
      <pc:chgData name="Ezahraoui, Jad" userId="S::jezahraoui@deloitte.fr::553b8a31-12f4-40aa-b1c7-fdd85a009789" providerId="AD" clId="Web-{1E2CB26B-7224-4746-AC83-8131CADB0A8D}" dt="2022-05-17T12:15:46.528" v="0" actId="20577"/>
      <pc:docMkLst>
        <pc:docMk/>
      </pc:docMkLst>
      <pc:sldChg chg="modSp">
        <pc:chgData name="Ezahraoui, Jad" userId="S::jezahraoui@deloitte.fr::553b8a31-12f4-40aa-b1c7-fdd85a009789" providerId="AD" clId="Web-{1E2CB26B-7224-4746-AC83-8131CADB0A8D}" dt="2022-05-17T12:15:46.528" v="0" actId="20577"/>
        <pc:sldMkLst>
          <pc:docMk/>
          <pc:sldMk cId="3488203601" sldId="256"/>
        </pc:sldMkLst>
        <pc:spChg chg="mod">
          <ac:chgData name="Ezahraoui, Jad" userId="S::jezahraoui@deloitte.fr::553b8a31-12f4-40aa-b1c7-fdd85a009789" providerId="AD" clId="Web-{1E2CB26B-7224-4746-AC83-8131CADB0A8D}" dt="2022-05-17T12:15:46.528" v="0" actId="20577"/>
          <ac:spMkLst>
            <pc:docMk/>
            <pc:sldMk cId="3488203601" sldId="256"/>
            <ac:spMk id="17" creationId="{707306AB-9288-4E06-8577-D0E76F3D6640}"/>
          </ac:spMkLst>
        </pc:spChg>
      </pc:sldChg>
    </pc:docChg>
  </pc:docChgLst>
  <pc:docChgLst>
    <pc:chgData name="Ezahraoui, Jad" userId="553b8a31-12f4-40aa-b1c7-fdd85a009789" providerId="ADAL" clId="{DBAB9370-03C5-49DC-B85E-97554990495C}"/>
    <pc:docChg chg="custSel modSld">
      <pc:chgData name="Ezahraoui, Jad" userId="553b8a31-12f4-40aa-b1c7-fdd85a009789" providerId="ADAL" clId="{DBAB9370-03C5-49DC-B85E-97554990495C}" dt="2022-08-01T13:27:29.044" v="59" actId="313"/>
      <pc:docMkLst>
        <pc:docMk/>
      </pc:docMkLst>
      <pc:sldChg chg="modSp mod">
        <pc:chgData name="Ezahraoui, Jad" userId="553b8a31-12f4-40aa-b1c7-fdd85a009789" providerId="ADAL" clId="{DBAB9370-03C5-49DC-B85E-97554990495C}" dt="2022-08-01T13:27:29.044" v="59" actId="313"/>
        <pc:sldMkLst>
          <pc:docMk/>
          <pc:sldMk cId="3488203601" sldId="256"/>
        </pc:sldMkLst>
        <pc:spChg chg="mod">
          <ac:chgData name="Ezahraoui, Jad" userId="553b8a31-12f4-40aa-b1c7-fdd85a009789" providerId="ADAL" clId="{DBAB9370-03C5-49DC-B85E-97554990495C}" dt="2022-08-01T13:27:09.543" v="53" actId="1036"/>
          <ac:spMkLst>
            <pc:docMk/>
            <pc:sldMk cId="3488203601" sldId="256"/>
            <ac:spMk id="4" creationId="{A94ADD73-8E48-4C3D-B5A9-19D15C4D14A4}"/>
          </ac:spMkLst>
        </pc:spChg>
        <pc:spChg chg="mod">
          <ac:chgData name="Ezahraoui, Jad" userId="553b8a31-12f4-40aa-b1c7-fdd85a009789" providerId="ADAL" clId="{DBAB9370-03C5-49DC-B85E-97554990495C}" dt="2022-08-01T13:27:09.543" v="53" actId="1036"/>
          <ac:spMkLst>
            <pc:docMk/>
            <pc:sldMk cId="3488203601" sldId="256"/>
            <ac:spMk id="5" creationId="{4AB407E3-150F-45C8-9E3F-D7F3860A7C8F}"/>
          </ac:spMkLst>
        </pc:spChg>
        <pc:spChg chg="mod">
          <ac:chgData name="Ezahraoui, Jad" userId="553b8a31-12f4-40aa-b1c7-fdd85a009789" providerId="ADAL" clId="{DBAB9370-03C5-49DC-B85E-97554990495C}" dt="2022-08-01T13:27:15.109" v="58" actId="20577"/>
          <ac:spMkLst>
            <pc:docMk/>
            <pc:sldMk cId="3488203601" sldId="256"/>
            <ac:spMk id="14" creationId="{A94DBA40-5FAD-4037-97B3-68A8FEC0A519}"/>
          </ac:spMkLst>
        </pc:spChg>
        <pc:spChg chg="mod">
          <ac:chgData name="Ezahraoui, Jad" userId="553b8a31-12f4-40aa-b1c7-fdd85a009789" providerId="ADAL" clId="{DBAB9370-03C5-49DC-B85E-97554990495C}" dt="2022-08-01T13:27:29.044" v="59" actId="313"/>
          <ac:spMkLst>
            <pc:docMk/>
            <pc:sldMk cId="3488203601" sldId="256"/>
            <ac:spMk id="15" creationId="{54D436DF-4FA5-4DA6-A1AA-C39A975A0011}"/>
          </ac:spMkLst>
        </pc:spChg>
        <pc:cxnChg chg="mod">
          <ac:chgData name="Ezahraoui, Jad" userId="553b8a31-12f4-40aa-b1c7-fdd85a009789" providerId="ADAL" clId="{DBAB9370-03C5-49DC-B85E-97554990495C}" dt="2022-08-01T13:27:09.543" v="53" actId="1036"/>
          <ac:cxnSpMkLst>
            <pc:docMk/>
            <pc:sldMk cId="3488203601" sldId="256"/>
            <ac:cxnSpMk id="20" creationId="{F5932663-D82C-43E8-9183-0FAEA866FBDA}"/>
          </ac:cxnSpMkLst>
        </pc:cxnChg>
      </pc:sldChg>
    </pc:docChg>
  </pc:docChgLst>
  <pc:docChgLst>
    <pc:chgData name="Ezahraoui, Jad" userId="S::jezahraoui@deloitte.fr::553b8a31-12f4-40aa-b1c7-fdd85a009789" providerId="AD" clId="Web-{98A39E11-4171-4EDD-A9A5-C323A37BDA54}"/>
    <pc:docChg chg="modSld">
      <pc:chgData name="Ezahraoui, Jad" userId="S::jezahraoui@deloitte.fr::553b8a31-12f4-40aa-b1c7-fdd85a009789" providerId="AD" clId="Web-{98A39E11-4171-4EDD-A9A5-C323A37BDA54}" dt="2024-06-12T12:51:07.600" v="2" actId="20577"/>
      <pc:docMkLst>
        <pc:docMk/>
      </pc:docMkLst>
      <pc:sldChg chg="modSp">
        <pc:chgData name="Ezahraoui, Jad" userId="S::jezahraoui@deloitte.fr::553b8a31-12f4-40aa-b1c7-fdd85a009789" providerId="AD" clId="Web-{98A39E11-4171-4EDD-A9A5-C323A37BDA54}" dt="2024-06-12T12:51:01.991" v="0" actId="20577"/>
        <pc:sldMkLst>
          <pc:docMk/>
          <pc:sldMk cId="3488203601" sldId="256"/>
        </pc:sldMkLst>
        <pc:spChg chg="mod">
          <ac:chgData name="Ezahraoui, Jad" userId="S::jezahraoui@deloitte.fr::553b8a31-12f4-40aa-b1c7-fdd85a009789" providerId="AD" clId="Web-{98A39E11-4171-4EDD-A9A5-C323A37BDA54}" dt="2024-06-12T12:51:01.991" v="0" actId="20577"/>
          <ac:spMkLst>
            <pc:docMk/>
            <pc:sldMk cId="3488203601" sldId="256"/>
            <ac:spMk id="9" creationId="{E1F349DE-E47F-43C1-BD19-7079D4A410A8}"/>
          </ac:spMkLst>
        </pc:spChg>
      </pc:sldChg>
      <pc:sldChg chg="modSp">
        <pc:chgData name="Ezahraoui, Jad" userId="S::jezahraoui@deloitte.fr::553b8a31-12f4-40aa-b1c7-fdd85a009789" providerId="AD" clId="Web-{98A39E11-4171-4EDD-A9A5-C323A37BDA54}" dt="2024-06-12T12:51:07.600" v="2" actId="20577"/>
        <pc:sldMkLst>
          <pc:docMk/>
          <pc:sldMk cId="577146825" sldId="257"/>
        </pc:sldMkLst>
        <pc:spChg chg="mod">
          <ac:chgData name="Ezahraoui, Jad" userId="S::jezahraoui@deloitte.fr::553b8a31-12f4-40aa-b1c7-fdd85a009789" providerId="AD" clId="Web-{98A39E11-4171-4EDD-A9A5-C323A37BDA54}" dt="2024-06-12T12:51:07.600" v="2" actId="20577"/>
          <ac:spMkLst>
            <pc:docMk/>
            <pc:sldMk cId="577146825" sldId="257"/>
            <ac:spMk id="9" creationId="{C30CEAB3-CA5F-8EC9-1A97-45F8BFB51EA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13F02-17CE-461E-90CB-A16E723B7E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80484059-A81F-47DE-B000-555D70855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C7CC0256-24FE-4556-928A-F9253B739719}"/>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D722093A-842B-4527-A3FB-DABA17F7C53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39CA4CB-9BB8-4CD5-A4CB-5CF7708D46F8}"/>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31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EF27-5B16-4B64-A5B3-47C69AF98A20}"/>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712431A3-2D7A-40B5-ADDA-EB4B39CFD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D7C8AE0F-4BB9-4E9B-A890-35AF98B741F6}"/>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EFAEA719-31CA-465E-AF65-FF984D5E12D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065A5BC-C990-4E63-A136-06C09DC8125F}"/>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348916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982DB-64B8-4E28-A9A2-FEDFAFF2F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4C4A6A25-9FD9-438D-8802-73679ACE45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506607-7B6D-4B9F-9686-471534D22B95}"/>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58EE20F4-250E-4E51-B5AE-3E710659809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8FCF3D1-A8E7-495D-8668-161EEAAC7822}"/>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650289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9EF1-4B24-4287-958C-24A1429F16B0}"/>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168F227-D2F6-4CD2-8485-2B7DF666C8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8D3AFB1B-B6F3-49DE-9AAF-4C08E661A3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AA5397E2-62D7-4C23-8EEC-3116ED58ADF7}"/>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6" name="Footer Placeholder 5">
            <a:extLst>
              <a:ext uri="{FF2B5EF4-FFF2-40B4-BE49-F238E27FC236}">
                <a16:creationId xmlns:a16="http://schemas.microsoft.com/office/drawing/2014/main" id="{08BAEBAF-8943-424B-9139-A28E0F3C2B70}"/>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3B88E00-C9AF-4699-9776-F05F20801168}"/>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1993158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53F19-1562-481D-BD5A-C0F03DA073A8}"/>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08573601-37CE-4B98-9F64-2679429E6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6A97F1-3025-4E01-8F57-2886D66C1C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A4B7152F-5ADC-4E4B-BB7C-4B9BCE403D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EE57D0-5EFB-4678-8A2B-7661D2F6DE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74B1645F-1CF4-4ED3-96BF-52CAB6439168}"/>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8" name="Footer Placeholder 7">
            <a:extLst>
              <a:ext uri="{FF2B5EF4-FFF2-40B4-BE49-F238E27FC236}">
                <a16:creationId xmlns:a16="http://schemas.microsoft.com/office/drawing/2014/main" id="{8FD27B27-4C12-450A-AE51-E03239C67ACD}"/>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69976448-B16F-414F-BADF-30D648F275B6}"/>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171079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B67C2-627C-40F9-85FE-A0085745DEE5}"/>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BA343F81-D2A3-451A-BDAE-3C4B12035D7E}"/>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4" name="Footer Placeholder 3">
            <a:extLst>
              <a:ext uri="{FF2B5EF4-FFF2-40B4-BE49-F238E27FC236}">
                <a16:creationId xmlns:a16="http://schemas.microsoft.com/office/drawing/2014/main" id="{CFCB6223-46BE-4E1E-9EB0-A9AD9F9F2AA6}"/>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B13003B9-5056-43F4-93BC-3ABB209E403D}"/>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917372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79C63-A228-4B18-A3E6-933C87B9F8C0}"/>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3" name="Footer Placeholder 2">
            <a:extLst>
              <a:ext uri="{FF2B5EF4-FFF2-40B4-BE49-F238E27FC236}">
                <a16:creationId xmlns:a16="http://schemas.microsoft.com/office/drawing/2014/main" id="{00F41C2A-5115-48FC-B873-3A491A9AA346}"/>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763090FE-9288-4D00-9026-801BC12A1AA0}"/>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2103851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1D36-6579-468D-864F-DF1266A78E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0BA69250-1C8E-4C7D-AE53-D27F4BF0A8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B675831E-D44D-4AE1-81EC-2AC81F66D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47C10D-D526-4290-8166-2A1EA2FD3E55}"/>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6" name="Footer Placeholder 5">
            <a:extLst>
              <a:ext uri="{FF2B5EF4-FFF2-40B4-BE49-F238E27FC236}">
                <a16:creationId xmlns:a16="http://schemas.microsoft.com/office/drawing/2014/main" id="{3410BA48-8442-487B-BE36-4C0BCA999315}"/>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E5675B86-26AB-47A3-A3F8-DEFE5189A559}"/>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200329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FA13-CD88-4DBE-AD4A-97BF4DFE59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0A9F3B88-A741-4475-B1F7-9A754BFF49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2DAE627D-015B-403E-9ABC-FB9221ABD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DFE35-A994-43CF-B34F-8A8E984B0F2E}"/>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6" name="Footer Placeholder 5">
            <a:extLst>
              <a:ext uri="{FF2B5EF4-FFF2-40B4-BE49-F238E27FC236}">
                <a16:creationId xmlns:a16="http://schemas.microsoft.com/office/drawing/2014/main" id="{5B9AAB04-C7F8-4DC2-8A55-60DC20E427A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FA38567-07D2-4706-8C77-3E8FF4BF2190}"/>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3252703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67E4-6D79-4583-836D-8DFE763DCE57}"/>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DAE98C93-7172-4E38-81EF-783EEC975C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B666FCC-51AA-47A5-9EE1-10DF18A23C1A}"/>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D0D848D9-FF3C-4EEA-AEC2-61C977D7E27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9426D793-C0EE-4BC3-9AAB-4437F77242A1}"/>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1102801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309D80-FB70-488F-81EC-0105956CC1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32E9D35C-900B-4E1B-8C0E-5620EDAF88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DDED56D-E55A-4D1A-AEBB-AA2DF741C2AA}"/>
              </a:ext>
            </a:extLst>
          </p:cNvPr>
          <p:cNvSpPr>
            <a:spLocks noGrp="1"/>
          </p:cNvSpPr>
          <p:nvPr>
            <p:ph type="dt" sz="half" idx="10"/>
          </p:nvPr>
        </p:nvSpPr>
        <p:spPr/>
        <p:txBody>
          <a:body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973677C8-9418-43ED-880E-11DAD253F67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C8F8400-19FE-42BF-8AC4-7358E3979481}"/>
              </a:ext>
            </a:extLst>
          </p:cNvPr>
          <p:cNvSpPr>
            <a:spLocks noGrp="1"/>
          </p:cNvSpPr>
          <p:nvPr>
            <p:ph type="sldNum" sz="quarter" idx="12"/>
          </p:nvPr>
        </p:nvSpPr>
        <p:spPr/>
        <p:txBody>
          <a:bodyPr/>
          <a:lstStyle/>
          <a:p>
            <a:fld id="{9B417123-4C11-4D83-BE32-3B8887203C40}" type="slidenum">
              <a:rPr lang="fr-FR" smtClean="0"/>
              <a:t>‹N°›</a:t>
            </a:fld>
            <a:endParaRPr lang="fr-FR"/>
          </a:p>
        </p:txBody>
      </p:sp>
    </p:spTree>
    <p:extLst>
      <p:ext uri="{BB962C8B-B14F-4D97-AF65-F5344CB8AC3E}">
        <p14:creationId xmlns:p14="http://schemas.microsoft.com/office/powerpoint/2010/main" val="326529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839AB5-8DF6-4943-BAB1-5E32AD521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5B17F705-0136-4EBA-8E05-9108B6F1E2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1C54842-FEB0-4B31-BB93-B40396F15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544B7C-9185-45B1-9B40-3CA1E8735D7D}" type="datetimeFigureOut">
              <a:rPr lang="fr-FR" smtClean="0"/>
              <a:t>28/08/2025</a:t>
            </a:fld>
            <a:endParaRPr lang="fr-FR"/>
          </a:p>
        </p:txBody>
      </p:sp>
      <p:sp>
        <p:nvSpPr>
          <p:cNvPr id="5" name="Footer Placeholder 4">
            <a:extLst>
              <a:ext uri="{FF2B5EF4-FFF2-40B4-BE49-F238E27FC236}">
                <a16:creationId xmlns:a16="http://schemas.microsoft.com/office/drawing/2014/main" id="{BD990C11-6FEC-4B9C-BE04-5EDAEE7129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9BB0F31F-334E-4156-977A-A136C9D36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417123-4C11-4D83-BE32-3B8887203C40}" type="slidenum">
              <a:rPr lang="fr-FR" smtClean="0"/>
              <a:t>‹N°›</a:t>
            </a:fld>
            <a:endParaRPr lang="fr-FR"/>
          </a:p>
        </p:txBody>
      </p:sp>
    </p:spTree>
    <p:extLst>
      <p:ext uri="{BB962C8B-B14F-4D97-AF65-F5344CB8AC3E}">
        <p14:creationId xmlns:p14="http://schemas.microsoft.com/office/powerpoint/2010/main" val="1859877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bout…">
            <a:extLst>
              <a:ext uri="{FF2B5EF4-FFF2-40B4-BE49-F238E27FC236}">
                <a16:creationId xmlns:a16="http://schemas.microsoft.com/office/drawing/2014/main" id="{A94ADD73-8E48-4C3D-B5A9-19D15C4D14A4}"/>
              </a:ext>
            </a:extLst>
          </p:cNvPr>
          <p:cNvSpPr txBox="1"/>
          <p:nvPr/>
        </p:nvSpPr>
        <p:spPr>
          <a:xfrm>
            <a:off x="2885996" y="6145675"/>
            <a:ext cx="4099595" cy="22865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Français</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 </a:t>
            </a: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Anglais</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 </a:t>
            </a: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Arabe</a:t>
            </a:r>
            <a:endParaRPr lang="fr-FR" sz="1000">
              <a:solidFill>
                <a:srgbClr val="000000"/>
              </a:solidFill>
              <a:ea typeface="Open Sans Extrabold" panose="020B0906030804020204" pitchFamily="34" charset="0"/>
              <a:cs typeface="Open Sans Extrabold" panose="020B0906030804020204" pitchFamily="34" charset="0"/>
            </a:endParaRPr>
          </a:p>
        </p:txBody>
      </p:sp>
      <p:sp>
        <p:nvSpPr>
          <p:cNvPr id="5" name="About…">
            <a:extLst>
              <a:ext uri="{FF2B5EF4-FFF2-40B4-BE49-F238E27FC236}">
                <a16:creationId xmlns:a16="http://schemas.microsoft.com/office/drawing/2014/main" id="{4AB407E3-150F-45C8-9E3F-D7F3860A7C8F}"/>
              </a:ext>
            </a:extLst>
          </p:cNvPr>
          <p:cNvSpPr txBox="1"/>
          <p:nvPr/>
        </p:nvSpPr>
        <p:spPr>
          <a:xfrm>
            <a:off x="3341341" y="5901623"/>
            <a:ext cx="1874398"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Langues</a:t>
            </a:r>
          </a:p>
        </p:txBody>
      </p:sp>
      <p:pic>
        <p:nvPicPr>
          <p:cNvPr id="6" name="Picture 20">
            <a:extLst>
              <a:ext uri="{FF2B5EF4-FFF2-40B4-BE49-F238E27FC236}">
                <a16:creationId xmlns:a16="http://schemas.microsoft.com/office/drawing/2014/main" id="{C3C8AC21-A6B8-407A-B253-B07A085853F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3"/>
          <a:stretch/>
        </p:blipFill>
        <p:spPr>
          <a:xfrm>
            <a:off x="11840783" y="0"/>
            <a:ext cx="351217" cy="6858000"/>
          </a:xfrm>
          <a:prstGeom prst="rect">
            <a:avLst/>
          </a:prstGeom>
        </p:spPr>
      </p:pic>
      <p:sp>
        <p:nvSpPr>
          <p:cNvPr id="7" name="Studio Lead">
            <a:extLst>
              <a:ext uri="{FF2B5EF4-FFF2-40B4-BE49-F238E27FC236}">
                <a16:creationId xmlns:a16="http://schemas.microsoft.com/office/drawing/2014/main" id="{58F885ED-4AB9-4801-ADFC-F03C6ECFF562}"/>
              </a:ext>
            </a:extLst>
          </p:cNvPr>
          <p:cNvSpPr txBox="1"/>
          <p:nvPr/>
        </p:nvSpPr>
        <p:spPr>
          <a:xfrm>
            <a:off x="497603" y="4728783"/>
            <a:ext cx="1826286"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1000" dirty="0"/>
              <a:t>Senior </a:t>
            </a:r>
            <a:r>
              <a:rPr lang="fr-FR" sz="1000" dirty="0" err="1"/>
              <a:t>Specialist</a:t>
            </a:r>
            <a:endParaRPr lang="fr-FR" sz="1000" dirty="0"/>
          </a:p>
        </p:txBody>
      </p:sp>
      <p:sp>
        <p:nvSpPr>
          <p:cNvPr id="8" name="Deloitte Digital…">
            <a:extLst>
              <a:ext uri="{FF2B5EF4-FFF2-40B4-BE49-F238E27FC236}">
                <a16:creationId xmlns:a16="http://schemas.microsoft.com/office/drawing/2014/main" id="{3B14E5B6-1DC4-45DE-9453-623BF960DEE2}"/>
              </a:ext>
            </a:extLst>
          </p:cNvPr>
          <p:cNvSpPr txBox="1"/>
          <p:nvPr/>
        </p:nvSpPr>
        <p:spPr>
          <a:xfrm>
            <a:off x="499867" y="5256548"/>
            <a:ext cx="1824022" cy="5498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gn="l">
              <a:lnSpc>
                <a:spcPct val="110000"/>
              </a:lnSpc>
              <a:defRPr sz="2200" b="0">
                <a:latin typeface="Open Sans Bold"/>
                <a:ea typeface="Open Sans Bold"/>
                <a:cs typeface="Open Sans Bold"/>
                <a:sym typeface="Open Sans Bold"/>
              </a:defRPr>
            </a:pPr>
            <a:r>
              <a:rPr sz="1000" dirty="0"/>
              <a:t>Deloitte Digital</a:t>
            </a:r>
          </a:p>
          <a:p>
            <a:pPr>
              <a:lnSpc>
                <a:spcPct val="110000"/>
              </a:lnSpc>
              <a:defRPr sz="2200" b="0">
                <a:latin typeface="Open Sans"/>
                <a:ea typeface="Open Sans"/>
                <a:cs typeface="Open Sans"/>
                <a:sym typeface="Open Sans"/>
              </a:defRPr>
            </a:pPr>
            <a:r>
              <a:rPr lang="fr-FR" sz="1000" dirty="0"/>
              <a:t>+33 7 88 32 15 94</a:t>
            </a:r>
          </a:p>
          <a:p>
            <a:pPr>
              <a:lnSpc>
                <a:spcPct val="110000"/>
              </a:lnSpc>
              <a:defRPr sz="2200" b="0">
                <a:latin typeface="Open Sans"/>
                <a:ea typeface="Open Sans"/>
                <a:cs typeface="Open Sans"/>
                <a:sym typeface="Open Sans"/>
              </a:defRPr>
            </a:pPr>
            <a:r>
              <a:rPr lang="fr-FR" sz="1000" dirty="0" err="1"/>
              <a:t>jezahraoui</a:t>
            </a:r>
            <a:r>
              <a:rPr sz="1000" dirty="0"/>
              <a:t>@</a:t>
            </a:r>
            <a:r>
              <a:rPr sz="1000" dirty="0" err="1"/>
              <a:t>deloitte.fr</a:t>
            </a:r>
            <a:endParaRPr sz="1000" dirty="0"/>
          </a:p>
        </p:txBody>
      </p:sp>
      <p:sp>
        <p:nvSpPr>
          <p:cNvPr id="9" name="About…">
            <a:extLst>
              <a:ext uri="{FF2B5EF4-FFF2-40B4-BE49-F238E27FC236}">
                <a16:creationId xmlns:a16="http://schemas.microsoft.com/office/drawing/2014/main" id="{E1F349DE-E47F-43C1-BD19-7079D4A410A8}"/>
              </a:ext>
            </a:extLst>
          </p:cNvPr>
          <p:cNvSpPr txBox="1"/>
          <p:nvPr/>
        </p:nvSpPr>
        <p:spPr>
          <a:xfrm>
            <a:off x="2753414" y="1050292"/>
            <a:ext cx="4232177" cy="1376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a:lnSpc>
                <a:spcPts val="1300"/>
              </a:lnSpc>
            </a:pPr>
            <a:r>
              <a:rPr lang="fr-FR" sz="1000" dirty="0">
                <a:solidFill>
                  <a:srgbClr val="000000"/>
                </a:solidFill>
                <a:latin typeface="Open Sans Light"/>
                <a:ea typeface="Open Sans Light"/>
                <a:cs typeface="Open Sans Light"/>
              </a:rPr>
              <a:t>Jad est Senior </a:t>
            </a:r>
            <a:r>
              <a:rPr lang="fr-FR" sz="1000" dirty="0" err="1">
                <a:solidFill>
                  <a:srgbClr val="000000"/>
                </a:solidFill>
                <a:latin typeface="Open Sans Light"/>
                <a:ea typeface="Open Sans Light"/>
                <a:cs typeface="Open Sans Light"/>
              </a:rPr>
              <a:t>Specialist</a:t>
            </a:r>
            <a:r>
              <a:rPr lang="fr-FR" sz="1000" dirty="0">
                <a:solidFill>
                  <a:srgbClr val="000000"/>
                </a:solidFill>
                <a:latin typeface="Open Sans Light"/>
                <a:ea typeface="Open Sans Light"/>
                <a:cs typeface="Open Sans Light"/>
              </a:rPr>
              <a:t> au sein de Deloitte Digital en France. Compétent dans la conception et le développement d'architectures d'intégration et d’API, avec une connaissance approfondie de la plateforme </a:t>
            </a:r>
            <a:r>
              <a:rPr lang="fr-FR" sz="1000" dirty="0" err="1">
                <a:solidFill>
                  <a:srgbClr val="000000"/>
                </a:solidFill>
                <a:latin typeface="Open Sans Light"/>
                <a:ea typeface="Open Sans Light"/>
                <a:cs typeface="Open Sans Light"/>
              </a:rPr>
              <a:t>MuleSoft</a:t>
            </a:r>
            <a:r>
              <a:rPr lang="fr-FR" sz="1000" dirty="0">
                <a:solidFill>
                  <a:srgbClr val="000000"/>
                </a:solidFill>
                <a:latin typeface="Open Sans Light"/>
                <a:ea typeface="Open Sans Light"/>
                <a:cs typeface="Open Sans Light"/>
              </a:rPr>
              <a:t> </a:t>
            </a:r>
            <a:r>
              <a:rPr lang="fr-FR" sz="1000" dirty="0" err="1">
                <a:solidFill>
                  <a:srgbClr val="000000"/>
                </a:solidFill>
                <a:latin typeface="Open Sans Light"/>
                <a:ea typeface="Open Sans Light"/>
                <a:cs typeface="Open Sans Light"/>
              </a:rPr>
              <a:t>Anypoint</a:t>
            </a:r>
            <a:r>
              <a:rPr lang="fr-FR" sz="1000" dirty="0">
                <a:solidFill>
                  <a:srgbClr val="000000"/>
                </a:solidFill>
                <a:latin typeface="Open Sans Light"/>
                <a:ea typeface="Open Sans Light"/>
                <a:cs typeface="Open Sans Light"/>
              </a:rPr>
              <a:t>.</a:t>
            </a:r>
          </a:p>
          <a:p>
            <a:pPr>
              <a:lnSpc>
                <a:spcPts val="1300"/>
              </a:lnSpc>
            </a:pPr>
            <a:endParaRPr lang="fr-FR" sz="1000" dirty="0">
              <a:solidFill>
                <a:srgbClr val="000000"/>
              </a:solidFill>
              <a:latin typeface="Open Sans Light"/>
              <a:ea typeface="Open Sans Light"/>
              <a:cs typeface="Open Sans Light"/>
            </a:endParaRPr>
          </a:p>
          <a:p>
            <a:pPr>
              <a:lnSpc>
                <a:spcPts val="1300"/>
              </a:lnSpc>
            </a:pPr>
            <a:r>
              <a:rPr lang="fr-FR" sz="1000" dirty="0">
                <a:solidFill>
                  <a:srgbClr val="000000"/>
                </a:solidFill>
                <a:latin typeface="Open Sans Light"/>
                <a:ea typeface="Open Sans Light"/>
                <a:cs typeface="Open Sans Light"/>
              </a:rPr>
              <a:t>Au cours de sa dernière expérience avec les JO Paris2024, il a travaillé sur la mise en œuvre d’APIs automatisant des processus utilisés pendant et après les Jeux olympiques.</a:t>
            </a:r>
          </a:p>
        </p:txBody>
      </p:sp>
      <p:sp>
        <p:nvSpPr>
          <p:cNvPr id="10" name="Studio Lead">
            <a:extLst>
              <a:ext uri="{FF2B5EF4-FFF2-40B4-BE49-F238E27FC236}">
                <a16:creationId xmlns:a16="http://schemas.microsoft.com/office/drawing/2014/main" id="{F61DB5FB-89DC-4A8F-9157-57C17B804D14}"/>
              </a:ext>
            </a:extLst>
          </p:cNvPr>
          <p:cNvSpPr txBox="1"/>
          <p:nvPr/>
        </p:nvSpPr>
        <p:spPr>
          <a:xfrm>
            <a:off x="497603" y="3792778"/>
            <a:ext cx="1826286" cy="8417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2400">
                <a:latin typeface="Open Sans Light" panose="020B0306030504020204" pitchFamily="34" charset="0"/>
                <a:ea typeface="Open Sans Light" panose="020B0306030504020204" pitchFamily="34" charset="0"/>
                <a:cs typeface="Open Sans Light" panose="020B0306030504020204" pitchFamily="34" charset="0"/>
              </a:rPr>
              <a:t>Jad</a:t>
            </a:r>
          </a:p>
          <a:p>
            <a:r>
              <a:rPr lang="fr-FR" sz="2400">
                <a:latin typeface="Open Sans Light" panose="020B0306030504020204" pitchFamily="34" charset="0"/>
                <a:ea typeface="Open Sans Light" panose="020B0306030504020204" pitchFamily="34" charset="0"/>
                <a:cs typeface="Open Sans Light" panose="020B0306030504020204" pitchFamily="34" charset="0"/>
              </a:rPr>
              <a:t>Ezahraoui</a:t>
            </a:r>
            <a:endParaRPr sz="240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1" name="Straight Connector 52">
            <a:extLst>
              <a:ext uri="{FF2B5EF4-FFF2-40B4-BE49-F238E27FC236}">
                <a16:creationId xmlns:a16="http://schemas.microsoft.com/office/drawing/2014/main" id="{EE87844D-87D6-49DC-90C9-9C0956BF91B4}"/>
              </a:ext>
            </a:extLst>
          </p:cNvPr>
          <p:cNvCxnSpPr>
            <a:cxnSpLocks/>
          </p:cNvCxnSpPr>
          <p:nvPr/>
        </p:nvCxnSpPr>
        <p:spPr>
          <a:xfrm flipH="1">
            <a:off x="2781326" y="861324"/>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12" name="About…">
            <a:extLst>
              <a:ext uri="{FF2B5EF4-FFF2-40B4-BE49-F238E27FC236}">
                <a16:creationId xmlns:a16="http://schemas.microsoft.com/office/drawing/2014/main" id="{0BAA26BF-63DC-4881-AA3C-ECA451B4F96D}"/>
              </a:ext>
            </a:extLst>
          </p:cNvPr>
          <p:cNvSpPr txBox="1"/>
          <p:nvPr/>
        </p:nvSpPr>
        <p:spPr>
          <a:xfrm>
            <a:off x="3302605" y="2515997"/>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Parcours et formation</a:t>
            </a:r>
          </a:p>
        </p:txBody>
      </p:sp>
      <p:sp>
        <p:nvSpPr>
          <p:cNvPr id="13" name="About…">
            <a:extLst>
              <a:ext uri="{FF2B5EF4-FFF2-40B4-BE49-F238E27FC236}">
                <a16:creationId xmlns:a16="http://schemas.microsoft.com/office/drawing/2014/main" id="{44730EA4-98A8-46DC-B83F-C930D2326E26}"/>
              </a:ext>
            </a:extLst>
          </p:cNvPr>
          <p:cNvSpPr txBox="1"/>
          <p:nvPr/>
        </p:nvSpPr>
        <p:spPr>
          <a:xfrm>
            <a:off x="3302605" y="753457"/>
            <a:ext cx="1587441"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ts val="1300"/>
              </a:lnSpc>
            </a:pPr>
            <a:r>
              <a:rPr lang="fr-FR" sz="1000">
                <a:latin typeface="Open Sans Bold"/>
                <a:ea typeface="Open Sans Bold"/>
                <a:cs typeface="Open Sans Bold"/>
              </a:rPr>
              <a:t>À propos</a:t>
            </a:r>
            <a:r>
              <a:rPr lang="fr-FR" sz="800" b="0" i="0">
                <a:solidFill>
                  <a:srgbClr val="000000"/>
                </a:solidFill>
                <a:effectLst/>
                <a:latin typeface="Open Sans Bold" panose="020B0806030504020204" pitchFamily="34" charset="0"/>
              </a:rPr>
              <a:t>​</a:t>
            </a:r>
            <a:endParaRPr lang="fr-FR" sz="800"/>
          </a:p>
        </p:txBody>
      </p:sp>
      <p:sp>
        <p:nvSpPr>
          <p:cNvPr id="14" name="About…">
            <a:extLst>
              <a:ext uri="{FF2B5EF4-FFF2-40B4-BE49-F238E27FC236}">
                <a16:creationId xmlns:a16="http://schemas.microsoft.com/office/drawing/2014/main" id="{A94DBA40-5FAD-4037-97B3-68A8FEC0A519}"/>
              </a:ext>
            </a:extLst>
          </p:cNvPr>
          <p:cNvSpPr txBox="1"/>
          <p:nvPr/>
        </p:nvSpPr>
        <p:spPr>
          <a:xfrm>
            <a:off x="2801859" y="2762260"/>
            <a:ext cx="3881989" cy="316753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Parcours</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Dès Mai 2022 :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Février</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2021- Août 2021 : Capgemini Engineering</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Juin 2020- Août 2020 :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Mahkamaty</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Juin 2019- Août 2019 :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TCREATIVE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(Maroc)</a:t>
            </a:r>
          </a:p>
          <a:p>
            <a:pPr marL="171450" lvl="2" indent="-171450" fontAlgn="base">
              <a:lnSpc>
                <a:spcPts val="1500"/>
              </a:lnSpc>
              <a:spcBef>
                <a:spcPct val="0"/>
              </a:spcBef>
              <a:spcAft>
                <a:spcPct val="0"/>
              </a:spcAft>
              <a:buSzPct val="50000"/>
              <a:buFont typeface="Arial" panose="020B0604020202020204" pitchFamily="34" charset="0"/>
              <a:buChar char="•"/>
              <a:defRPr/>
            </a:pP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0" lvl="2"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Formation</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2021-2022 : Master MIAGE en Systèmes d'Information et Transformation Numérique – Université Paris Dauphine</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2020-2021: Programme d’échange à Grenoble INP Phelma</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2018-2021 : Diplôme d’Ingénieur en</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Informatique option : Web Intelligence de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l’ENSIAS</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0" lvl="2" fontAlgn="base">
              <a:lnSpc>
                <a:spcPts val="1500"/>
              </a:lnSpc>
              <a:spcBef>
                <a:spcPct val="0"/>
              </a:spcBef>
              <a:spcAft>
                <a:spcPct val="0"/>
              </a:spcAft>
              <a:buSzPct val="50000"/>
              <a:defRPr/>
            </a:pP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algn="l" rtl="0" fontAlgn="base"/>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Certifications</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indent="-171450" algn="l" rtl="0" fontAlgn="base">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MuleSoft Certified Developer - Level 1</a:t>
            </a:r>
          </a:p>
          <a:p>
            <a:pPr marL="171450" indent="-171450" algn="l" rtl="0" fontAlgn="base">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Associate</a:t>
            </a:r>
          </a:p>
          <a:p>
            <a:pPr marL="171450" indent="-171450" fontAlgn="base">
              <a:buFont typeface="Arial" panose="020B0604020202020204" pitchFamily="34" charset="0"/>
              <a:buChar char="•"/>
            </a:pP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Workato</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Automation Pro 1, 2 et 3 </a:t>
            </a:r>
          </a:p>
        </p:txBody>
      </p:sp>
      <p:sp>
        <p:nvSpPr>
          <p:cNvPr id="15" name="About…">
            <a:extLst>
              <a:ext uri="{FF2B5EF4-FFF2-40B4-BE49-F238E27FC236}">
                <a16:creationId xmlns:a16="http://schemas.microsoft.com/office/drawing/2014/main" id="{54D436DF-4FA5-4DA6-A1AA-C39A975A0011}"/>
              </a:ext>
            </a:extLst>
          </p:cNvPr>
          <p:cNvSpPr txBox="1"/>
          <p:nvPr/>
        </p:nvSpPr>
        <p:spPr>
          <a:xfrm>
            <a:off x="7283752" y="847890"/>
            <a:ext cx="4099595" cy="356033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marL="0" lvl="2" defTabSz="990571">
              <a:spcAft>
                <a:spcPts val="300"/>
              </a:spcAft>
              <a:buSzPct val="100000"/>
              <a:defRPr/>
            </a:pPr>
            <a:r>
              <a:rPr lang="fr-FR" sz="10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Conception fonctionnelle:</a:t>
            </a:r>
          </a:p>
          <a:p>
            <a:pPr marL="190500" lvl="2" indent="-190500" defTabSz="990571">
              <a:spcAft>
                <a:spcPts val="300"/>
              </a:spcAft>
              <a:buSzPct val="10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Recueil et analyse du besoin métier</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p>
          <a:p>
            <a:pPr marL="190500" lvl="2" indent="-190500" defTabSz="990571">
              <a:spcAft>
                <a:spcPts val="300"/>
              </a:spcAft>
              <a:buSzPct val="10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Conception et modélisation des systèmes d’information et des processus métier</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p>
          <a:p>
            <a:pPr marL="0" lvl="2" defTabSz="990571">
              <a:spcAft>
                <a:spcPts val="300"/>
              </a:spcAft>
              <a:buSzPct val="100000"/>
              <a:defRPr/>
            </a:pPr>
            <a:endParaRPr lang="en-US" sz="900" b="0" i="0" dirty="0">
              <a:solidFill>
                <a:srgbClr val="000000"/>
              </a:solidFill>
              <a:effectLst/>
              <a:latin typeface="Verdana"/>
              <a:ea typeface="Verdana"/>
            </a:endParaRPr>
          </a:p>
          <a:p>
            <a:pPr marL="0" lvl="2" defTabSz="990571">
              <a:spcAft>
                <a:spcPts val="300"/>
              </a:spcAft>
              <a:buSzPct val="100000"/>
              <a:defRPr/>
            </a:pPr>
            <a:r>
              <a:rPr lang="en-US" sz="10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Expertise technique: </a:t>
            </a:r>
          </a:p>
          <a:p>
            <a:pPr marL="190500" lvl="2" indent="-190500" defTabSz="990571">
              <a:spcAft>
                <a:spcPts val="300"/>
              </a:spcAft>
              <a:buSzPct val="10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Développeur </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MuleSoft :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Anypoint</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Platform, API Led Connectivity,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DataWeave</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Integration patterns &amp; Best practices</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Development API : Postman, REST API, API Stress tests, Cycle de vie API</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CRM : Apex, SOQL, Bulk API V2, Composite Requests</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​Databases : PostgreSQL, MongoDB</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DevOps : Git, Docker, Gitlab CI/CD, Maven</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Modeling : UML,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PlantUML</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90500" lvl="2" indent="-190500" defTabSz="990571">
              <a:spcAft>
                <a:spcPts val="300"/>
              </a:spcAft>
              <a:buSzPct val="10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Langages </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Java, Python, SQL</a:t>
            </a:r>
          </a:p>
          <a:p>
            <a:pPr marL="190500" lvl="2" indent="-190500" defTabSz="990571">
              <a:spcAft>
                <a:spcPts val="300"/>
              </a:spcAft>
              <a:buSzPct val="100000"/>
              <a:buFont typeface="Arial" panose="020B0604020202020204" pitchFamily="34" charset="0"/>
              <a:buChar char="•"/>
              <a:defRPr/>
            </a:pP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lvl="0" fontAlgn="base">
              <a:lnSpc>
                <a:spcPts val="1500"/>
              </a:lnSpc>
              <a:spcBef>
                <a:spcPct val="0"/>
              </a:spcBef>
              <a:spcAft>
                <a:spcPct val="0"/>
              </a:spcAft>
            </a:pPr>
            <a:r>
              <a:rPr lang="fr-FR" sz="1000" dirty="0">
                <a:solidFill>
                  <a:srgbClr val="000000"/>
                </a:solidFill>
                <a:latin typeface="Open Sans" panose="020B0606030504020204"/>
                <a:ea typeface="Open Sans Extrabold" panose="020B0906030804020204" pitchFamily="34" charset="0"/>
                <a:cs typeface="Open Sans Extrabold" panose="020B0906030804020204" pitchFamily="34" charset="0"/>
              </a:rPr>
              <a:t>Conduite du changement et Déploiement:</a:t>
            </a:r>
          </a:p>
          <a:p>
            <a:pPr marL="190500" lvl="2" indent="-190500" defTabSz="990571" fontAlgn="base">
              <a:lnSpc>
                <a:spcPts val="1500"/>
              </a:lnSpc>
              <a:spcBef>
                <a:spcPct val="0"/>
              </a:spcBef>
              <a:spcAft>
                <a:spcPts val="300"/>
              </a:spcAft>
              <a:buSzPct val="100000"/>
              <a:buFont typeface="Arial" panose="020B0604020202020204" pitchFamily="34" charset="0"/>
              <a:buChar char="•"/>
              <a:defRPr/>
            </a:pPr>
            <a:r>
              <a:rPr lang="fr-FR" sz="1000" dirty="0" err="1">
                <a:solidFill>
                  <a:srgbClr val="000000"/>
                </a:solidFill>
                <a:latin typeface="Open Sans Light" panose="020B0306030504020204"/>
                <a:ea typeface="Open Sans Extrabold"/>
                <a:cs typeface="Open Sans Extrabold"/>
              </a:rPr>
              <a:t>CloudHub</a:t>
            </a:r>
            <a:r>
              <a:rPr lang="fr-FR" sz="1000" dirty="0">
                <a:solidFill>
                  <a:srgbClr val="000000"/>
                </a:solidFill>
                <a:latin typeface="Open Sans Light" panose="020B0306030504020204"/>
                <a:ea typeface="Open Sans Extrabold"/>
                <a:cs typeface="Open Sans Extrabold"/>
              </a:rPr>
              <a:t> 2.0 &amp; RTF, </a:t>
            </a:r>
            <a:r>
              <a:rPr lang="fr-FR" sz="1000" dirty="0" err="1">
                <a:solidFill>
                  <a:srgbClr val="000000"/>
                </a:solidFill>
                <a:latin typeface="Open Sans Light" panose="020B0306030504020204"/>
                <a:ea typeface="Open Sans Extrabold"/>
                <a:cs typeface="Open Sans Extrabold"/>
              </a:rPr>
              <a:t>Git</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hub</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Actions, </a:t>
            </a:r>
            <a:r>
              <a:rPr lang="fr-FR" sz="1000" dirty="0">
                <a:solidFill>
                  <a:srgbClr val="000000"/>
                </a:solidFill>
                <a:latin typeface="Open Sans Light" panose="020B0306030504020204"/>
                <a:ea typeface="Open Sans Extrabold"/>
                <a:cs typeface="Open Sans Extrabold"/>
              </a:rPr>
              <a:t>Gestion des releases </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(CI/CD), Tests unitaires (Munit)</a:t>
            </a:r>
          </a:p>
        </p:txBody>
      </p:sp>
      <p:sp>
        <p:nvSpPr>
          <p:cNvPr id="16" name="About…">
            <a:extLst>
              <a:ext uri="{FF2B5EF4-FFF2-40B4-BE49-F238E27FC236}">
                <a16:creationId xmlns:a16="http://schemas.microsoft.com/office/drawing/2014/main" id="{FDF7F60B-0138-4683-BF7C-E0F65E19223B}"/>
              </a:ext>
            </a:extLst>
          </p:cNvPr>
          <p:cNvSpPr txBox="1"/>
          <p:nvPr/>
        </p:nvSpPr>
        <p:spPr>
          <a:xfrm>
            <a:off x="7841435" y="556700"/>
            <a:ext cx="2375705" cy="2112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Domaines de compétences</a:t>
            </a:r>
          </a:p>
        </p:txBody>
      </p:sp>
      <p:sp>
        <p:nvSpPr>
          <p:cNvPr id="17" name="About…">
            <a:extLst>
              <a:ext uri="{FF2B5EF4-FFF2-40B4-BE49-F238E27FC236}">
                <a16:creationId xmlns:a16="http://schemas.microsoft.com/office/drawing/2014/main" id="{707306AB-9288-4E06-8577-D0E76F3D6640}"/>
              </a:ext>
            </a:extLst>
          </p:cNvPr>
          <p:cNvSpPr txBox="1"/>
          <p:nvPr/>
        </p:nvSpPr>
        <p:spPr>
          <a:xfrm>
            <a:off x="7283753" y="4824444"/>
            <a:ext cx="4099594" cy="9980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marL="0" lvl="2" fontAlgn="base">
              <a:lnSpc>
                <a:spcPts val="1500"/>
              </a:lnSpc>
              <a:spcBef>
                <a:spcPct val="0"/>
              </a:spcBef>
              <a:spcAft>
                <a:spcPct val="0"/>
              </a:spcAft>
              <a:buSzPct val="50000"/>
              <a:defRPr/>
            </a:pPr>
            <a:r>
              <a:rPr lang="fr-FR"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Healthcare</a:t>
            </a: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ProductLife Group</a:t>
            </a:r>
          </a:p>
          <a:p>
            <a:pPr marL="0" lvl="2" fontAlgn="base">
              <a:lnSpc>
                <a:spcPts val="1500"/>
              </a:lnSpc>
              <a:spcBef>
                <a:spcPct val="0"/>
              </a:spcBef>
              <a:spcAft>
                <a:spcPct val="0"/>
              </a:spcAft>
              <a:buSzPct val="50000"/>
              <a:defRPr/>
            </a:pPr>
            <a:r>
              <a:rPr lang="fr-FR"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Retail</a:t>
            </a: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Boulanger</a:t>
            </a:r>
          </a:p>
          <a:p>
            <a:pPr marL="0" lvl="2" fontAlgn="base">
              <a:lnSpc>
                <a:spcPts val="1500"/>
              </a:lnSpc>
              <a:spcBef>
                <a:spcPct val="0"/>
              </a:spcBef>
              <a:spcAft>
                <a:spcPct val="0"/>
              </a:spcAft>
              <a:buSzPct val="50000"/>
              <a:defRPr/>
            </a:pPr>
            <a:r>
              <a:rPr lang="fr-FR"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Energie</a:t>
            </a: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UGI International</a:t>
            </a:r>
          </a:p>
          <a:p>
            <a:pPr marL="0" lvl="2" fontAlgn="base">
              <a:lnSpc>
                <a:spcPts val="1500"/>
              </a:lnSpc>
              <a:spcBef>
                <a:spcPct val="0"/>
              </a:spcBef>
              <a:spcAft>
                <a:spcPct val="0"/>
              </a:spcAft>
              <a:buSzPct val="50000"/>
              <a:defRPr/>
            </a:pPr>
            <a:r>
              <a:rPr lang="fr-FR"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Sports</a:t>
            </a: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Paris 2024 - Comité d'organisation des Jeux Olympiques et Paralympiques, La Chaîne Olympique (Madrid</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18" name="About…">
            <a:extLst>
              <a:ext uri="{FF2B5EF4-FFF2-40B4-BE49-F238E27FC236}">
                <a16:creationId xmlns:a16="http://schemas.microsoft.com/office/drawing/2014/main" id="{0DCF3EFE-42A9-451C-A5FF-A04BC79F5159}"/>
              </a:ext>
            </a:extLst>
          </p:cNvPr>
          <p:cNvSpPr txBox="1"/>
          <p:nvPr/>
        </p:nvSpPr>
        <p:spPr>
          <a:xfrm>
            <a:off x="7841435" y="4542737"/>
            <a:ext cx="2056032"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Principaux clients</a:t>
            </a:r>
          </a:p>
        </p:txBody>
      </p:sp>
      <p:cxnSp>
        <p:nvCxnSpPr>
          <p:cNvPr id="19" name="Straight Connector 52">
            <a:extLst>
              <a:ext uri="{FF2B5EF4-FFF2-40B4-BE49-F238E27FC236}">
                <a16:creationId xmlns:a16="http://schemas.microsoft.com/office/drawing/2014/main" id="{DFECCB77-CA7F-4632-8C81-641357EF702B}"/>
              </a:ext>
            </a:extLst>
          </p:cNvPr>
          <p:cNvCxnSpPr>
            <a:cxnSpLocks/>
          </p:cNvCxnSpPr>
          <p:nvPr/>
        </p:nvCxnSpPr>
        <p:spPr>
          <a:xfrm flipH="1">
            <a:off x="2801859" y="2622772"/>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20" name="Straight Connector 52">
            <a:extLst>
              <a:ext uri="{FF2B5EF4-FFF2-40B4-BE49-F238E27FC236}">
                <a16:creationId xmlns:a16="http://schemas.microsoft.com/office/drawing/2014/main" id="{F5932663-D82C-43E8-9183-0FAEA866FBDA}"/>
              </a:ext>
            </a:extLst>
          </p:cNvPr>
          <p:cNvCxnSpPr>
            <a:cxnSpLocks/>
          </p:cNvCxnSpPr>
          <p:nvPr/>
        </p:nvCxnSpPr>
        <p:spPr>
          <a:xfrm flipH="1">
            <a:off x="2801859" y="6022707"/>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21" name="Straight Connector 52">
            <a:extLst>
              <a:ext uri="{FF2B5EF4-FFF2-40B4-BE49-F238E27FC236}">
                <a16:creationId xmlns:a16="http://schemas.microsoft.com/office/drawing/2014/main" id="{DE662B5D-AC38-4E38-BA75-29D960669E86}"/>
              </a:ext>
            </a:extLst>
          </p:cNvPr>
          <p:cNvCxnSpPr>
            <a:cxnSpLocks/>
          </p:cNvCxnSpPr>
          <p:nvPr/>
        </p:nvCxnSpPr>
        <p:spPr>
          <a:xfrm flipH="1">
            <a:off x="7301955" y="668521"/>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22" name="Straight Connector 52">
            <a:extLst>
              <a:ext uri="{FF2B5EF4-FFF2-40B4-BE49-F238E27FC236}">
                <a16:creationId xmlns:a16="http://schemas.microsoft.com/office/drawing/2014/main" id="{E8AF9B10-A9E9-4877-A56F-888FF9B99530}"/>
              </a:ext>
            </a:extLst>
          </p:cNvPr>
          <p:cNvCxnSpPr>
            <a:cxnSpLocks/>
          </p:cNvCxnSpPr>
          <p:nvPr/>
        </p:nvCxnSpPr>
        <p:spPr>
          <a:xfrm flipH="1">
            <a:off x="7301955" y="4644921"/>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2D871EDA-A9A3-46E2-8D68-22EFE6E7F12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034" y="1042562"/>
            <a:ext cx="1936417" cy="1936417"/>
          </a:xfrm>
          <a:prstGeom prst="rect">
            <a:avLst/>
          </a:prstGeom>
        </p:spPr>
      </p:pic>
    </p:spTree>
    <p:extLst>
      <p:ext uri="{BB962C8B-B14F-4D97-AF65-F5344CB8AC3E}">
        <p14:creationId xmlns:p14="http://schemas.microsoft.com/office/powerpoint/2010/main" val="3488203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a:extLst>
              <a:ext uri="{FF2B5EF4-FFF2-40B4-BE49-F238E27FC236}">
                <a16:creationId xmlns:a16="http://schemas.microsoft.com/office/drawing/2014/main" id="{8C154A54-5A27-8E0C-54B2-6784971057B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63128" r="-1"/>
          <a:stretch/>
        </p:blipFill>
        <p:spPr>
          <a:xfrm>
            <a:off x="11840783" y="0"/>
            <a:ext cx="351217" cy="6858000"/>
          </a:xfrm>
          <a:prstGeom prst="rect">
            <a:avLst/>
          </a:prstGeom>
        </p:spPr>
      </p:pic>
      <p:cxnSp>
        <p:nvCxnSpPr>
          <p:cNvPr id="5" name="Straight Connector 52">
            <a:extLst>
              <a:ext uri="{FF2B5EF4-FFF2-40B4-BE49-F238E27FC236}">
                <a16:creationId xmlns:a16="http://schemas.microsoft.com/office/drawing/2014/main" id="{7922984D-87AE-F3EE-5484-6C186054C85F}"/>
              </a:ext>
            </a:extLst>
          </p:cNvPr>
          <p:cNvCxnSpPr>
            <a:cxnSpLocks/>
          </p:cNvCxnSpPr>
          <p:nvPr/>
        </p:nvCxnSpPr>
        <p:spPr>
          <a:xfrm flipV="1">
            <a:off x="592237" y="4760629"/>
            <a:ext cx="0" cy="147002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About…">
            <a:extLst>
              <a:ext uri="{FF2B5EF4-FFF2-40B4-BE49-F238E27FC236}">
                <a16:creationId xmlns:a16="http://schemas.microsoft.com/office/drawing/2014/main" id="{CE0F4D5A-77BE-8309-4803-C2EC664FD044}"/>
              </a:ext>
            </a:extLst>
          </p:cNvPr>
          <p:cNvSpPr txBox="1"/>
          <p:nvPr/>
        </p:nvSpPr>
        <p:spPr>
          <a:xfrm>
            <a:off x="500616" y="556700"/>
            <a:ext cx="3881989" cy="211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spAutoFit/>
          </a:bodyPr>
          <a:lstStyle/>
          <a:p>
            <a:pPr lvl="0">
              <a:lnSpc>
                <a:spcPct val="110000"/>
              </a:lnSpc>
              <a:defRPr sz="2200" b="0">
                <a:latin typeface="Open Sans Bold"/>
                <a:ea typeface="Open Sans Bold"/>
                <a:cs typeface="Open Sans Bold"/>
                <a:sym typeface="Open Sans Bold"/>
              </a:defRPr>
            </a:pPr>
            <a:r>
              <a:rPr lang="fr-FR" sz="1000">
                <a:solidFill>
                  <a:prstClr val="black"/>
                </a:solidFill>
                <a:latin typeface="Open Sans Bold"/>
                <a:sym typeface="Open Sans Bold"/>
              </a:rPr>
              <a:t>Projets représentatifs</a:t>
            </a:r>
            <a:endParaRPr kumimoji="0" lang="fr-FR" sz="1000" b="0" i="0" u="none" strike="noStrike" kern="1200" cap="none" spc="0" normalizeH="0" baseline="0">
              <a:ln>
                <a:noFill/>
              </a:ln>
              <a:solidFill>
                <a:prstClr val="black"/>
              </a:solidFill>
              <a:effectLst/>
              <a:uLnTx/>
              <a:uFillTx/>
              <a:latin typeface="Open Sans Bold"/>
              <a:sym typeface="Open Sans Bold"/>
            </a:endParaRPr>
          </a:p>
        </p:txBody>
      </p:sp>
      <p:sp>
        <p:nvSpPr>
          <p:cNvPr id="8" name="Oval 104">
            <a:extLst>
              <a:ext uri="{FF2B5EF4-FFF2-40B4-BE49-F238E27FC236}">
                <a16:creationId xmlns:a16="http://schemas.microsoft.com/office/drawing/2014/main" id="{E5C968FA-7747-C17F-AFFB-1DC950353E19}"/>
              </a:ext>
            </a:extLst>
          </p:cNvPr>
          <p:cNvSpPr/>
          <p:nvPr/>
        </p:nvSpPr>
        <p:spPr bwMode="gray">
          <a:xfrm>
            <a:off x="532786" y="4691179"/>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FR"/>
          </a:p>
        </p:txBody>
      </p:sp>
      <p:grpSp>
        <p:nvGrpSpPr>
          <p:cNvPr id="12" name="Group 108">
            <a:extLst>
              <a:ext uri="{FF2B5EF4-FFF2-40B4-BE49-F238E27FC236}">
                <a16:creationId xmlns:a16="http://schemas.microsoft.com/office/drawing/2014/main" id="{B0BA7CD7-2D0F-49B8-18C0-3A3645B650C9}"/>
              </a:ext>
            </a:extLst>
          </p:cNvPr>
          <p:cNvGrpSpPr/>
          <p:nvPr/>
        </p:nvGrpSpPr>
        <p:grpSpPr>
          <a:xfrm>
            <a:off x="743108" y="4749881"/>
            <a:ext cx="4206695" cy="324833"/>
            <a:chOff x="685047" y="876502"/>
            <a:chExt cx="4206695" cy="324833"/>
          </a:xfrm>
        </p:grpSpPr>
        <p:sp>
          <p:nvSpPr>
            <p:cNvPr id="13" name="TextBox 109">
              <a:extLst>
                <a:ext uri="{FF2B5EF4-FFF2-40B4-BE49-F238E27FC236}">
                  <a16:creationId xmlns:a16="http://schemas.microsoft.com/office/drawing/2014/main" id="{5770DAEF-8779-209E-2939-CCE2BE864269}"/>
                </a:ext>
              </a:extLst>
            </p:cNvPr>
            <p:cNvSpPr txBox="1"/>
            <p:nvPr/>
          </p:nvSpPr>
          <p:spPr>
            <a:xfrm>
              <a:off x="685047" y="876502"/>
              <a:ext cx="3211804" cy="158120"/>
            </a:xfrm>
            <a:prstGeom prst="rect">
              <a:avLst/>
            </a:prstGeom>
            <a:noFill/>
          </p:spPr>
          <p:txBody>
            <a:bodyPr wrap="square" lIns="0" tIns="0" rIns="0" bIns="0">
              <a:spAutoFit/>
            </a:bodyPr>
            <a:lstStyle/>
            <a:p>
              <a:pPr>
                <a:lnSpc>
                  <a:spcPts val="1300"/>
                </a:lnSpc>
              </a:pP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Développeur </a:t>
              </a: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MuleSoft</a:t>
              </a:r>
              <a:endParaRPr lang="fr-FR" sz="1000" b="1" dirty="0">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4" name="TextBox 110">
              <a:extLst>
                <a:ext uri="{FF2B5EF4-FFF2-40B4-BE49-F238E27FC236}">
                  <a16:creationId xmlns:a16="http://schemas.microsoft.com/office/drawing/2014/main" id="{342880C0-198E-F195-E11B-E2739D30FA5A}"/>
                </a:ext>
              </a:extLst>
            </p:cNvPr>
            <p:cNvSpPr txBox="1"/>
            <p:nvPr/>
          </p:nvSpPr>
          <p:spPr>
            <a:xfrm>
              <a:off x="2095034" y="876502"/>
              <a:ext cx="2796708" cy="324833"/>
            </a:xfrm>
            <a:prstGeom prst="rect">
              <a:avLst/>
            </a:prstGeom>
            <a:noFill/>
          </p:spPr>
          <p:txBody>
            <a:bodyPr wrap="square" lIns="0" tIns="0" rIns="0" bIns="0">
              <a:spAutoFit/>
            </a:bodyPr>
            <a:lstStyle/>
            <a:p>
              <a:pPr algn="r">
                <a:lnSpc>
                  <a:spcPts val="1300"/>
                </a:lnSpc>
              </a:pPr>
              <a:r>
                <a:rPr lang="fr-FR" sz="1000" b="1">
                  <a:latin typeface="Open Sans SemiBold" panose="020B0606030504020204" pitchFamily="34" charset="0"/>
                  <a:ea typeface="Open Sans SemiBold" panose="020B0606030504020204" pitchFamily="34" charset="0"/>
                  <a:cs typeface="Open Sans SemiBold" panose="020B0606030504020204" pitchFamily="34" charset="0"/>
                </a:rPr>
                <a:t>Paris 2024 - Comité d'organisation des Jeux Olympiques et Paralympiques</a:t>
              </a:r>
            </a:p>
          </p:txBody>
        </p:sp>
      </p:grpSp>
      <p:grpSp>
        <p:nvGrpSpPr>
          <p:cNvPr id="15" name="Group 111">
            <a:extLst>
              <a:ext uri="{FF2B5EF4-FFF2-40B4-BE49-F238E27FC236}">
                <a16:creationId xmlns:a16="http://schemas.microsoft.com/office/drawing/2014/main" id="{7E961A5C-799D-7709-27AB-826BF5F76D94}"/>
              </a:ext>
            </a:extLst>
          </p:cNvPr>
          <p:cNvGrpSpPr/>
          <p:nvPr/>
        </p:nvGrpSpPr>
        <p:grpSpPr>
          <a:xfrm>
            <a:off x="743106" y="5104305"/>
            <a:ext cx="4206697" cy="1033582"/>
            <a:chOff x="685045" y="2267384"/>
            <a:chExt cx="4206697" cy="1033582"/>
          </a:xfrm>
        </p:grpSpPr>
        <p:sp>
          <p:nvSpPr>
            <p:cNvPr id="16" name="TextBox 112">
              <a:extLst>
                <a:ext uri="{FF2B5EF4-FFF2-40B4-BE49-F238E27FC236}">
                  <a16:creationId xmlns:a16="http://schemas.microsoft.com/office/drawing/2014/main" id="{43FA036C-C8DB-93B1-89A4-1F74F2C3DDB8}"/>
                </a:ext>
              </a:extLst>
            </p:cNvPr>
            <p:cNvSpPr txBox="1"/>
            <p:nvPr/>
          </p:nvSpPr>
          <p:spPr>
            <a:xfrm>
              <a:off x="685047" y="2267384"/>
              <a:ext cx="3211804" cy="151516"/>
            </a:xfrm>
            <a:prstGeom prst="rect">
              <a:avLst/>
            </a:prstGeom>
            <a:noFill/>
          </p:spPr>
          <p:txBody>
            <a:bodyPr wrap="square" lIns="0" tIns="0" rIns="0" bIns="0" anchor="b">
              <a:spAutoFit/>
            </a:bodyPr>
            <a:lstStyle/>
            <a:p>
              <a:pPr>
                <a:lnSpc>
                  <a:spcPts val="1300"/>
                </a:lnSpc>
              </a:pPr>
              <a:r>
                <a:rPr lang="fr-FR" sz="800">
                  <a:ea typeface="Open Sans SemiBold" panose="020B0606030504020204" pitchFamily="34" charset="0"/>
                  <a:cs typeface="Open Sans SemiBold" panose="020B0606030504020204" pitchFamily="34" charset="0"/>
                </a:rPr>
                <a:t>Construction du SI des Jeux</a:t>
              </a:r>
            </a:p>
          </p:txBody>
        </p:sp>
        <p:sp>
          <p:nvSpPr>
            <p:cNvPr id="17" name="Rounded Rectangle 113">
              <a:extLst>
                <a:ext uri="{FF2B5EF4-FFF2-40B4-BE49-F238E27FC236}">
                  <a16:creationId xmlns:a16="http://schemas.microsoft.com/office/drawing/2014/main" id="{15219F02-5703-2AFC-8C4E-0C0BBE5439F5}"/>
                </a:ext>
              </a:extLst>
            </p:cNvPr>
            <p:cNvSpPr/>
            <p:nvPr/>
          </p:nvSpPr>
          <p:spPr>
            <a:xfrm>
              <a:off x="685046" y="3107818"/>
              <a:ext cx="1625868" cy="1870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a:solidFill>
                    <a:schemeClr val="tx1"/>
                  </a:solidFill>
                </a:rPr>
                <a:t>API Management </a:t>
              </a:r>
              <a:r>
                <a:rPr lang="fr-FR" sz="700" dirty="0" err="1">
                  <a:solidFill>
                    <a:schemeClr val="tx1"/>
                  </a:solidFill>
                </a:rPr>
                <a:t>CloudHub</a:t>
              </a:r>
              <a:r>
                <a:rPr lang="fr-FR" sz="700" dirty="0">
                  <a:solidFill>
                    <a:schemeClr val="tx1"/>
                  </a:solidFill>
                </a:rPr>
                <a:t> 2.0 &amp; RTF</a:t>
              </a:r>
              <a:endParaRPr lang="en-FR" sz="700">
                <a:solidFill>
                  <a:schemeClr val="tx1"/>
                </a:solidFill>
              </a:endParaRPr>
            </a:p>
          </p:txBody>
        </p:sp>
        <p:sp>
          <p:nvSpPr>
            <p:cNvPr id="18" name="Rounded Rectangle 114">
              <a:extLst>
                <a:ext uri="{FF2B5EF4-FFF2-40B4-BE49-F238E27FC236}">
                  <a16:creationId xmlns:a16="http://schemas.microsoft.com/office/drawing/2014/main" id="{80A29524-CA0B-A7AA-180B-7484EB61F18A}"/>
                </a:ext>
              </a:extLst>
            </p:cNvPr>
            <p:cNvSpPr/>
            <p:nvPr/>
          </p:nvSpPr>
          <p:spPr>
            <a:xfrm>
              <a:off x="2334361" y="3107818"/>
              <a:ext cx="1088968"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err="1">
                  <a:solidFill>
                    <a:schemeClr val="tx1"/>
                  </a:solidFill>
                </a:rPr>
                <a:t>DataWeave</a:t>
              </a:r>
              <a:r>
                <a:rPr lang="en-GB" sz="700">
                  <a:solidFill>
                    <a:schemeClr val="tx1"/>
                  </a:solidFill>
                </a:rPr>
                <a:t> code</a:t>
              </a:r>
              <a:endParaRPr lang="en-FR" sz="700">
                <a:solidFill>
                  <a:schemeClr val="tx1"/>
                </a:solidFill>
              </a:endParaRPr>
            </a:p>
          </p:txBody>
        </p:sp>
        <p:sp>
          <p:nvSpPr>
            <p:cNvPr id="19" name="TextBox 115">
              <a:extLst>
                <a:ext uri="{FF2B5EF4-FFF2-40B4-BE49-F238E27FC236}">
                  <a16:creationId xmlns:a16="http://schemas.microsoft.com/office/drawing/2014/main" id="{8AAF32E2-63DA-3B49-BFA2-7AAFC02BDD3E}"/>
                </a:ext>
              </a:extLst>
            </p:cNvPr>
            <p:cNvSpPr txBox="1"/>
            <p:nvPr/>
          </p:nvSpPr>
          <p:spPr>
            <a:xfrm>
              <a:off x="685045" y="2508519"/>
              <a:ext cx="3419697" cy="492443"/>
            </a:xfrm>
            <a:prstGeom prst="rect">
              <a:avLst/>
            </a:prstGeom>
            <a:noFill/>
          </p:spPr>
          <p:txBody>
            <a:bodyPr wrap="square" lIns="0" tIns="0" rIns="0" bIns="0">
              <a:spAutoFit/>
            </a:bodyPr>
            <a:lstStyle/>
            <a:p>
              <a:r>
                <a:rPr lang="fr-FR" sz="8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Conception, développement, tests et support des applications du Système d’Information des Jeux utilisées par le COJOP, Comité d'organisation des Jeux Olympiques et Paralympiques de Paris 2024 et son écosystème élargi des parties prenantes</a:t>
              </a:r>
              <a:endParaRPr lang="fr-FR" sz="80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0" name="Rounded Rectangle 116">
              <a:extLst>
                <a:ext uri="{FF2B5EF4-FFF2-40B4-BE49-F238E27FC236}">
                  <a16:creationId xmlns:a16="http://schemas.microsoft.com/office/drawing/2014/main" id="{FCC1795F-0CC0-8CBA-4A83-473CB386504C}"/>
                </a:ext>
              </a:extLst>
            </p:cNvPr>
            <p:cNvSpPr/>
            <p:nvPr/>
          </p:nvSpPr>
          <p:spPr>
            <a:xfrm>
              <a:off x="3467862" y="3107818"/>
              <a:ext cx="1278710" cy="187021"/>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a:solidFill>
                    <a:schemeClr val="tx1"/>
                  </a:solidFill>
                </a:rPr>
                <a:t>Munit &amp; Performance tests</a:t>
              </a:r>
              <a:endParaRPr lang="en-FR" sz="700">
                <a:solidFill>
                  <a:schemeClr val="tx1"/>
                </a:solidFill>
              </a:endParaRPr>
            </a:p>
          </p:txBody>
        </p:sp>
        <p:sp>
          <p:nvSpPr>
            <p:cNvPr id="21" name="TextBox 117">
              <a:extLst>
                <a:ext uri="{FF2B5EF4-FFF2-40B4-BE49-F238E27FC236}">
                  <a16:creationId xmlns:a16="http://schemas.microsoft.com/office/drawing/2014/main" id="{01D68FC6-596A-CE2D-E932-38C7BEBB99F4}"/>
                </a:ext>
              </a:extLst>
            </p:cNvPr>
            <p:cNvSpPr txBox="1"/>
            <p:nvPr/>
          </p:nvSpPr>
          <p:spPr>
            <a:xfrm>
              <a:off x="4171742" y="2267384"/>
              <a:ext cx="720000" cy="151516"/>
            </a:xfrm>
            <a:prstGeom prst="rect">
              <a:avLst/>
            </a:prstGeom>
            <a:noFill/>
          </p:spPr>
          <p:txBody>
            <a:bodyPr wrap="square" lIns="0" tIns="0" rIns="0" bIns="0" anchor="b">
              <a:spAutoFit/>
            </a:bodyPr>
            <a:lstStyle/>
            <a:p>
              <a:pPr algn="r">
                <a:lnSpc>
                  <a:spcPts val="1300"/>
                </a:lnSpc>
              </a:pPr>
              <a:r>
                <a:rPr lang="fr-FR" sz="800" dirty="0">
                  <a:ea typeface="Open Sans SemiBold" panose="020B0606030504020204" pitchFamily="34" charset="0"/>
                  <a:cs typeface="Open Sans SemiBold" panose="020B0606030504020204" pitchFamily="34" charset="0"/>
                </a:rPr>
                <a:t>1 an 9 mois</a:t>
              </a:r>
            </a:p>
          </p:txBody>
        </p:sp>
      </p:grpSp>
      <p:sp>
        <p:nvSpPr>
          <p:cNvPr id="26" name="TextBox 141">
            <a:extLst>
              <a:ext uri="{FF2B5EF4-FFF2-40B4-BE49-F238E27FC236}">
                <a16:creationId xmlns:a16="http://schemas.microsoft.com/office/drawing/2014/main" id="{D8AAAD9B-2EB1-DC91-A656-4C40FACBEF38}"/>
              </a:ext>
            </a:extLst>
          </p:cNvPr>
          <p:cNvSpPr txBox="1"/>
          <p:nvPr/>
        </p:nvSpPr>
        <p:spPr>
          <a:xfrm>
            <a:off x="743064" y="2842122"/>
            <a:ext cx="3211804" cy="318229"/>
          </a:xfrm>
          <a:prstGeom prst="rect">
            <a:avLst/>
          </a:prstGeom>
          <a:noFill/>
        </p:spPr>
        <p:txBody>
          <a:bodyPr wrap="square" lIns="0" tIns="0" rIns="0" bIns="0">
            <a:spAutoFit/>
          </a:bodyPr>
          <a:lstStyle/>
          <a:p>
            <a:pPr>
              <a:lnSpc>
                <a:spcPts val="1300"/>
              </a:lnSpc>
            </a:pP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Développeur Lead </a:t>
            </a: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MuleSoft</a:t>
            </a:r>
            <a:endParaRPr lang="fr-FR" sz="1000" b="1" dirty="0">
              <a:latin typeface="Open Sans SemiBold" panose="020B0606030504020204" pitchFamily="34" charset="0"/>
              <a:ea typeface="Open Sans SemiBold" panose="020B0606030504020204" pitchFamily="34" charset="0"/>
              <a:cs typeface="Open Sans SemiBold" panose="020B0606030504020204" pitchFamily="34" charset="0"/>
            </a:endParaRPr>
          </a:p>
          <a:p>
            <a:pPr>
              <a:lnSpc>
                <a:spcPts val="1300"/>
              </a:lnSpc>
            </a:pPr>
            <a:r>
              <a:rPr lang="fr-FR" sz="800" dirty="0">
                <a:ea typeface="Open Sans SemiBold" panose="020B0606030504020204" pitchFamily="34" charset="0"/>
                <a:cs typeface="Open Sans SemiBold" panose="020B0606030504020204" pitchFamily="34" charset="0"/>
              </a:rPr>
              <a:t>Développement, Intégration et support des Mule Apps </a:t>
            </a:r>
          </a:p>
        </p:txBody>
      </p:sp>
      <p:sp>
        <p:nvSpPr>
          <p:cNvPr id="27" name="Rounded Rectangle 142">
            <a:extLst>
              <a:ext uri="{FF2B5EF4-FFF2-40B4-BE49-F238E27FC236}">
                <a16:creationId xmlns:a16="http://schemas.microsoft.com/office/drawing/2014/main" id="{3F4524AD-3D60-7512-CBBB-A44BF273E985}"/>
              </a:ext>
            </a:extLst>
          </p:cNvPr>
          <p:cNvSpPr/>
          <p:nvPr/>
        </p:nvSpPr>
        <p:spPr>
          <a:xfrm>
            <a:off x="751084" y="3849269"/>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err="1">
                <a:solidFill>
                  <a:schemeClr val="tx1"/>
                </a:solidFill>
              </a:rPr>
              <a:t>DataWeave</a:t>
            </a:r>
            <a:r>
              <a:rPr lang="en-GB" sz="700" dirty="0">
                <a:solidFill>
                  <a:schemeClr val="tx1"/>
                </a:solidFill>
              </a:rPr>
              <a:t> code</a:t>
            </a:r>
            <a:endParaRPr lang="en-FR" sz="700">
              <a:solidFill>
                <a:schemeClr val="tx1"/>
              </a:solidFill>
            </a:endParaRPr>
          </a:p>
        </p:txBody>
      </p:sp>
      <p:sp>
        <p:nvSpPr>
          <p:cNvPr id="28" name="Rounded Rectangle 143">
            <a:extLst>
              <a:ext uri="{FF2B5EF4-FFF2-40B4-BE49-F238E27FC236}">
                <a16:creationId xmlns:a16="http://schemas.microsoft.com/office/drawing/2014/main" id="{165365E6-0ACD-5055-DDF2-9AF8527E5786}"/>
              </a:ext>
            </a:extLst>
          </p:cNvPr>
          <p:cNvSpPr/>
          <p:nvPr/>
        </p:nvSpPr>
        <p:spPr>
          <a:xfrm>
            <a:off x="1756469" y="3849269"/>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a:solidFill>
                  <a:schemeClr val="tx1"/>
                </a:solidFill>
              </a:rPr>
              <a:t>API Management</a:t>
            </a:r>
            <a:endParaRPr lang="en-FR" sz="700">
              <a:solidFill>
                <a:schemeClr val="tx1"/>
              </a:solidFill>
            </a:endParaRPr>
          </a:p>
        </p:txBody>
      </p:sp>
      <p:sp>
        <p:nvSpPr>
          <p:cNvPr id="29" name="TextBox 144">
            <a:extLst>
              <a:ext uri="{FF2B5EF4-FFF2-40B4-BE49-F238E27FC236}">
                <a16:creationId xmlns:a16="http://schemas.microsoft.com/office/drawing/2014/main" id="{33E9806F-6804-7475-197F-304F74427AA6}"/>
              </a:ext>
            </a:extLst>
          </p:cNvPr>
          <p:cNvSpPr txBox="1"/>
          <p:nvPr/>
        </p:nvSpPr>
        <p:spPr>
          <a:xfrm>
            <a:off x="751083" y="3249970"/>
            <a:ext cx="3419697" cy="369332"/>
          </a:xfrm>
          <a:prstGeom prst="rect">
            <a:avLst/>
          </a:prstGeom>
          <a:noFill/>
        </p:spPr>
        <p:txBody>
          <a:bodyPr wrap="square" lIns="0" tIns="0" rIns="0" bIns="0">
            <a:spAutoFit/>
          </a:bodyPr>
          <a:lstStyle/>
          <a:p>
            <a:r>
              <a:rPr lang="fr-FR" sz="800" dirty="0">
                <a:latin typeface="Open Sans Light" panose="020B0306030504020204" pitchFamily="34" charset="0"/>
                <a:ea typeface="Open Sans Light" panose="020B0306030504020204" pitchFamily="34" charset="0"/>
                <a:cs typeface="Open Sans Light" panose="020B0306030504020204" pitchFamily="34" charset="0"/>
              </a:rPr>
              <a:t>Développement et déploiement d’APIs : Expérience, Process et Système pour les processus UGI International</a:t>
            </a:r>
          </a:p>
          <a:p>
            <a:endParaRPr lang="fr-FR" sz="800" dirty="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30" name="Straight Connector 52">
            <a:extLst>
              <a:ext uri="{FF2B5EF4-FFF2-40B4-BE49-F238E27FC236}">
                <a16:creationId xmlns:a16="http://schemas.microsoft.com/office/drawing/2014/main" id="{61F509C6-964C-97BE-5836-C3E1AD623167}"/>
              </a:ext>
            </a:extLst>
          </p:cNvPr>
          <p:cNvCxnSpPr>
            <a:cxnSpLocks/>
          </p:cNvCxnSpPr>
          <p:nvPr/>
        </p:nvCxnSpPr>
        <p:spPr>
          <a:xfrm flipV="1">
            <a:off x="600214" y="2841866"/>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Rounded Rectangle 146">
            <a:extLst>
              <a:ext uri="{FF2B5EF4-FFF2-40B4-BE49-F238E27FC236}">
                <a16:creationId xmlns:a16="http://schemas.microsoft.com/office/drawing/2014/main" id="{0089363C-9AE4-55C1-CEFB-524C5E0CA3A3}"/>
              </a:ext>
            </a:extLst>
          </p:cNvPr>
          <p:cNvSpPr/>
          <p:nvPr/>
        </p:nvSpPr>
        <p:spPr>
          <a:xfrm>
            <a:off x="2865489" y="3849269"/>
            <a:ext cx="859844" cy="19004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dirty="0">
                <a:solidFill>
                  <a:schemeClr val="tx1"/>
                </a:solidFill>
              </a:rPr>
              <a:t>Azure DevOps</a:t>
            </a:r>
            <a:endParaRPr lang="en-FR" sz="700">
              <a:solidFill>
                <a:schemeClr val="tx1"/>
              </a:solidFill>
            </a:endParaRPr>
          </a:p>
        </p:txBody>
      </p:sp>
      <p:sp>
        <p:nvSpPr>
          <p:cNvPr id="32" name="TextBox 147">
            <a:extLst>
              <a:ext uri="{FF2B5EF4-FFF2-40B4-BE49-F238E27FC236}">
                <a16:creationId xmlns:a16="http://schemas.microsoft.com/office/drawing/2014/main" id="{A9BCC83D-764C-F281-ABE0-46FBC7FEF405}"/>
              </a:ext>
            </a:extLst>
          </p:cNvPr>
          <p:cNvSpPr txBox="1"/>
          <p:nvPr/>
        </p:nvSpPr>
        <p:spPr>
          <a:xfrm>
            <a:off x="3326130" y="2842122"/>
            <a:ext cx="1631650" cy="318229"/>
          </a:xfrm>
          <a:prstGeom prst="rect">
            <a:avLst/>
          </a:prstGeom>
          <a:noFill/>
        </p:spPr>
        <p:txBody>
          <a:bodyPr wrap="square" lIns="0" tIns="0" rIns="0" bIns="0">
            <a:spAutoFit/>
          </a:bodyPr>
          <a:lstStyle/>
          <a:p>
            <a:pPr algn="r">
              <a:lnSpc>
                <a:spcPts val="1300"/>
              </a:lnSpc>
            </a:pP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UGI International</a:t>
            </a:r>
          </a:p>
          <a:p>
            <a:pPr algn="r">
              <a:lnSpc>
                <a:spcPts val="1300"/>
              </a:lnSpc>
            </a:pPr>
            <a:r>
              <a:rPr lang="fr-FR" sz="800" dirty="0">
                <a:ea typeface="Open Sans SemiBold" panose="020B0606030504020204" pitchFamily="34" charset="0"/>
                <a:cs typeface="Open Sans SemiBold" panose="020B0606030504020204" pitchFamily="34" charset="0"/>
              </a:rPr>
              <a:t>2 mois</a:t>
            </a:r>
          </a:p>
        </p:txBody>
      </p:sp>
      <p:sp>
        <p:nvSpPr>
          <p:cNvPr id="33" name="Oval 148">
            <a:extLst>
              <a:ext uri="{FF2B5EF4-FFF2-40B4-BE49-F238E27FC236}">
                <a16:creationId xmlns:a16="http://schemas.microsoft.com/office/drawing/2014/main" id="{2EB9C4E1-827A-C731-7337-9F5A7AA63D45}"/>
              </a:ext>
            </a:extLst>
          </p:cNvPr>
          <p:cNvSpPr/>
          <p:nvPr/>
        </p:nvSpPr>
        <p:spPr bwMode="gray">
          <a:xfrm>
            <a:off x="540233" y="2841865"/>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FR"/>
          </a:p>
        </p:txBody>
      </p:sp>
      <p:sp>
        <p:nvSpPr>
          <p:cNvPr id="34" name="Rounded Rectangle 146">
            <a:extLst>
              <a:ext uri="{FF2B5EF4-FFF2-40B4-BE49-F238E27FC236}">
                <a16:creationId xmlns:a16="http://schemas.microsoft.com/office/drawing/2014/main" id="{1A667F63-80F5-9872-8B3C-68EB897005A6}"/>
              </a:ext>
            </a:extLst>
          </p:cNvPr>
          <p:cNvSpPr/>
          <p:nvPr/>
        </p:nvSpPr>
        <p:spPr>
          <a:xfrm>
            <a:off x="3792054" y="3844875"/>
            <a:ext cx="859844" cy="19004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dirty="0">
                <a:solidFill>
                  <a:schemeClr val="tx1"/>
                </a:solidFill>
              </a:rPr>
              <a:t>Salesforce</a:t>
            </a:r>
            <a:endParaRPr lang="en-FR" sz="700">
              <a:solidFill>
                <a:schemeClr val="tx1"/>
              </a:solidFill>
            </a:endParaRPr>
          </a:p>
        </p:txBody>
      </p:sp>
      <p:grpSp>
        <p:nvGrpSpPr>
          <p:cNvPr id="2" name="Group 140">
            <a:extLst>
              <a:ext uri="{FF2B5EF4-FFF2-40B4-BE49-F238E27FC236}">
                <a16:creationId xmlns:a16="http://schemas.microsoft.com/office/drawing/2014/main" id="{25CD53A8-4F09-9D12-C8A9-3344464391F9}"/>
              </a:ext>
            </a:extLst>
          </p:cNvPr>
          <p:cNvGrpSpPr/>
          <p:nvPr/>
        </p:nvGrpSpPr>
        <p:grpSpPr>
          <a:xfrm>
            <a:off x="6119754" y="864984"/>
            <a:ext cx="4417547" cy="1246389"/>
            <a:chOff x="5922888" y="943979"/>
            <a:chExt cx="4417547" cy="1246389"/>
          </a:xfrm>
        </p:grpSpPr>
        <p:sp>
          <p:nvSpPr>
            <p:cNvPr id="3" name="TextBox 141">
              <a:extLst>
                <a:ext uri="{FF2B5EF4-FFF2-40B4-BE49-F238E27FC236}">
                  <a16:creationId xmlns:a16="http://schemas.microsoft.com/office/drawing/2014/main" id="{44FA134A-7E31-3F2A-DC59-EDF21EB1B458}"/>
                </a:ext>
              </a:extLst>
            </p:cNvPr>
            <p:cNvSpPr txBox="1"/>
            <p:nvPr/>
          </p:nvSpPr>
          <p:spPr>
            <a:xfrm>
              <a:off x="6125719" y="944236"/>
              <a:ext cx="3211804" cy="318229"/>
            </a:xfrm>
            <a:prstGeom prst="rect">
              <a:avLst/>
            </a:prstGeom>
            <a:noFill/>
          </p:spPr>
          <p:txBody>
            <a:bodyPr wrap="square" lIns="0" tIns="0" rIns="0" bIns="0">
              <a:spAutoFit/>
            </a:bodyPr>
            <a:lstStyle/>
            <a:p>
              <a:pPr>
                <a:lnSpc>
                  <a:spcPts val="1300"/>
                </a:lnSpc>
              </a:pP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Développeur </a:t>
              </a: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MuleSoft</a:t>
              </a:r>
              <a:endParaRPr lang="fr-FR" sz="1000" b="1" dirty="0">
                <a:latin typeface="Open Sans SemiBold" panose="020B0606030504020204" pitchFamily="34" charset="0"/>
                <a:ea typeface="Open Sans SemiBold" panose="020B0606030504020204" pitchFamily="34" charset="0"/>
                <a:cs typeface="Open Sans SemiBold" panose="020B0606030504020204" pitchFamily="34" charset="0"/>
              </a:endParaRPr>
            </a:p>
            <a:p>
              <a:pPr>
                <a:lnSpc>
                  <a:spcPts val="1300"/>
                </a:lnSpc>
              </a:pPr>
              <a:r>
                <a:rPr lang="fr-FR" sz="800" dirty="0">
                  <a:ea typeface="Open Sans SemiBold" panose="020B0606030504020204" pitchFamily="34" charset="0"/>
                  <a:cs typeface="Open Sans SemiBold" panose="020B0606030504020204" pitchFamily="34" charset="0"/>
                </a:rPr>
                <a:t>Développement d’APIs en utilisant le modèle API </a:t>
              </a:r>
              <a:r>
                <a:rPr lang="fr-FR" sz="800" dirty="0" err="1">
                  <a:ea typeface="Open Sans SemiBold" panose="020B0606030504020204" pitchFamily="34" charset="0"/>
                  <a:cs typeface="Open Sans SemiBold" panose="020B0606030504020204" pitchFamily="34" charset="0"/>
                </a:rPr>
                <a:t>Led</a:t>
              </a:r>
              <a:endParaRPr lang="fr-FR" sz="800" dirty="0">
                <a:ea typeface="Open Sans SemiBold" panose="020B0606030504020204" pitchFamily="34" charset="0"/>
                <a:cs typeface="Open Sans SemiBold" panose="020B0606030504020204" pitchFamily="34" charset="0"/>
              </a:endParaRPr>
            </a:p>
          </p:txBody>
        </p:sp>
        <p:sp>
          <p:nvSpPr>
            <p:cNvPr id="7" name="Rounded Rectangle 142">
              <a:extLst>
                <a:ext uri="{FF2B5EF4-FFF2-40B4-BE49-F238E27FC236}">
                  <a16:creationId xmlns:a16="http://schemas.microsoft.com/office/drawing/2014/main" id="{23A98907-DF4F-2D37-88E7-766155C72AB0}"/>
                </a:ext>
              </a:extLst>
            </p:cNvPr>
            <p:cNvSpPr/>
            <p:nvPr/>
          </p:nvSpPr>
          <p:spPr>
            <a:xfrm>
              <a:off x="6133739" y="1951383"/>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err="1">
                  <a:solidFill>
                    <a:schemeClr val="tx1"/>
                  </a:solidFill>
                </a:rPr>
                <a:t>DataWeave</a:t>
              </a:r>
              <a:r>
                <a:rPr lang="en-GB" sz="700" dirty="0">
                  <a:solidFill>
                    <a:schemeClr val="tx1"/>
                  </a:solidFill>
                </a:rPr>
                <a:t> code</a:t>
              </a:r>
              <a:endParaRPr lang="en-FR" sz="700">
                <a:solidFill>
                  <a:schemeClr val="tx1"/>
                </a:solidFill>
              </a:endParaRPr>
            </a:p>
          </p:txBody>
        </p:sp>
        <p:sp>
          <p:nvSpPr>
            <p:cNvPr id="9" name="Rounded Rectangle 143">
              <a:extLst>
                <a:ext uri="{FF2B5EF4-FFF2-40B4-BE49-F238E27FC236}">
                  <a16:creationId xmlns:a16="http://schemas.microsoft.com/office/drawing/2014/main" id="{EA024F75-F0FF-8936-B816-26CFA4B88327}"/>
                </a:ext>
              </a:extLst>
            </p:cNvPr>
            <p:cNvSpPr/>
            <p:nvPr/>
          </p:nvSpPr>
          <p:spPr>
            <a:xfrm>
              <a:off x="7139124" y="1951383"/>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a:solidFill>
                    <a:schemeClr val="tx1"/>
                  </a:solidFill>
                </a:rPr>
                <a:t>API Management</a:t>
              </a:r>
              <a:endParaRPr lang="en-FR" sz="700">
                <a:solidFill>
                  <a:schemeClr val="tx1"/>
                </a:solidFill>
              </a:endParaRPr>
            </a:p>
          </p:txBody>
        </p:sp>
        <p:sp>
          <p:nvSpPr>
            <p:cNvPr id="10" name="TextBox 144">
              <a:extLst>
                <a:ext uri="{FF2B5EF4-FFF2-40B4-BE49-F238E27FC236}">
                  <a16:creationId xmlns:a16="http://schemas.microsoft.com/office/drawing/2014/main" id="{7B3EB468-A293-BE9E-3158-F918BAA0F57D}"/>
                </a:ext>
              </a:extLst>
            </p:cNvPr>
            <p:cNvSpPr txBox="1"/>
            <p:nvPr/>
          </p:nvSpPr>
          <p:spPr>
            <a:xfrm>
              <a:off x="6133738" y="1352084"/>
              <a:ext cx="3419697" cy="369332"/>
            </a:xfrm>
            <a:prstGeom prst="rect">
              <a:avLst/>
            </a:prstGeom>
            <a:noFill/>
          </p:spPr>
          <p:txBody>
            <a:bodyPr wrap="square" lIns="0" tIns="0" rIns="0" bIns="0">
              <a:spAutoFit/>
            </a:bodyPr>
            <a:lstStyle/>
            <a:p>
              <a:r>
                <a:rPr lang="fr-FR" sz="800" dirty="0">
                  <a:latin typeface="Open Sans Light" panose="020B0306030504020204" pitchFamily="34" charset="0"/>
                  <a:ea typeface="Open Sans Light" panose="020B0306030504020204" pitchFamily="34" charset="0"/>
                  <a:cs typeface="Open Sans Light" panose="020B0306030504020204" pitchFamily="34" charset="0"/>
                </a:rPr>
                <a:t>Développement et déploiement d’APIs : Expérience, Process et Système pour les processus Boulanger</a:t>
              </a:r>
            </a:p>
            <a:p>
              <a:endParaRPr lang="fr-FR" sz="800" dirty="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1" name="Straight Connector 52">
              <a:extLst>
                <a:ext uri="{FF2B5EF4-FFF2-40B4-BE49-F238E27FC236}">
                  <a16:creationId xmlns:a16="http://schemas.microsoft.com/office/drawing/2014/main" id="{C5538614-C74A-96E9-D335-CC253DA93CB3}"/>
                </a:ext>
              </a:extLst>
            </p:cNvPr>
            <p:cNvCxnSpPr>
              <a:cxnSpLocks/>
            </p:cNvCxnSpPr>
            <p:nvPr/>
          </p:nvCxnSpPr>
          <p:spPr>
            <a:xfrm flipV="1">
              <a:off x="5982869" y="989136"/>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ounded Rectangle 146">
              <a:extLst>
                <a:ext uri="{FF2B5EF4-FFF2-40B4-BE49-F238E27FC236}">
                  <a16:creationId xmlns:a16="http://schemas.microsoft.com/office/drawing/2014/main" id="{C326E531-485D-0B50-5DCD-4F2415AB39C0}"/>
                </a:ext>
              </a:extLst>
            </p:cNvPr>
            <p:cNvSpPr/>
            <p:nvPr/>
          </p:nvSpPr>
          <p:spPr>
            <a:xfrm>
              <a:off x="8248144" y="1951383"/>
              <a:ext cx="743007"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err="1">
                  <a:solidFill>
                    <a:schemeClr val="tx1"/>
                  </a:solidFill>
                </a:rPr>
                <a:t>GitLab</a:t>
              </a:r>
              <a:r>
                <a:rPr lang="fr-FR" sz="700">
                  <a:solidFill>
                    <a:schemeClr val="tx1"/>
                  </a:solidFill>
                </a:rPr>
                <a:t> CI/CD</a:t>
              </a:r>
              <a:endParaRPr lang="en-FR" sz="700">
                <a:solidFill>
                  <a:schemeClr val="tx1"/>
                </a:solidFill>
              </a:endParaRPr>
            </a:p>
          </p:txBody>
        </p:sp>
        <p:sp>
          <p:nvSpPr>
            <p:cNvPr id="23" name="TextBox 147">
              <a:extLst>
                <a:ext uri="{FF2B5EF4-FFF2-40B4-BE49-F238E27FC236}">
                  <a16:creationId xmlns:a16="http://schemas.microsoft.com/office/drawing/2014/main" id="{E7DCB037-24E8-E3ED-2491-A493E2CB973E}"/>
                </a:ext>
              </a:extLst>
            </p:cNvPr>
            <p:cNvSpPr txBox="1"/>
            <p:nvPr/>
          </p:nvSpPr>
          <p:spPr>
            <a:xfrm>
              <a:off x="8708785" y="944236"/>
              <a:ext cx="1631650" cy="318229"/>
            </a:xfrm>
            <a:prstGeom prst="rect">
              <a:avLst/>
            </a:prstGeom>
            <a:noFill/>
          </p:spPr>
          <p:txBody>
            <a:bodyPr wrap="square" lIns="0" tIns="0" rIns="0" bIns="0">
              <a:spAutoFit/>
            </a:bodyPr>
            <a:lstStyle/>
            <a:p>
              <a:pPr algn="r">
                <a:lnSpc>
                  <a:spcPts val="1300"/>
                </a:lnSpc>
              </a:pPr>
              <a:r>
                <a:rPr lang="fr-FR" sz="1000" b="1">
                  <a:latin typeface="Open Sans SemiBold" panose="020B0606030504020204" pitchFamily="34" charset="0"/>
                  <a:ea typeface="Open Sans SemiBold" panose="020B0606030504020204" pitchFamily="34" charset="0"/>
                  <a:cs typeface="Open Sans SemiBold" panose="020B0606030504020204" pitchFamily="34" charset="0"/>
                </a:rPr>
                <a:t>Boulanger</a:t>
              </a:r>
            </a:p>
            <a:p>
              <a:pPr algn="r">
                <a:lnSpc>
                  <a:spcPts val="1300"/>
                </a:lnSpc>
              </a:pPr>
              <a:r>
                <a:rPr lang="fr-FR" sz="800">
                  <a:ea typeface="Open Sans SemiBold" panose="020B0606030504020204" pitchFamily="34" charset="0"/>
                  <a:cs typeface="Open Sans SemiBold" panose="020B0606030504020204" pitchFamily="34" charset="0"/>
                </a:rPr>
                <a:t>2 mois</a:t>
              </a:r>
            </a:p>
          </p:txBody>
        </p:sp>
        <p:sp>
          <p:nvSpPr>
            <p:cNvPr id="24" name="Oval 148">
              <a:extLst>
                <a:ext uri="{FF2B5EF4-FFF2-40B4-BE49-F238E27FC236}">
                  <a16:creationId xmlns:a16="http://schemas.microsoft.com/office/drawing/2014/main" id="{35D7C382-B41E-2964-4623-94EB3C049265}"/>
                </a:ext>
              </a:extLst>
            </p:cNvPr>
            <p:cNvSpPr/>
            <p:nvPr/>
          </p:nvSpPr>
          <p:spPr bwMode="gray">
            <a:xfrm>
              <a:off x="5922888" y="943979"/>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FR"/>
            </a:p>
          </p:txBody>
        </p:sp>
      </p:grpSp>
      <p:sp>
        <p:nvSpPr>
          <p:cNvPr id="25" name="TextBox 141">
            <a:extLst>
              <a:ext uri="{FF2B5EF4-FFF2-40B4-BE49-F238E27FC236}">
                <a16:creationId xmlns:a16="http://schemas.microsoft.com/office/drawing/2014/main" id="{22EC2453-2E11-1FCA-B322-A62A6D6B90B0}"/>
              </a:ext>
            </a:extLst>
          </p:cNvPr>
          <p:cNvSpPr txBox="1"/>
          <p:nvPr/>
        </p:nvSpPr>
        <p:spPr>
          <a:xfrm>
            <a:off x="733418" y="911078"/>
            <a:ext cx="3211804" cy="318229"/>
          </a:xfrm>
          <a:prstGeom prst="rect">
            <a:avLst/>
          </a:prstGeom>
          <a:noFill/>
        </p:spPr>
        <p:txBody>
          <a:bodyPr wrap="square" lIns="0" tIns="0" rIns="0" bIns="0">
            <a:spAutoFit/>
          </a:bodyPr>
          <a:lstStyle/>
          <a:p>
            <a:pPr>
              <a:lnSpc>
                <a:spcPts val="1300"/>
              </a:lnSpc>
            </a:pP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Développeur Lead </a:t>
            </a: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MuleSoft</a:t>
            </a:r>
            <a:endParaRPr lang="fr-FR" sz="1000" b="1" dirty="0">
              <a:latin typeface="Open Sans SemiBold" panose="020B0606030504020204" pitchFamily="34" charset="0"/>
              <a:ea typeface="Open Sans SemiBold" panose="020B0606030504020204" pitchFamily="34" charset="0"/>
              <a:cs typeface="Open Sans SemiBold" panose="020B0606030504020204" pitchFamily="34" charset="0"/>
            </a:endParaRPr>
          </a:p>
          <a:p>
            <a:pPr>
              <a:lnSpc>
                <a:spcPts val="1300"/>
              </a:lnSpc>
            </a:pPr>
            <a:r>
              <a:rPr lang="fr-FR" sz="800" dirty="0">
                <a:ea typeface="Open Sans SemiBold" panose="020B0606030504020204" pitchFamily="34" charset="0"/>
                <a:cs typeface="Open Sans SemiBold" panose="020B0606030504020204" pitchFamily="34" charset="0"/>
              </a:rPr>
              <a:t>Conception, développement et intégration des Mule Apps </a:t>
            </a:r>
          </a:p>
        </p:txBody>
      </p:sp>
      <p:sp>
        <p:nvSpPr>
          <p:cNvPr id="35" name="Rounded Rectangle 142">
            <a:extLst>
              <a:ext uri="{FF2B5EF4-FFF2-40B4-BE49-F238E27FC236}">
                <a16:creationId xmlns:a16="http://schemas.microsoft.com/office/drawing/2014/main" id="{E95554A2-2F49-5270-9161-2F2629CF6F46}"/>
              </a:ext>
            </a:extLst>
          </p:cNvPr>
          <p:cNvSpPr/>
          <p:nvPr/>
        </p:nvSpPr>
        <p:spPr>
          <a:xfrm>
            <a:off x="741438" y="1918225"/>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en-GB" sz="700" dirty="0" err="1">
                <a:solidFill>
                  <a:schemeClr val="tx1"/>
                </a:solidFill>
              </a:rPr>
              <a:t>DataWeave</a:t>
            </a:r>
            <a:r>
              <a:rPr lang="en-GB" sz="700" dirty="0">
                <a:solidFill>
                  <a:schemeClr val="tx1"/>
                </a:solidFill>
              </a:rPr>
              <a:t> code</a:t>
            </a:r>
            <a:endParaRPr lang="en-FR" sz="700">
              <a:solidFill>
                <a:schemeClr val="tx1"/>
              </a:solidFill>
            </a:endParaRPr>
          </a:p>
        </p:txBody>
      </p:sp>
      <p:sp>
        <p:nvSpPr>
          <p:cNvPr id="36" name="Rounded Rectangle 143">
            <a:extLst>
              <a:ext uri="{FF2B5EF4-FFF2-40B4-BE49-F238E27FC236}">
                <a16:creationId xmlns:a16="http://schemas.microsoft.com/office/drawing/2014/main" id="{DAF85102-3A1E-3F9C-AAD0-3065AF4D4B41}"/>
              </a:ext>
            </a:extLst>
          </p:cNvPr>
          <p:cNvSpPr/>
          <p:nvPr/>
        </p:nvSpPr>
        <p:spPr>
          <a:xfrm>
            <a:off x="1746823" y="1918225"/>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dirty="0" err="1">
                <a:solidFill>
                  <a:schemeClr val="tx1"/>
                </a:solidFill>
              </a:rPr>
              <a:t>CloudHub</a:t>
            </a:r>
            <a:r>
              <a:rPr lang="fr-FR" sz="700" dirty="0">
                <a:solidFill>
                  <a:schemeClr val="tx1"/>
                </a:solidFill>
              </a:rPr>
              <a:t> 2.0 </a:t>
            </a:r>
            <a:endParaRPr lang="en-FR" sz="700">
              <a:solidFill>
                <a:schemeClr val="tx1"/>
              </a:solidFill>
            </a:endParaRPr>
          </a:p>
        </p:txBody>
      </p:sp>
      <p:sp>
        <p:nvSpPr>
          <p:cNvPr id="37" name="TextBox 144">
            <a:extLst>
              <a:ext uri="{FF2B5EF4-FFF2-40B4-BE49-F238E27FC236}">
                <a16:creationId xmlns:a16="http://schemas.microsoft.com/office/drawing/2014/main" id="{2F438646-4191-3BE4-06AE-66051E03DC03}"/>
              </a:ext>
            </a:extLst>
          </p:cNvPr>
          <p:cNvSpPr txBox="1"/>
          <p:nvPr/>
        </p:nvSpPr>
        <p:spPr>
          <a:xfrm>
            <a:off x="741437" y="1318926"/>
            <a:ext cx="3419697" cy="615553"/>
          </a:xfrm>
          <a:prstGeom prst="rect">
            <a:avLst/>
          </a:prstGeom>
          <a:noFill/>
        </p:spPr>
        <p:txBody>
          <a:bodyPr wrap="square" lIns="0" tIns="0" rIns="0" bIns="0">
            <a:spAutoFit/>
          </a:bodyPr>
          <a:lstStyle/>
          <a:p>
            <a:r>
              <a:rPr lang="fr-FR" sz="800" dirty="0">
                <a:latin typeface="Open Sans Light" panose="020B0306030504020204" pitchFamily="34" charset="0"/>
                <a:ea typeface="Open Sans Light" panose="020B0306030504020204" pitchFamily="34" charset="0"/>
                <a:cs typeface="Open Sans Light" panose="020B0306030504020204" pitchFamily="34" charset="0"/>
              </a:rPr>
              <a:t>Conception, développement et déploiement d’APIs : Expérience, Process et Système pour les processus </a:t>
            </a:r>
            <a:r>
              <a:rPr lang="fr-FR" sz="800" dirty="0" err="1">
                <a:latin typeface="Open Sans Light" panose="020B0306030504020204" pitchFamily="34" charset="0"/>
                <a:ea typeface="Open Sans Light" panose="020B0306030504020204" pitchFamily="34" charset="0"/>
                <a:cs typeface="Open Sans Light" panose="020B0306030504020204" pitchFamily="34" charset="0"/>
              </a:rPr>
              <a:t>ProductLife</a:t>
            </a:r>
            <a:r>
              <a:rPr lang="fr-FR" sz="800" dirty="0">
                <a:latin typeface="Open Sans Light" panose="020B0306030504020204" pitchFamily="34" charset="0"/>
                <a:ea typeface="Open Sans Light" panose="020B0306030504020204" pitchFamily="34" charset="0"/>
                <a:cs typeface="Open Sans Light" panose="020B0306030504020204" pitchFamily="34" charset="0"/>
              </a:rPr>
              <a:t> Group</a:t>
            </a:r>
          </a:p>
          <a:p>
            <a:endParaRPr lang="fr-FR" sz="800" dirty="0">
              <a:latin typeface="Open Sans Light" panose="020B0306030504020204" pitchFamily="34" charset="0"/>
              <a:ea typeface="Open Sans Light" panose="020B0306030504020204" pitchFamily="34" charset="0"/>
              <a:cs typeface="Open Sans Light" panose="020B0306030504020204" pitchFamily="34" charset="0"/>
            </a:endParaRPr>
          </a:p>
          <a:p>
            <a:r>
              <a:rPr lang="fr-FR" sz="800" dirty="0">
                <a:latin typeface="Open Sans Light" panose="020B0306030504020204" pitchFamily="34" charset="0"/>
                <a:ea typeface="Open Sans Light" panose="020B0306030504020204" pitchFamily="34" charset="0"/>
                <a:cs typeface="Open Sans Light" panose="020B0306030504020204" pitchFamily="34" charset="0"/>
              </a:rPr>
              <a:t>Migration des Mule Apps sur Java17 et Intégrations avec </a:t>
            </a:r>
            <a:r>
              <a:rPr lang="fr-FR" sz="800" dirty="0" err="1">
                <a:latin typeface="Open Sans Light" panose="020B0306030504020204" pitchFamily="34" charset="0"/>
                <a:ea typeface="Open Sans Light" panose="020B0306030504020204" pitchFamily="34" charset="0"/>
                <a:cs typeface="Open Sans Light" panose="020B0306030504020204" pitchFamily="34" charset="0"/>
              </a:rPr>
              <a:t>NetSuite</a:t>
            </a:r>
            <a:r>
              <a:rPr lang="fr-FR" sz="800" dirty="0">
                <a:latin typeface="Open Sans Light" panose="020B0306030504020204" pitchFamily="34" charset="0"/>
                <a:ea typeface="Open Sans Light" panose="020B0306030504020204" pitchFamily="34" charset="0"/>
                <a:cs typeface="Open Sans Light" panose="020B0306030504020204" pitchFamily="34" charset="0"/>
              </a:rPr>
              <a:t> ERP</a:t>
            </a:r>
          </a:p>
          <a:p>
            <a:endParaRPr lang="fr-FR" sz="800" dirty="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38" name="Straight Connector 52">
            <a:extLst>
              <a:ext uri="{FF2B5EF4-FFF2-40B4-BE49-F238E27FC236}">
                <a16:creationId xmlns:a16="http://schemas.microsoft.com/office/drawing/2014/main" id="{B954E736-7BB8-83D0-B994-92654E89B9E0}"/>
              </a:ext>
            </a:extLst>
          </p:cNvPr>
          <p:cNvCxnSpPr>
            <a:cxnSpLocks/>
          </p:cNvCxnSpPr>
          <p:nvPr/>
        </p:nvCxnSpPr>
        <p:spPr>
          <a:xfrm flipV="1">
            <a:off x="590568" y="910822"/>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Rounded Rectangle 146">
            <a:extLst>
              <a:ext uri="{FF2B5EF4-FFF2-40B4-BE49-F238E27FC236}">
                <a16:creationId xmlns:a16="http://schemas.microsoft.com/office/drawing/2014/main" id="{EDC12FD4-C07F-F830-5A7A-980F433AB24C}"/>
              </a:ext>
            </a:extLst>
          </p:cNvPr>
          <p:cNvSpPr/>
          <p:nvPr/>
        </p:nvSpPr>
        <p:spPr>
          <a:xfrm>
            <a:off x="2855843" y="1918225"/>
            <a:ext cx="859844" cy="19004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dirty="0">
                <a:solidFill>
                  <a:schemeClr val="tx1"/>
                </a:solidFill>
              </a:rPr>
              <a:t>Azure DevOps</a:t>
            </a:r>
            <a:endParaRPr lang="en-FR" sz="700">
              <a:solidFill>
                <a:schemeClr val="tx1"/>
              </a:solidFill>
            </a:endParaRPr>
          </a:p>
        </p:txBody>
      </p:sp>
      <p:sp>
        <p:nvSpPr>
          <p:cNvPr id="40" name="TextBox 147">
            <a:extLst>
              <a:ext uri="{FF2B5EF4-FFF2-40B4-BE49-F238E27FC236}">
                <a16:creationId xmlns:a16="http://schemas.microsoft.com/office/drawing/2014/main" id="{A259CB9C-B233-FB05-D9CE-E42266A43630}"/>
              </a:ext>
            </a:extLst>
          </p:cNvPr>
          <p:cNvSpPr txBox="1"/>
          <p:nvPr/>
        </p:nvSpPr>
        <p:spPr>
          <a:xfrm>
            <a:off x="3316484" y="911078"/>
            <a:ext cx="1631650" cy="318870"/>
          </a:xfrm>
          <a:prstGeom prst="rect">
            <a:avLst/>
          </a:prstGeom>
          <a:noFill/>
        </p:spPr>
        <p:txBody>
          <a:bodyPr wrap="square" lIns="0" tIns="0" rIns="0" bIns="0">
            <a:spAutoFit/>
          </a:bodyPr>
          <a:lstStyle/>
          <a:p>
            <a:pPr algn="r">
              <a:lnSpc>
                <a:spcPts val="1300"/>
              </a:lnSpc>
            </a:pP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ProductLife</a:t>
            </a: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 Group</a:t>
            </a:r>
          </a:p>
          <a:p>
            <a:pPr algn="r">
              <a:lnSpc>
                <a:spcPts val="1300"/>
              </a:lnSpc>
            </a:pPr>
            <a:r>
              <a:rPr lang="fr-FR" sz="800" dirty="0">
                <a:ea typeface="Open Sans SemiBold" panose="020B0606030504020204" pitchFamily="34" charset="0"/>
                <a:cs typeface="Open Sans SemiBold" panose="020B0606030504020204" pitchFamily="34" charset="0"/>
              </a:rPr>
              <a:t>8 mois</a:t>
            </a:r>
          </a:p>
        </p:txBody>
      </p:sp>
      <p:sp>
        <p:nvSpPr>
          <p:cNvPr id="41" name="Oval 148">
            <a:extLst>
              <a:ext uri="{FF2B5EF4-FFF2-40B4-BE49-F238E27FC236}">
                <a16:creationId xmlns:a16="http://schemas.microsoft.com/office/drawing/2014/main" id="{6BD88DBF-095F-3B38-CE8E-51391210FE0A}"/>
              </a:ext>
            </a:extLst>
          </p:cNvPr>
          <p:cNvSpPr/>
          <p:nvPr/>
        </p:nvSpPr>
        <p:spPr bwMode="gray">
          <a:xfrm>
            <a:off x="530587" y="910821"/>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FR"/>
          </a:p>
        </p:txBody>
      </p:sp>
      <p:sp>
        <p:nvSpPr>
          <p:cNvPr id="42" name="Rounded Rectangle 146">
            <a:extLst>
              <a:ext uri="{FF2B5EF4-FFF2-40B4-BE49-F238E27FC236}">
                <a16:creationId xmlns:a16="http://schemas.microsoft.com/office/drawing/2014/main" id="{1B9EADC3-25A8-09CB-583F-6FF7FE590082}"/>
              </a:ext>
            </a:extLst>
          </p:cNvPr>
          <p:cNvSpPr/>
          <p:nvPr/>
        </p:nvSpPr>
        <p:spPr>
          <a:xfrm>
            <a:off x="3782408" y="1913831"/>
            <a:ext cx="859844" cy="19004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700">
                <a:solidFill>
                  <a:schemeClr val="tx1"/>
                </a:solidFill>
              </a:rPr>
              <a:t>#</a:t>
            </a:r>
            <a:r>
              <a:rPr lang="fr-FR" sz="700" dirty="0">
                <a:solidFill>
                  <a:schemeClr val="tx1"/>
                </a:solidFill>
              </a:rPr>
              <a:t>Salesforce</a:t>
            </a:r>
            <a:endParaRPr lang="en-FR" sz="700">
              <a:solidFill>
                <a:schemeClr val="tx1"/>
              </a:solidFill>
            </a:endParaRPr>
          </a:p>
        </p:txBody>
      </p:sp>
    </p:spTree>
    <p:extLst>
      <p:ext uri="{BB962C8B-B14F-4D97-AF65-F5344CB8AC3E}">
        <p14:creationId xmlns:p14="http://schemas.microsoft.com/office/powerpoint/2010/main" val="893957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bout…">
            <a:extLst>
              <a:ext uri="{FF2B5EF4-FFF2-40B4-BE49-F238E27FC236}">
                <a16:creationId xmlns:a16="http://schemas.microsoft.com/office/drawing/2014/main" id="{E1F665F9-483A-2F2E-45CB-1BCA81FC1DFD}"/>
              </a:ext>
            </a:extLst>
          </p:cNvPr>
          <p:cNvSpPr txBox="1"/>
          <p:nvPr/>
        </p:nvSpPr>
        <p:spPr>
          <a:xfrm>
            <a:off x="2885996" y="6279490"/>
            <a:ext cx="4099595" cy="22865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French - English - Arabic</a:t>
            </a:r>
            <a:endParaRPr lang="en-GB" sz="1000">
              <a:solidFill>
                <a:srgbClr val="000000"/>
              </a:solidFill>
              <a:ea typeface="Open Sans Extrabold" panose="020B0906030804020204" pitchFamily="34" charset="0"/>
              <a:cs typeface="Open Sans Extrabold" panose="020B0906030804020204" pitchFamily="34" charset="0"/>
            </a:endParaRPr>
          </a:p>
        </p:txBody>
      </p:sp>
      <p:sp>
        <p:nvSpPr>
          <p:cNvPr id="5" name="About…">
            <a:extLst>
              <a:ext uri="{FF2B5EF4-FFF2-40B4-BE49-F238E27FC236}">
                <a16:creationId xmlns:a16="http://schemas.microsoft.com/office/drawing/2014/main" id="{B6060BE8-BE87-5A90-3086-71C4D48162A7}"/>
              </a:ext>
            </a:extLst>
          </p:cNvPr>
          <p:cNvSpPr txBox="1"/>
          <p:nvPr/>
        </p:nvSpPr>
        <p:spPr>
          <a:xfrm>
            <a:off x="3341341" y="6035438"/>
            <a:ext cx="1874398"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en-US" sz="1000"/>
              <a:t>Languages</a:t>
            </a:r>
          </a:p>
        </p:txBody>
      </p:sp>
      <p:pic>
        <p:nvPicPr>
          <p:cNvPr id="6" name="Picture 20">
            <a:extLst>
              <a:ext uri="{FF2B5EF4-FFF2-40B4-BE49-F238E27FC236}">
                <a16:creationId xmlns:a16="http://schemas.microsoft.com/office/drawing/2014/main" id="{63F51DA9-2C5A-DF66-0832-7B9BDC28840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3"/>
          <a:stretch/>
        </p:blipFill>
        <p:spPr>
          <a:xfrm>
            <a:off x="11840783" y="0"/>
            <a:ext cx="351217" cy="6858000"/>
          </a:xfrm>
          <a:prstGeom prst="rect">
            <a:avLst/>
          </a:prstGeom>
        </p:spPr>
      </p:pic>
      <p:sp>
        <p:nvSpPr>
          <p:cNvPr id="7" name="Studio Lead">
            <a:extLst>
              <a:ext uri="{FF2B5EF4-FFF2-40B4-BE49-F238E27FC236}">
                <a16:creationId xmlns:a16="http://schemas.microsoft.com/office/drawing/2014/main" id="{7191D029-9E17-D15E-831E-73F8760753D4}"/>
              </a:ext>
            </a:extLst>
          </p:cNvPr>
          <p:cNvSpPr txBox="1"/>
          <p:nvPr/>
        </p:nvSpPr>
        <p:spPr>
          <a:xfrm>
            <a:off x="497603" y="4728783"/>
            <a:ext cx="1826286"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1000" dirty="0"/>
              <a:t>Senior </a:t>
            </a:r>
            <a:r>
              <a:rPr lang="fr-FR" sz="1000" dirty="0" err="1"/>
              <a:t>Specialist</a:t>
            </a:r>
            <a:endParaRPr lang="fr-FR" sz="1000" dirty="0"/>
          </a:p>
        </p:txBody>
      </p:sp>
      <p:sp>
        <p:nvSpPr>
          <p:cNvPr id="8" name="Deloitte Digital…">
            <a:extLst>
              <a:ext uri="{FF2B5EF4-FFF2-40B4-BE49-F238E27FC236}">
                <a16:creationId xmlns:a16="http://schemas.microsoft.com/office/drawing/2014/main" id="{F116BC2B-C945-4C53-984F-58B917848A8D}"/>
              </a:ext>
            </a:extLst>
          </p:cNvPr>
          <p:cNvSpPr txBox="1"/>
          <p:nvPr/>
        </p:nvSpPr>
        <p:spPr>
          <a:xfrm>
            <a:off x="499867" y="5256548"/>
            <a:ext cx="1824022" cy="5498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gn="l">
              <a:lnSpc>
                <a:spcPct val="110000"/>
              </a:lnSpc>
              <a:defRPr sz="2200" b="0">
                <a:latin typeface="Open Sans Bold"/>
                <a:ea typeface="Open Sans Bold"/>
                <a:cs typeface="Open Sans Bold"/>
                <a:sym typeface="Open Sans Bold"/>
              </a:defRPr>
            </a:pPr>
            <a:r>
              <a:rPr sz="1000" dirty="0"/>
              <a:t>Deloitte Digital</a:t>
            </a:r>
          </a:p>
          <a:p>
            <a:pPr>
              <a:lnSpc>
                <a:spcPct val="110000"/>
              </a:lnSpc>
              <a:defRPr sz="2200" b="0">
                <a:latin typeface="Open Sans"/>
                <a:ea typeface="Open Sans"/>
                <a:cs typeface="Open Sans"/>
                <a:sym typeface="Open Sans"/>
              </a:defRPr>
            </a:pPr>
            <a:r>
              <a:rPr lang="fr-FR" sz="1000" dirty="0"/>
              <a:t>+33 7 88 32 15 94</a:t>
            </a:r>
          </a:p>
          <a:p>
            <a:pPr>
              <a:lnSpc>
                <a:spcPct val="110000"/>
              </a:lnSpc>
              <a:defRPr sz="2200" b="0">
                <a:latin typeface="Open Sans"/>
                <a:ea typeface="Open Sans"/>
                <a:cs typeface="Open Sans"/>
                <a:sym typeface="Open Sans"/>
              </a:defRPr>
            </a:pPr>
            <a:r>
              <a:rPr lang="fr-FR" sz="1000" dirty="0" err="1"/>
              <a:t>jezahraoui</a:t>
            </a:r>
            <a:r>
              <a:rPr sz="1000" dirty="0"/>
              <a:t>@</a:t>
            </a:r>
            <a:r>
              <a:rPr sz="1000" dirty="0" err="1"/>
              <a:t>deloitte.fr</a:t>
            </a:r>
            <a:endParaRPr sz="1000" dirty="0"/>
          </a:p>
        </p:txBody>
      </p:sp>
      <p:sp>
        <p:nvSpPr>
          <p:cNvPr id="9" name="About…">
            <a:extLst>
              <a:ext uri="{FF2B5EF4-FFF2-40B4-BE49-F238E27FC236}">
                <a16:creationId xmlns:a16="http://schemas.microsoft.com/office/drawing/2014/main" id="{C30CEAB3-CA5F-8EC9-1A97-45F8BFB51EAE}"/>
              </a:ext>
            </a:extLst>
          </p:cNvPr>
          <p:cNvSpPr txBox="1"/>
          <p:nvPr/>
        </p:nvSpPr>
        <p:spPr>
          <a:xfrm>
            <a:off x="2753414" y="1235496"/>
            <a:ext cx="4232177" cy="11285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r>
              <a:rPr lang="en-US" sz="1000" dirty="0">
                <a:solidFill>
                  <a:srgbClr val="000000"/>
                </a:solidFill>
                <a:latin typeface="Open Sans Light"/>
                <a:ea typeface="Open Sans Light"/>
                <a:cs typeface="Open Sans Light"/>
              </a:rPr>
              <a:t>Jad is a Senior Specialist within Deloitte Digital in France. </a:t>
            </a:r>
            <a:r>
              <a:rPr lang="en-US" sz="1000" noProof="0" dirty="0">
                <a:solidFill>
                  <a:srgbClr val="000000"/>
                </a:solidFill>
                <a:latin typeface="Open Sans Light"/>
                <a:ea typeface="Open Sans Light"/>
                <a:cs typeface="Open Sans Light"/>
              </a:rPr>
              <a:t>Skilled in designing and developing integration architectures </a:t>
            </a:r>
            <a:r>
              <a:rPr lang="en-US" sz="1000" dirty="0">
                <a:solidFill>
                  <a:srgbClr val="000000"/>
                </a:solidFill>
                <a:latin typeface="Open Sans Light"/>
                <a:ea typeface="Open Sans Light"/>
                <a:cs typeface="Open Sans Light"/>
              </a:rPr>
              <a:t>and APIs, with extensive knowledge of the MuleSoft </a:t>
            </a:r>
            <a:r>
              <a:rPr lang="en-US" sz="1000" dirty="0" err="1">
                <a:solidFill>
                  <a:srgbClr val="000000"/>
                </a:solidFill>
                <a:latin typeface="Open Sans Light"/>
                <a:ea typeface="Open Sans Light"/>
                <a:cs typeface="Open Sans Light"/>
              </a:rPr>
              <a:t>Anypoint</a:t>
            </a:r>
            <a:r>
              <a:rPr lang="en-US" sz="1000" dirty="0">
                <a:solidFill>
                  <a:srgbClr val="000000"/>
                </a:solidFill>
                <a:latin typeface="Open Sans Light"/>
                <a:ea typeface="Open Sans Light"/>
                <a:cs typeface="Open Sans Light"/>
              </a:rPr>
              <a:t> Platform.</a:t>
            </a:r>
            <a:endParaRPr lang="en-US" sz="1000" noProof="0" dirty="0">
              <a:solidFill>
                <a:srgbClr val="000000"/>
              </a:solidFill>
              <a:latin typeface="Open Sans Light"/>
              <a:ea typeface="Open Sans Light"/>
              <a:cs typeface="Open Sans Light"/>
            </a:endParaRPr>
          </a:p>
          <a:p>
            <a:br>
              <a:rPr lang="fr-FR" sz="1000" dirty="0"/>
            </a:br>
            <a:r>
              <a:rPr lang="en-US" sz="1000" dirty="0">
                <a:solidFill>
                  <a:srgbClr val="000000"/>
                </a:solidFill>
                <a:latin typeface="Open Sans Light"/>
                <a:ea typeface="Open Sans Light"/>
                <a:cs typeface="Open Sans Light"/>
              </a:rPr>
              <a:t>During his last experience with Paris2024, he worked on the design and implementation of APIs to automate complex business processes that will be used during and after the Olympic Games.</a:t>
            </a:r>
          </a:p>
        </p:txBody>
      </p:sp>
      <p:sp>
        <p:nvSpPr>
          <p:cNvPr id="10" name="Studio Lead">
            <a:extLst>
              <a:ext uri="{FF2B5EF4-FFF2-40B4-BE49-F238E27FC236}">
                <a16:creationId xmlns:a16="http://schemas.microsoft.com/office/drawing/2014/main" id="{A0D0E165-88C6-EB8C-4B1D-69A11D8EDFA0}"/>
              </a:ext>
            </a:extLst>
          </p:cNvPr>
          <p:cNvSpPr txBox="1"/>
          <p:nvPr/>
        </p:nvSpPr>
        <p:spPr>
          <a:xfrm>
            <a:off x="497603" y="3792778"/>
            <a:ext cx="1826286" cy="8417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2400">
                <a:latin typeface="Open Sans Light" panose="020B0306030504020204" pitchFamily="34" charset="0"/>
                <a:ea typeface="Open Sans Light" panose="020B0306030504020204" pitchFamily="34" charset="0"/>
                <a:cs typeface="Open Sans Light" panose="020B0306030504020204" pitchFamily="34" charset="0"/>
              </a:rPr>
              <a:t>Jad</a:t>
            </a:r>
          </a:p>
          <a:p>
            <a:r>
              <a:rPr lang="fr-FR" sz="2400" err="1">
                <a:latin typeface="Open Sans Light" panose="020B0306030504020204" pitchFamily="34" charset="0"/>
                <a:ea typeface="Open Sans Light" panose="020B0306030504020204" pitchFamily="34" charset="0"/>
                <a:cs typeface="Open Sans Light" panose="020B0306030504020204" pitchFamily="34" charset="0"/>
              </a:rPr>
              <a:t>Ezahraoui</a:t>
            </a:r>
            <a:endParaRPr sz="240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1" name="Straight Connector 52">
            <a:extLst>
              <a:ext uri="{FF2B5EF4-FFF2-40B4-BE49-F238E27FC236}">
                <a16:creationId xmlns:a16="http://schemas.microsoft.com/office/drawing/2014/main" id="{063387BE-1F16-9715-AABA-4A783F8F6F44}"/>
              </a:ext>
            </a:extLst>
          </p:cNvPr>
          <p:cNvCxnSpPr>
            <a:cxnSpLocks/>
          </p:cNvCxnSpPr>
          <p:nvPr/>
        </p:nvCxnSpPr>
        <p:spPr>
          <a:xfrm flipH="1">
            <a:off x="2781326" y="1081253"/>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12" name="About…">
            <a:extLst>
              <a:ext uri="{FF2B5EF4-FFF2-40B4-BE49-F238E27FC236}">
                <a16:creationId xmlns:a16="http://schemas.microsoft.com/office/drawing/2014/main" id="{B88BA0B8-8856-A4B5-4C7D-7C221A40A0F7}"/>
              </a:ext>
            </a:extLst>
          </p:cNvPr>
          <p:cNvSpPr txBox="1"/>
          <p:nvPr/>
        </p:nvSpPr>
        <p:spPr>
          <a:xfrm>
            <a:off x="3302605" y="2571753"/>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en-US" sz="1000"/>
              <a:t>Professional background and education</a:t>
            </a:r>
          </a:p>
        </p:txBody>
      </p:sp>
      <p:sp>
        <p:nvSpPr>
          <p:cNvPr id="13" name="About…">
            <a:extLst>
              <a:ext uri="{FF2B5EF4-FFF2-40B4-BE49-F238E27FC236}">
                <a16:creationId xmlns:a16="http://schemas.microsoft.com/office/drawing/2014/main" id="{A280F826-5653-1C14-0EDE-015BF028C35D}"/>
              </a:ext>
            </a:extLst>
          </p:cNvPr>
          <p:cNvSpPr txBox="1"/>
          <p:nvPr/>
        </p:nvSpPr>
        <p:spPr>
          <a:xfrm>
            <a:off x="3302605" y="973386"/>
            <a:ext cx="1587441"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ts val="1300"/>
              </a:lnSpc>
            </a:pPr>
            <a:r>
              <a:rPr lang="en-US" sz="1000" b="0" i="0">
                <a:solidFill>
                  <a:srgbClr val="000000"/>
                </a:solidFill>
                <a:effectLst/>
                <a:latin typeface="Open Sans Bold"/>
                <a:ea typeface="Open Sans Bold"/>
                <a:cs typeface="Open Sans Bold"/>
              </a:rPr>
              <a:t>About</a:t>
            </a:r>
            <a:r>
              <a:rPr lang="fr-FR" sz="800" b="0" i="0">
                <a:solidFill>
                  <a:srgbClr val="000000"/>
                </a:solidFill>
                <a:effectLst/>
                <a:latin typeface="Open Sans Bold" panose="020B0806030504020204" pitchFamily="34" charset="0"/>
              </a:rPr>
              <a:t>​</a:t>
            </a:r>
            <a:endParaRPr lang="fr-FR" sz="800"/>
          </a:p>
        </p:txBody>
      </p:sp>
      <p:sp>
        <p:nvSpPr>
          <p:cNvPr id="14" name="About…">
            <a:extLst>
              <a:ext uri="{FF2B5EF4-FFF2-40B4-BE49-F238E27FC236}">
                <a16:creationId xmlns:a16="http://schemas.microsoft.com/office/drawing/2014/main" id="{BD1E6CE1-8DDC-DB57-B0DC-5A4230CA52E8}"/>
              </a:ext>
            </a:extLst>
          </p:cNvPr>
          <p:cNvSpPr txBox="1"/>
          <p:nvPr/>
        </p:nvSpPr>
        <p:spPr>
          <a:xfrm>
            <a:off x="7841435" y="556700"/>
            <a:ext cx="2375705"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en-US" sz="1000"/>
              <a:t>Professional skills &amp; experience</a:t>
            </a:r>
          </a:p>
        </p:txBody>
      </p:sp>
      <p:sp>
        <p:nvSpPr>
          <p:cNvPr id="15" name="About…">
            <a:extLst>
              <a:ext uri="{FF2B5EF4-FFF2-40B4-BE49-F238E27FC236}">
                <a16:creationId xmlns:a16="http://schemas.microsoft.com/office/drawing/2014/main" id="{5A66534C-04B4-3FAA-C09B-0226B8B03D23}"/>
              </a:ext>
            </a:extLst>
          </p:cNvPr>
          <p:cNvSpPr txBox="1"/>
          <p:nvPr/>
        </p:nvSpPr>
        <p:spPr>
          <a:xfrm>
            <a:off x="7283752" y="4969408"/>
            <a:ext cx="4099595" cy="9980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marL="0" lvl="2" fontAlgn="base">
              <a:lnSpc>
                <a:spcPts val="1500"/>
              </a:lnSpc>
              <a:spcBef>
                <a:spcPct val="0"/>
              </a:spcBef>
              <a:spcAft>
                <a:spcPct val="0"/>
              </a:spcAft>
              <a:buSzPct val="50000"/>
              <a:defRPr/>
            </a:pPr>
            <a:r>
              <a:rPr lang="fr-FR"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Healthcare</a:t>
            </a: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ProductLife Group</a:t>
            </a:r>
          </a:p>
          <a:p>
            <a:pPr marL="0" lvl="2" fontAlgn="base">
              <a:lnSpc>
                <a:spcPts val="1500"/>
              </a:lnSpc>
              <a:spcBef>
                <a:spcPct val="0"/>
              </a:spcBef>
              <a:spcAft>
                <a:spcPct val="0"/>
              </a:spcAft>
              <a:buSzPct val="50000"/>
              <a:defRPr/>
            </a:pP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Retail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Boulanger</a:t>
            </a:r>
          </a:p>
          <a:p>
            <a:pPr marL="0" lvl="2" fontAlgn="base">
              <a:lnSpc>
                <a:spcPts val="1500"/>
              </a:lnSpc>
              <a:spcBef>
                <a:spcPct val="0"/>
              </a:spcBef>
              <a:spcAft>
                <a:spcPct val="0"/>
              </a:spcAft>
              <a:buSzPct val="50000"/>
              <a:defRPr/>
            </a:pP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Energy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UGI International</a:t>
            </a:r>
            <a:endPar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2" fontAlgn="base">
              <a:lnSpc>
                <a:spcPts val="1500"/>
              </a:lnSpc>
              <a:spcBef>
                <a:spcPct val="0"/>
              </a:spcBef>
              <a:spcAft>
                <a:spcPct val="0"/>
              </a:spcAft>
              <a:buSzPct val="50000"/>
              <a:defRPr/>
            </a:pPr>
            <a:r>
              <a:rPr lang="en-GB"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Sports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Paris 2024 – Olympic and Paralympic Games Organising Committee, Olympic Channel (Madrid)</a:t>
            </a:r>
          </a:p>
        </p:txBody>
      </p:sp>
      <p:sp>
        <p:nvSpPr>
          <p:cNvPr id="16" name="About…">
            <a:extLst>
              <a:ext uri="{FF2B5EF4-FFF2-40B4-BE49-F238E27FC236}">
                <a16:creationId xmlns:a16="http://schemas.microsoft.com/office/drawing/2014/main" id="{14FF5704-4A18-45C2-7FBE-129620022611}"/>
              </a:ext>
            </a:extLst>
          </p:cNvPr>
          <p:cNvSpPr txBox="1"/>
          <p:nvPr/>
        </p:nvSpPr>
        <p:spPr>
          <a:xfrm>
            <a:off x="7841435" y="4687701"/>
            <a:ext cx="2056032"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en-US" sz="1000"/>
              <a:t>Representative</a:t>
            </a:r>
            <a:r>
              <a:rPr lang="fr-FR" sz="1000"/>
              <a:t> clients</a:t>
            </a:r>
          </a:p>
        </p:txBody>
      </p:sp>
      <p:cxnSp>
        <p:nvCxnSpPr>
          <p:cNvPr id="17" name="Straight Connector 52">
            <a:extLst>
              <a:ext uri="{FF2B5EF4-FFF2-40B4-BE49-F238E27FC236}">
                <a16:creationId xmlns:a16="http://schemas.microsoft.com/office/drawing/2014/main" id="{41A30FDC-355F-13E8-C89F-01A961665C89}"/>
              </a:ext>
            </a:extLst>
          </p:cNvPr>
          <p:cNvCxnSpPr>
            <a:cxnSpLocks/>
          </p:cNvCxnSpPr>
          <p:nvPr/>
        </p:nvCxnSpPr>
        <p:spPr>
          <a:xfrm flipH="1">
            <a:off x="2801859" y="2678528"/>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18" name="Straight Connector 52">
            <a:extLst>
              <a:ext uri="{FF2B5EF4-FFF2-40B4-BE49-F238E27FC236}">
                <a16:creationId xmlns:a16="http://schemas.microsoft.com/office/drawing/2014/main" id="{72CCED67-A022-BF9C-177E-2DA05889CFBC}"/>
              </a:ext>
            </a:extLst>
          </p:cNvPr>
          <p:cNvCxnSpPr>
            <a:cxnSpLocks/>
          </p:cNvCxnSpPr>
          <p:nvPr/>
        </p:nvCxnSpPr>
        <p:spPr>
          <a:xfrm flipH="1">
            <a:off x="2801859" y="6156522"/>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19" name="Straight Connector 52">
            <a:extLst>
              <a:ext uri="{FF2B5EF4-FFF2-40B4-BE49-F238E27FC236}">
                <a16:creationId xmlns:a16="http://schemas.microsoft.com/office/drawing/2014/main" id="{5BE2BB39-32CE-E995-5F94-A7EF21015595}"/>
              </a:ext>
            </a:extLst>
          </p:cNvPr>
          <p:cNvCxnSpPr>
            <a:cxnSpLocks/>
          </p:cNvCxnSpPr>
          <p:nvPr/>
        </p:nvCxnSpPr>
        <p:spPr>
          <a:xfrm flipH="1">
            <a:off x="7301955" y="668521"/>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20" name="Straight Connector 52">
            <a:extLst>
              <a:ext uri="{FF2B5EF4-FFF2-40B4-BE49-F238E27FC236}">
                <a16:creationId xmlns:a16="http://schemas.microsoft.com/office/drawing/2014/main" id="{FD1824E8-1AE6-D3F0-9202-1274EF2FD88E}"/>
              </a:ext>
            </a:extLst>
          </p:cNvPr>
          <p:cNvCxnSpPr>
            <a:cxnSpLocks/>
          </p:cNvCxnSpPr>
          <p:nvPr/>
        </p:nvCxnSpPr>
        <p:spPr>
          <a:xfrm flipH="1">
            <a:off x="7301955" y="4789885"/>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pic>
        <p:nvPicPr>
          <p:cNvPr id="21" name="Picture 22">
            <a:extLst>
              <a:ext uri="{FF2B5EF4-FFF2-40B4-BE49-F238E27FC236}">
                <a16:creationId xmlns:a16="http://schemas.microsoft.com/office/drawing/2014/main" id="{1BEBF965-C76E-F8B3-B622-0C2E059215A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034" y="1042562"/>
            <a:ext cx="1936417" cy="1936417"/>
          </a:xfrm>
          <a:prstGeom prst="rect">
            <a:avLst/>
          </a:prstGeom>
        </p:spPr>
      </p:pic>
      <p:sp>
        <p:nvSpPr>
          <p:cNvPr id="22" name="About…">
            <a:extLst>
              <a:ext uri="{FF2B5EF4-FFF2-40B4-BE49-F238E27FC236}">
                <a16:creationId xmlns:a16="http://schemas.microsoft.com/office/drawing/2014/main" id="{A0BF6C7B-0F51-D343-820C-6ECE294F724C}"/>
              </a:ext>
            </a:extLst>
          </p:cNvPr>
          <p:cNvSpPr txBox="1"/>
          <p:nvPr/>
        </p:nvSpPr>
        <p:spPr>
          <a:xfrm>
            <a:off x="2801859" y="2884343"/>
            <a:ext cx="3881989" cy="33214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Professional Background</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From May 2022 :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February 2021- August 2021 : Capgemini Engineering</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June 2020- August 2020 :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Mahkamaty</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June 2019- August 2019 : TCREATIVE (Morocco)</a:t>
            </a:r>
          </a:p>
          <a:p>
            <a:pPr marL="171450" lvl="2" indent="-171450" fontAlgn="base">
              <a:lnSpc>
                <a:spcPts val="1500"/>
              </a:lnSpc>
              <a:spcBef>
                <a:spcPct val="0"/>
              </a:spcBef>
              <a:spcAft>
                <a:spcPct val="0"/>
              </a:spcAft>
              <a:buSzPct val="50000"/>
              <a:buFont typeface="Arial" panose="020B0604020202020204" pitchFamily="34" charset="0"/>
              <a:buChar char="•"/>
              <a:defRPr/>
            </a:pP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0" lvl="2" fontAlgn="base">
              <a:lnSpc>
                <a:spcPts val="1500"/>
              </a:lnSpc>
              <a:spcBef>
                <a:spcPct val="0"/>
              </a:spcBef>
              <a:spcAft>
                <a:spcPct val="0"/>
              </a:spcAft>
              <a:buSzPct val="50000"/>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Education</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2021-2022 : Master's Degree in Information Systems and Digital Transformation - Paris Dauphine University</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2020-2021: Exchange program in Grenoble INP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Phelma</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2018-2021 : Engineer's Degree in Computer Science option : Web Intelligence, ENSIAS School of Engineering</a:t>
            </a:r>
          </a:p>
          <a:p>
            <a:pPr marL="0" lvl="2" fontAlgn="base">
              <a:lnSpc>
                <a:spcPts val="1500"/>
              </a:lnSpc>
              <a:spcBef>
                <a:spcPct val="0"/>
              </a:spcBef>
              <a:spcAft>
                <a:spcPct val="0"/>
              </a:spcAft>
              <a:buSzPct val="50000"/>
              <a:defRPr/>
            </a:pP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algn="l" rtl="0" fontAlgn="base"/>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Certifications</a:t>
            </a:r>
          </a:p>
          <a:p>
            <a:pPr marL="171450" indent="-171450" algn="l" rtl="0" fontAlgn="base">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MuleSoft Certified Developer - Level 1</a:t>
            </a:r>
          </a:p>
          <a:p>
            <a:pPr marL="171450" indent="-171450" algn="l" rtl="0" fontAlgn="base">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Associate</a:t>
            </a:r>
          </a:p>
          <a:p>
            <a:pPr marL="171450" indent="-171450" fontAlgn="base">
              <a:buFont typeface="Arial" panose="020B0604020202020204" pitchFamily="34" charset="0"/>
              <a:buChar char="•"/>
            </a:pP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Workato</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Automation Pro 1, 2 &amp; 3 </a:t>
            </a:r>
          </a:p>
          <a:p>
            <a:pPr algn="l" rtl="0" fontAlgn="base"/>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3" name="About…">
            <a:extLst>
              <a:ext uri="{FF2B5EF4-FFF2-40B4-BE49-F238E27FC236}">
                <a16:creationId xmlns:a16="http://schemas.microsoft.com/office/drawing/2014/main" id="{6C454963-A05E-80A2-41BA-A99960DBC2D4}"/>
              </a:ext>
            </a:extLst>
          </p:cNvPr>
          <p:cNvSpPr txBox="1"/>
          <p:nvPr/>
        </p:nvSpPr>
        <p:spPr>
          <a:xfrm>
            <a:off x="7283752" y="847890"/>
            <a:ext cx="4099595" cy="3406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t">
            <a:spAutoFit/>
          </a:bodyPr>
          <a:lstStyle/>
          <a:p>
            <a:pPr marL="0" lvl="2" defTabSz="990571">
              <a:spcAft>
                <a:spcPts val="300"/>
              </a:spcAft>
              <a:buSzPct val="100000"/>
              <a:defRPr/>
            </a:pPr>
            <a:r>
              <a:rPr lang="en-US" sz="10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Functional design: </a:t>
            </a:r>
          </a:p>
          <a:p>
            <a:pPr marL="190500" lvl="2" indent="-190500" defTabSz="990571">
              <a:spcAft>
                <a:spcPts val="300"/>
              </a:spcAft>
              <a:buSzPct val="100000"/>
              <a:buFont typeface="Arial" panose="020B0604020202020204" pitchFamily="34" charset="0"/>
              <a:buChar char="•"/>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Collection </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and analysis of business requirements</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p>
          <a:p>
            <a:pPr marL="190500" lvl="2" indent="-190500" defTabSz="990571">
              <a:spcAft>
                <a:spcPts val="300"/>
              </a:spcAft>
              <a:buSzPct val="100000"/>
              <a:buFont typeface="Arial" panose="020B0604020202020204" pitchFamily="34" charset="0"/>
              <a:buChar char="•"/>
              <a:defRPr/>
            </a:pP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​Design and modeling of information systems and business processes</a:t>
            </a:r>
          </a:p>
          <a:p>
            <a:pPr marL="0" lvl="2" defTabSz="990571">
              <a:spcAft>
                <a:spcPts val="300"/>
              </a:spcAft>
              <a:buSzPct val="100000"/>
              <a:defRPr/>
            </a:pPr>
            <a:endParaRPr lang="en-US" sz="900" b="0" i="0" dirty="0">
              <a:solidFill>
                <a:srgbClr val="000000"/>
              </a:solidFill>
              <a:effectLst/>
              <a:latin typeface="Verdana"/>
              <a:ea typeface="Verdana"/>
            </a:endParaRPr>
          </a:p>
          <a:p>
            <a:pPr marL="0" lvl="2" defTabSz="990571">
              <a:spcAft>
                <a:spcPts val="300"/>
              </a:spcAft>
              <a:buSzPct val="100000"/>
              <a:defRPr/>
            </a:pPr>
            <a:r>
              <a:rPr lang="en-US" sz="10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Technical expertise: </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MuleSoft Developer :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Anypoint</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Platform, API Led Connectivity,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DataWeave</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Integration patterns &amp; Best practices</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Development API : Postman, REST API, API Stress tests, API Lifecycle</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CRM : Apex, SOQL, Bulk API V2, Composite Requests</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​Databases : PostgreSQL, MongoDB</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DevOps : Git, Docker, Gitlab CI/CD, Maven</a:t>
            </a: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Modeling : UML, </a:t>
            </a:r>
            <a:r>
              <a:rPr lang="en-US"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PlantUML</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90500" lvl="2" indent="-190500" defTabSz="990571">
              <a:spcAft>
                <a:spcPts val="300"/>
              </a:spcAft>
              <a:buSzPct val="100000"/>
              <a:buFont typeface="Arial" panose="020B0604020202020204" pitchFamily="34" charset="0"/>
              <a:buChar char="•"/>
              <a:defRP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Programming Languages : Java, Python, SQL</a:t>
            </a:r>
          </a:p>
          <a:p>
            <a:pPr marL="190500" lvl="2" indent="-190500" defTabSz="990571">
              <a:spcAft>
                <a:spcPts val="300"/>
              </a:spcAft>
              <a:buSzPct val="100000"/>
              <a:buFont typeface="Arial" panose="020B0604020202020204" pitchFamily="34" charset="0"/>
              <a:buChar char="•"/>
              <a:defRPr/>
            </a:pP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lvl="0" fontAlgn="base">
              <a:lnSpc>
                <a:spcPts val="1500"/>
              </a:lnSpc>
              <a:spcBef>
                <a:spcPct val="0"/>
              </a:spcBef>
              <a:spcAft>
                <a:spcPct val="0"/>
              </a:spcAft>
            </a:pPr>
            <a:r>
              <a:rPr lang="en-GB" sz="1000" dirty="0">
                <a:solidFill>
                  <a:srgbClr val="000000"/>
                </a:solidFill>
                <a:latin typeface="Open Sans" panose="020B0606030504020204"/>
                <a:ea typeface="Open Sans Extrabold" panose="020B0906030804020204" pitchFamily="34" charset="0"/>
                <a:cs typeface="Open Sans Extrabold" panose="020B0906030804020204" pitchFamily="34" charset="0"/>
              </a:rPr>
              <a:t>Deployment &amp; Change management:</a:t>
            </a:r>
          </a:p>
          <a:p>
            <a:pPr marL="190500" lvl="2" indent="-190500" defTabSz="990571" fontAlgn="base">
              <a:lnSpc>
                <a:spcPts val="1500"/>
              </a:lnSpc>
              <a:spcBef>
                <a:spcPct val="0"/>
              </a:spcBef>
              <a:spcAft>
                <a:spcPts val="300"/>
              </a:spcAft>
              <a:buSzPct val="100000"/>
              <a:buFont typeface="Arial" panose="020B0604020202020204" pitchFamily="34" charset="0"/>
              <a:buChar char="•"/>
              <a:defRPr/>
            </a:pPr>
            <a:r>
              <a:rPr lang="fr-FR" sz="1000" dirty="0" err="1">
                <a:solidFill>
                  <a:srgbClr val="000000"/>
                </a:solidFill>
                <a:latin typeface="Open Sans Light" panose="020B0306030504020204"/>
                <a:ea typeface="Open Sans Extrabold"/>
                <a:cs typeface="Open Sans Extrabold"/>
              </a:rPr>
              <a:t>CloudHub</a:t>
            </a:r>
            <a:r>
              <a:rPr lang="fr-FR" sz="1000" dirty="0">
                <a:solidFill>
                  <a:srgbClr val="000000"/>
                </a:solidFill>
                <a:latin typeface="Open Sans Light" panose="020B0306030504020204"/>
                <a:ea typeface="Open Sans Extrabold"/>
                <a:cs typeface="Open Sans Extrabold"/>
              </a:rPr>
              <a:t> 2.0 &amp; RTF, </a:t>
            </a:r>
            <a:r>
              <a:rPr lang="fr-FR" sz="1000" dirty="0" err="1">
                <a:solidFill>
                  <a:srgbClr val="000000"/>
                </a:solidFill>
                <a:latin typeface="Open Sans Light" panose="020B0306030504020204"/>
                <a:ea typeface="Open Sans Extrabold"/>
                <a:cs typeface="Open Sans Extrabold"/>
              </a:rPr>
              <a:t>Git</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hub</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Actions,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Release management (CI/CD) , Unit Testing (</a:t>
            </a:r>
            <a:r>
              <a:rPr lang="en-GB"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Munit</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24" name="ZoneTexte 23">
            <a:extLst>
              <a:ext uri="{FF2B5EF4-FFF2-40B4-BE49-F238E27FC236}">
                <a16:creationId xmlns:a16="http://schemas.microsoft.com/office/drawing/2014/main" id="{A1CD4E5C-8F25-0AD8-7A67-82F9BE1A8373}"/>
              </a:ext>
            </a:extLst>
          </p:cNvPr>
          <p:cNvSpPr txBox="1"/>
          <p:nvPr/>
        </p:nvSpPr>
        <p:spPr>
          <a:xfrm>
            <a:off x="-2051824" y="7549376"/>
            <a:ext cx="184731" cy="369332"/>
          </a:xfrm>
          <a:prstGeom prst="rect">
            <a:avLst/>
          </a:prstGeom>
          <a:noFill/>
        </p:spPr>
        <p:txBody>
          <a:bodyPr wrap="none" rtlCol="0">
            <a:spAutoFit/>
          </a:bodyPr>
          <a:lstStyle/>
          <a:p>
            <a:endParaRPr lang="fr-FR"/>
          </a:p>
        </p:txBody>
      </p:sp>
    </p:spTree>
    <p:extLst>
      <p:ext uri="{BB962C8B-B14F-4D97-AF65-F5344CB8AC3E}">
        <p14:creationId xmlns:p14="http://schemas.microsoft.com/office/powerpoint/2010/main" val="577146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a:extLst>
              <a:ext uri="{FF2B5EF4-FFF2-40B4-BE49-F238E27FC236}">
                <a16:creationId xmlns:a16="http://schemas.microsoft.com/office/drawing/2014/main" id="{8C154A54-5A27-8E0C-54B2-6784971057B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63128" r="-1"/>
          <a:stretch/>
        </p:blipFill>
        <p:spPr>
          <a:xfrm>
            <a:off x="11840783" y="0"/>
            <a:ext cx="351217" cy="6858000"/>
          </a:xfrm>
          <a:prstGeom prst="rect">
            <a:avLst/>
          </a:prstGeom>
        </p:spPr>
      </p:pic>
      <p:cxnSp>
        <p:nvCxnSpPr>
          <p:cNvPr id="5" name="Straight Connector 52">
            <a:extLst>
              <a:ext uri="{FF2B5EF4-FFF2-40B4-BE49-F238E27FC236}">
                <a16:creationId xmlns:a16="http://schemas.microsoft.com/office/drawing/2014/main" id="{7922984D-87AE-F3EE-5484-6C186054C85F}"/>
              </a:ext>
            </a:extLst>
          </p:cNvPr>
          <p:cNvCxnSpPr>
            <a:cxnSpLocks/>
          </p:cNvCxnSpPr>
          <p:nvPr/>
        </p:nvCxnSpPr>
        <p:spPr>
          <a:xfrm flipV="1">
            <a:off x="579746" y="4525750"/>
            <a:ext cx="0" cy="147002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About…">
            <a:extLst>
              <a:ext uri="{FF2B5EF4-FFF2-40B4-BE49-F238E27FC236}">
                <a16:creationId xmlns:a16="http://schemas.microsoft.com/office/drawing/2014/main" id="{CE0F4D5A-77BE-8309-4803-C2EC664FD044}"/>
              </a:ext>
            </a:extLst>
          </p:cNvPr>
          <p:cNvSpPr txBox="1"/>
          <p:nvPr/>
        </p:nvSpPr>
        <p:spPr>
          <a:xfrm>
            <a:off x="500616" y="556700"/>
            <a:ext cx="3881989"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lvl="0">
              <a:lnSpc>
                <a:spcPct val="110000"/>
              </a:lnSpc>
              <a:defRPr sz="2200" b="0">
                <a:latin typeface="Open Sans Bold"/>
                <a:ea typeface="Open Sans Bold"/>
                <a:cs typeface="Open Sans Bold"/>
                <a:sym typeface="Open Sans Bold"/>
              </a:defRPr>
            </a:pPr>
            <a:r>
              <a:rPr lang="en-US" sz="1000">
                <a:solidFill>
                  <a:prstClr val="black"/>
                </a:solidFill>
                <a:latin typeface="Open Sans Bold"/>
                <a:sym typeface="Open Sans Bold"/>
              </a:rPr>
              <a:t>Projects</a:t>
            </a:r>
            <a:endParaRPr kumimoji="0" lang="en-US" sz="1000" b="0" i="0" u="none" strike="noStrike" kern="1200" cap="none" spc="0" normalizeH="0" baseline="0">
              <a:ln>
                <a:noFill/>
              </a:ln>
              <a:solidFill>
                <a:prstClr val="black"/>
              </a:solidFill>
              <a:effectLst/>
              <a:uLnTx/>
              <a:uFillTx/>
              <a:latin typeface="Open Sans Bold"/>
              <a:sym typeface="Open Sans Bold"/>
            </a:endParaRPr>
          </a:p>
        </p:txBody>
      </p:sp>
      <p:sp>
        <p:nvSpPr>
          <p:cNvPr id="8" name="Oval 104">
            <a:extLst>
              <a:ext uri="{FF2B5EF4-FFF2-40B4-BE49-F238E27FC236}">
                <a16:creationId xmlns:a16="http://schemas.microsoft.com/office/drawing/2014/main" id="{E5C968FA-7747-C17F-AFFB-1DC950353E19}"/>
              </a:ext>
            </a:extLst>
          </p:cNvPr>
          <p:cNvSpPr/>
          <p:nvPr/>
        </p:nvSpPr>
        <p:spPr bwMode="gray">
          <a:xfrm>
            <a:off x="532786" y="4421250"/>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US"/>
          </a:p>
        </p:txBody>
      </p:sp>
      <p:grpSp>
        <p:nvGrpSpPr>
          <p:cNvPr id="12" name="Group 108">
            <a:extLst>
              <a:ext uri="{FF2B5EF4-FFF2-40B4-BE49-F238E27FC236}">
                <a16:creationId xmlns:a16="http://schemas.microsoft.com/office/drawing/2014/main" id="{B0BA7CD7-2D0F-49B8-18C0-3A3645B650C9}"/>
              </a:ext>
            </a:extLst>
          </p:cNvPr>
          <p:cNvGrpSpPr/>
          <p:nvPr/>
        </p:nvGrpSpPr>
        <p:grpSpPr>
          <a:xfrm>
            <a:off x="743108" y="4549113"/>
            <a:ext cx="4206695" cy="324833"/>
            <a:chOff x="685047" y="876502"/>
            <a:chExt cx="4206695" cy="324833"/>
          </a:xfrm>
        </p:grpSpPr>
        <p:sp>
          <p:nvSpPr>
            <p:cNvPr id="13" name="TextBox 109">
              <a:extLst>
                <a:ext uri="{FF2B5EF4-FFF2-40B4-BE49-F238E27FC236}">
                  <a16:creationId xmlns:a16="http://schemas.microsoft.com/office/drawing/2014/main" id="{5770DAEF-8779-209E-2939-CCE2BE864269}"/>
                </a:ext>
              </a:extLst>
            </p:cNvPr>
            <p:cNvSpPr txBox="1"/>
            <p:nvPr/>
          </p:nvSpPr>
          <p:spPr>
            <a:xfrm>
              <a:off x="685047" y="876502"/>
              <a:ext cx="3211804" cy="158120"/>
            </a:xfrm>
            <a:prstGeom prst="rect">
              <a:avLst/>
            </a:prstGeom>
            <a:noFill/>
          </p:spPr>
          <p:txBody>
            <a:bodyPr wrap="square" lIns="0" tIns="0" rIns="0" bIns="0">
              <a:spAutoFit/>
            </a:bodyPr>
            <a:lstStyle/>
            <a:p>
              <a:pPr>
                <a:lnSpc>
                  <a:spcPts val="1300"/>
                </a:lnSpc>
              </a:pPr>
              <a:r>
                <a:rPr lang="en-US" sz="1000" b="1">
                  <a:latin typeface="Open Sans SemiBold" panose="020B0606030504020204" pitchFamily="34" charset="0"/>
                  <a:ea typeface="Open Sans SemiBold" panose="020B0606030504020204" pitchFamily="34" charset="0"/>
                  <a:cs typeface="Open Sans SemiBold" panose="020B0606030504020204" pitchFamily="34" charset="0"/>
                </a:rPr>
                <a:t>MuleSoft Developer</a:t>
              </a:r>
            </a:p>
          </p:txBody>
        </p:sp>
        <p:sp>
          <p:nvSpPr>
            <p:cNvPr id="14" name="TextBox 110">
              <a:extLst>
                <a:ext uri="{FF2B5EF4-FFF2-40B4-BE49-F238E27FC236}">
                  <a16:creationId xmlns:a16="http://schemas.microsoft.com/office/drawing/2014/main" id="{342880C0-198E-F195-E11B-E2739D30FA5A}"/>
                </a:ext>
              </a:extLst>
            </p:cNvPr>
            <p:cNvSpPr txBox="1"/>
            <p:nvPr/>
          </p:nvSpPr>
          <p:spPr>
            <a:xfrm>
              <a:off x="2095034" y="876502"/>
              <a:ext cx="2796708" cy="324833"/>
            </a:xfrm>
            <a:prstGeom prst="rect">
              <a:avLst/>
            </a:prstGeom>
            <a:noFill/>
          </p:spPr>
          <p:txBody>
            <a:bodyPr wrap="square" lIns="0" tIns="0" rIns="0" bIns="0">
              <a:spAutoFit/>
            </a:bodyPr>
            <a:lstStyle/>
            <a:p>
              <a:pPr algn="r">
                <a:lnSpc>
                  <a:spcPts val="1300"/>
                </a:lnSpc>
              </a:pPr>
              <a:r>
                <a:rPr lang="en-US" sz="1000" b="1">
                  <a:latin typeface="Open Sans SemiBold" panose="020B0606030504020204" pitchFamily="34" charset="0"/>
                  <a:ea typeface="Open Sans SemiBold" panose="020B0606030504020204" pitchFamily="34" charset="0"/>
                  <a:cs typeface="Open Sans SemiBold" panose="020B0606030504020204" pitchFamily="34" charset="0"/>
                </a:rPr>
                <a:t>Paris 2024 - Olympic and Paralympic Games Organising Committee</a:t>
              </a:r>
            </a:p>
          </p:txBody>
        </p:sp>
      </p:grpSp>
      <p:grpSp>
        <p:nvGrpSpPr>
          <p:cNvPr id="15" name="Group 111">
            <a:extLst>
              <a:ext uri="{FF2B5EF4-FFF2-40B4-BE49-F238E27FC236}">
                <a16:creationId xmlns:a16="http://schemas.microsoft.com/office/drawing/2014/main" id="{7E961A5C-799D-7709-27AB-826BF5F76D94}"/>
              </a:ext>
            </a:extLst>
          </p:cNvPr>
          <p:cNvGrpSpPr/>
          <p:nvPr/>
        </p:nvGrpSpPr>
        <p:grpSpPr>
          <a:xfrm>
            <a:off x="743106" y="4926688"/>
            <a:ext cx="4206697" cy="1033582"/>
            <a:chOff x="685045" y="2267384"/>
            <a:chExt cx="4206697" cy="1033582"/>
          </a:xfrm>
        </p:grpSpPr>
        <p:sp>
          <p:nvSpPr>
            <p:cNvPr id="16" name="TextBox 112">
              <a:extLst>
                <a:ext uri="{FF2B5EF4-FFF2-40B4-BE49-F238E27FC236}">
                  <a16:creationId xmlns:a16="http://schemas.microsoft.com/office/drawing/2014/main" id="{43FA036C-C8DB-93B1-89A4-1F74F2C3DDB8}"/>
                </a:ext>
              </a:extLst>
            </p:cNvPr>
            <p:cNvSpPr txBox="1"/>
            <p:nvPr/>
          </p:nvSpPr>
          <p:spPr>
            <a:xfrm>
              <a:off x="685047" y="2267384"/>
              <a:ext cx="3211804" cy="151516"/>
            </a:xfrm>
            <a:prstGeom prst="rect">
              <a:avLst/>
            </a:prstGeom>
            <a:noFill/>
          </p:spPr>
          <p:txBody>
            <a:bodyPr wrap="square" lIns="0" tIns="0" rIns="0" bIns="0" anchor="b">
              <a:spAutoFit/>
            </a:bodyPr>
            <a:lstStyle/>
            <a:p>
              <a:pPr>
                <a:lnSpc>
                  <a:spcPts val="1300"/>
                </a:lnSpc>
              </a:pPr>
              <a:r>
                <a:rPr lang="en-US" sz="800" dirty="0">
                  <a:ea typeface="Open Sans SemiBold" panose="020B0606030504020204" pitchFamily="34" charset="0"/>
                  <a:cs typeface="Open Sans SemiBold" panose="020B0606030504020204" pitchFamily="34" charset="0"/>
                </a:rPr>
                <a:t>Build the Games Information system</a:t>
              </a:r>
            </a:p>
          </p:txBody>
        </p:sp>
        <p:sp>
          <p:nvSpPr>
            <p:cNvPr id="17" name="Rounded Rectangle 113">
              <a:extLst>
                <a:ext uri="{FF2B5EF4-FFF2-40B4-BE49-F238E27FC236}">
                  <a16:creationId xmlns:a16="http://schemas.microsoft.com/office/drawing/2014/main" id="{15219F02-5703-2AFC-8C4E-0C0BBE5439F5}"/>
                </a:ext>
              </a:extLst>
            </p:cNvPr>
            <p:cNvSpPr/>
            <p:nvPr/>
          </p:nvSpPr>
          <p:spPr>
            <a:xfrm>
              <a:off x="685046" y="3107818"/>
              <a:ext cx="1625868" cy="1870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#API Management CloudHub 2.0 &amp; RTF</a:t>
              </a:r>
            </a:p>
          </p:txBody>
        </p:sp>
        <p:sp>
          <p:nvSpPr>
            <p:cNvPr id="18" name="Rounded Rectangle 114">
              <a:extLst>
                <a:ext uri="{FF2B5EF4-FFF2-40B4-BE49-F238E27FC236}">
                  <a16:creationId xmlns:a16="http://schemas.microsoft.com/office/drawing/2014/main" id="{80A29524-CA0B-A7AA-180B-7484EB61F18A}"/>
                </a:ext>
              </a:extLst>
            </p:cNvPr>
            <p:cNvSpPr/>
            <p:nvPr/>
          </p:nvSpPr>
          <p:spPr>
            <a:xfrm>
              <a:off x="2334361" y="3107818"/>
              <a:ext cx="1088968"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#DataWeave code</a:t>
              </a:r>
            </a:p>
          </p:txBody>
        </p:sp>
        <p:sp>
          <p:nvSpPr>
            <p:cNvPr id="19" name="TextBox 115">
              <a:extLst>
                <a:ext uri="{FF2B5EF4-FFF2-40B4-BE49-F238E27FC236}">
                  <a16:creationId xmlns:a16="http://schemas.microsoft.com/office/drawing/2014/main" id="{8AAF32E2-63DA-3B49-BFA2-7AAFC02BDD3E}"/>
                </a:ext>
              </a:extLst>
            </p:cNvPr>
            <p:cNvSpPr txBox="1"/>
            <p:nvPr/>
          </p:nvSpPr>
          <p:spPr>
            <a:xfrm>
              <a:off x="685045" y="2508519"/>
              <a:ext cx="3419697" cy="369332"/>
            </a:xfrm>
            <a:prstGeom prst="rect">
              <a:avLst/>
            </a:prstGeom>
            <a:noFill/>
          </p:spPr>
          <p:txBody>
            <a:bodyPr wrap="square" lIns="0" tIns="0" rIns="0" bIns="0">
              <a:spAutoFit/>
            </a:bodyPr>
            <a:lstStyle/>
            <a:p>
              <a:r>
                <a:rPr lang="en-US" sz="800" dirty="0">
                  <a:latin typeface="Open Sans Light" panose="020B0306030504020204" pitchFamily="34" charset="0"/>
                  <a:ea typeface="Open Sans Light" panose="020B0306030504020204" pitchFamily="34" charset="0"/>
                  <a:cs typeface="Open Sans Light" panose="020B0306030504020204" pitchFamily="34" charset="0"/>
                </a:rPr>
                <a:t>Design, deliver, test and support the information system applications used by the OCOG, the Olympic and Paralympic Games and the wider ecosystem of stakeholders</a:t>
              </a:r>
            </a:p>
          </p:txBody>
        </p:sp>
        <p:sp>
          <p:nvSpPr>
            <p:cNvPr id="20" name="Rounded Rectangle 116">
              <a:extLst>
                <a:ext uri="{FF2B5EF4-FFF2-40B4-BE49-F238E27FC236}">
                  <a16:creationId xmlns:a16="http://schemas.microsoft.com/office/drawing/2014/main" id="{FCC1795F-0CC0-8CBA-4A83-473CB386504C}"/>
                </a:ext>
              </a:extLst>
            </p:cNvPr>
            <p:cNvSpPr/>
            <p:nvPr/>
          </p:nvSpPr>
          <p:spPr>
            <a:xfrm>
              <a:off x="3467862" y="3107818"/>
              <a:ext cx="1278710" cy="187021"/>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#Munit &amp; Performance tests</a:t>
              </a:r>
            </a:p>
          </p:txBody>
        </p:sp>
        <p:sp>
          <p:nvSpPr>
            <p:cNvPr id="21" name="TextBox 117">
              <a:extLst>
                <a:ext uri="{FF2B5EF4-FFF2-40B4-BE49-F238E27FC236}">
                  <a16:creationId xmlns:a16="http://schemas.microsoft.com/office/drawing/2014/main" id="{01D68FC6-596A-CE2D-E932-38C7BEBB99F4}"/>
                </a:ext>
              </a:extLst>
            </p:cNvPr>
            <p:cNvSpPr txBox="1"/>
            <p:nvPr/>
          </p:nvSpPr>
          <p:spPr>
            <a:xfrm>
              <a:off x="4171742" y="2267384"/>
              <a:ext cx="720000" cy="151516"/>
            </a:xfrm>
            <a:prstGeom prst="rect">
              <a:avLst/>
            </a:prstGeom>
            <a:noFill/>
          </p:spPr>
          <p:txBody>
            <a:bodyPr wrap="square" lIns="0" tIns="0" rIns="0" bIns="0" anchor="b">
              <a:spAutoFit/>
            </a:bodyPr>
            <a:lstStyle/>
            <a:p>
              <a:pPr algn="r">
                <a:lnSpc>
                  <a:spcPts val="1300"/>
                </a:lnSpc>
              </a:pPr>
              <a:r>
                <a:rPr lang="en-US" sz="800" dirty="0">
                  <a:ea typeface="Open Sans SemiBold" panose="020B0606030504020204" pitchFamily="34" charset="0"/>
                  <a:cs typeface="Open Sans SemiBold" panose="020B0606030504020204" pitchFamily="34" charset="0"/>
                </a:rPr>
                <a:t>1 year 9 months</a:t>
              </a:r>
            </a:p>
          </p:txBody>
        </p:sp>
      </p:grpSp>
      <p:grpSp>
        <p:nvGrpSpPr>
          <p:cNvPr id="2" name="Group 140">
            <a:extLst>
              <a:ext uri="{FF2B5EF4-FFF2-40B4-BE49-F238E27FC236}">
                <a16:creationId xmlns:a16="http://schemas.microsoft.com/office/drawing/2014/main" id="{E0F9EC5E-BB76-A85B-1911-0B63ADFED77C}"/>
              </a:ext>
            </a:extLst>
          </p:cNvPr>
          <p:cNvGrpSpPr/>
          <p:nvPr/>
        </p:nvGrpSpPr>
        <p:grpSpPr>
          <a:xfrm>
            <a:off x="532256" y="2666446"/>
            <a:ext cx="4417547" cy="1201233"/>
            <a:chOff x="5922888" y="876245"/>
            <a:chExt cx="4417547" cy="1201233"/>
          </a:xfrm>
        </p:grpSpPr>
        <p:sp>
          <p:nvSpPr>
            <p:cNvPr id="3" name="TextBox 141">
              <a:extLst>
                <a:ext uri="{FF2B5EF4-FFF2-40B4-BE49-F238E27FC236}">
                  <a16:creationId xmlns:a16="http://schemas.microsoft.com/office/drawing/2014/main" id="{E6DD7F8D-EDAB-A6E0-B1AA-6907EC756F0D}"/>
                </a:ext>
              </a:extLst>
            </p:cNvPr>
            <p:cNvSpPr txBox="1"/>
            <p:nvPr/>
          </p:nvSpPr>
          <p:spPr>
            <a:xfrm>
              <a:off x="6125719" y="876502"/>
              <a:ext cx="3211804" cy="318229"/>
            </a:xfrm>
            <a:prstGeom prst="rect">
              <a:avLst/>
            </a:prstGeom>
            <a:noFill/>
          </p:spPr>
          <p:txBody>
            <a:bodyPr wrap="square" lIns="0" tIns="0" rIns="0" bIns="0">
              <a:spAutoFit/>
            </a:bodyPr>
            <a:lstStyle/>
            <a:p>
              <a:pPr>
                <a:lnSpc>
                  <a:spcPts val="1300"/>
                </a:lnSpc>
              </a:pPr>
              <a:r>
                <a:rPr lang="en-US" sz="1000" b="1" dirty="0">
                  <a:latin typeface="Open Sans SemiBold" panose="020B0606030504020204" pitchFamily="34" charset="0"/>
                  <a:ea typeface="Open Sans SemiBold" panose="020B0606030504020204" pitchFamily="34" charset="0"/>
                  <a:cs typeface="Open Sans SemiBold" panose="020B0606030504020204" pitchFamily="34" charset="0"/>
                </a:rPr>
                <a:t>MuleSoft Lead Developer</a:t>
              </a:r>
            </a:p>
            <a:p>
              <a:pPr>
                <a:lnSpc>
                  <a:spcPts val="1300"/>
                </a:lnSpc>
              </a:pPr>
              <a:r>
                <a:rPr lang="en-US" sz="800" dirty="0">
                  <a:ea typeface="Open Sans SemiBold" panose="020B0606030504020204" pitchFamily="34" charset="0"/>
                  <a:cs typeface="Open Sans SemiBold" panose="020B0606030504020204" pitchFamily="34" charset="0"/>
                </a:rPr>
                <a:t>Develop, integrate and support Mule Apps</a:t>
              </a:r>
            </a:p>
          </p:txBody>
        </p:sp>
        <p:sp>
          <p:nvSpPr>
            <p:cNvPr id="7" name="Rounded Rectangle 142">
              <a:extLst>
                <a:ext uri="{FF2B5EF4-FFF2-40B4-BE49-F238E27FC236}">
                  <a16:creationId xmlns:a16="http://schemas.microsoft.com/office/drawing/2014/main" id="{92659C86-07DA-D022-AA46-9976B6A4780D}"/>
                </a:ext>
              </a:extLst>
            </p:cNvPr>
            <p:cNvSpPr/>
            <p:nvPr/>
          </p:nvSpPr>
          <p:spPr>
            <a:xfrm>
              <a:off x="6133739" y="1883649"/>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t>
              </a:r>
              <a:r>
                <a:rPr lang="en-US" sz="700" dirty="0" err="1">
                  <a:solidFill>
                    <a:schemeClr val="tx1"/>
                  </a:solidFill>
                </a:rPr>
                <a:t>CloudHub</a:t>
              </a:r>
              <a:r>
                <a:rPr lang="en-US" sz="700" dirty="0">
                  <a:solidFill>
                    <a:schemeClr val="tx1"/>
                  </a:solidFill>
                </a:rPr>
                <a:t> 2.0</a:t>
              </a:r>
            </a:p>
          </p:txBody>
        </p:sp>
        <p:sp>
          <p:nvSpPr>
            <p:cNvPr id="9" name="Rounded Rectangle 143">
              <a:extLst>
                <a:ext uri="{FF2B5EF4-FFF2-40B4-BE49-F238E27FC236}">
                  <a16:creationId xmlns:a16="http://schemas.microsoft.com/office/drawing/2014/main" id="{0665F771-16E2-7EB6-BE5E-F9A496ABB480}"/>
                </a:ext>
              </a:extLst>
            </p:cNvPr>
            <p:cNvSpPr/>
            <p:nvPr/>
          </p:nvSpPr>
          <p:spPr>
            <a:xfrm>
              <a:off x="7139124" y="1883649"/>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#API Management</a:t>
              </a:r>
            </a:p>
          </p:txBody>
        </p:sp>
        <p:sp>
          <p:nvSpPr>
            <p:cNvPr id="10" name="TextBox 144">
              <a:extLst>
                <a:ext uri="{FF2B5EF4-FFF2-40B4-BE49-F238E27FC236}">
                  <a16:creationId xmlns:a16="http://schemas.microsoft.com/office/drawing/2014/main" id="{9BC973D5-1C22-007C-9D5C-F5ECB7034A75}"/>
                </a:ext>
              </a:extLst>
            </p:cNvPr>
            <p:cNvSpPr txBox="1"/>
            <p:nvPr/>
          </p:nvSpPr>
          <p:spPr>
            <a:xfrm>
              <a:off x="6133738" y="1284350"/>
              <a:ext cx="3419697" cy="369332"/>
            </a:xfrm>
            <a:prstGeom prst="rect">
              <a:avLst/>
            </a:prstGeom>
            <a:noFill/>
          </p:spPr>
          <p:txBody>
            <a:bodyPr wrap="square" lIns="0" tIns="0" rIns="0" bIns="0">
              <a:spAutoFit/>
            </a:bodyPr>
            <a:lstStyle/>
            <a:p>
              <a:r>
                <a:rPr lang="en-US" sz="800" dirty="0">
                  <a:latin typeface="Open Sans Light" panose="020B0306030504020204" pitchFamily="34" charset="0"/>
                  <a:ea typeface="Open Sans Light" panose="020B0306030504020204" pitchFamily="34" charset="0"/>
                  <a:cs typeface="Open Sans Light" panose="020B0306030504020204" pitchFamily="34" charset="0"/>
                </a:rPr>
                <a:t>Development &amp; deployment of APIs : Experience, Process &amp; System for UGII’s use cases</a:t>
              </a:r>
            </a:p>
            <a:p>
              <a:endParaRPr lang="en-US" sz="800" dirty="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1" name="Straight Connector 52">
              <a:extLst>
                <a:ext uri="{FF2B5EF4-FFF2-40B4-BE49-F238E27FC236}">
                  <a16:creationId xmlns:a16="http://schemas.microsoft.com/office/drawing/2014/main" id="{DED32ED3-CE34-C4E3-D14A-6AA62BA0C305}"/>
                </a:ext>
              </a:extLst>
            </p:cNvPr>
            <p:cNvCxnSpPr>
              <a:cxnSpLocks/>
            </p:cNvCxnSpPr>
            <p:nvPr/>
          </p:nvCxnSpPr>
          <p:spPr>
            <a:xfrm flipV="1">
              <a:off x="5982869" y="876246"/>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ounded Rectangle 146">
              <a:extLst>
                <a:ext uri="{FF2B5EF4-FFF2-40B4-BE49-F238E27FC236}">
                  <a16:creationId xmlns:a16="http://schemas.microsoft.com/office/drawing/2014/main" id="{DCD9E41D-BBEA-5A78-9D94-A44B432F3952}"/>
                </a:ext>
              </a:extLst>
            </p:cNvPr>
            <p:cNvSpPr/>
            <p:nvPr/>
          </p:nvSpPr>
          <p:spPr>
            <a:xfrm>
              <a:off x="8248144" y="1883649"/>
              <a:ext cx="879110"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#Azure DevOps</a:t>
              </a:r>
            </a:p>
          </p:txBody>
        </p:sp>
        <p:sp>
          <p:nvSpPr>
            <p:cNvPr id="23" name="TextBox 147">
              <a:extLst>
                <a:ext uri="{FF2B5EF4-FFF2-40B4-BE49-F238E27FC236}">
                  <a16:creationId xmlns:a16="http://schemas.microsoft.com/office/drawing/2014/main" id="{A55006A7-A53F-873E-E565-1C502141067D}"/>
                </a:ext>
              </a:extLst>
            </p:cNvPr>
            <p:cNvSpPr txBox="1"/>
            <p:nvPr/>
          </p:nvSpPr>
          <p:spPr>
            <a:xfrm>
              <a:off x="8708785" y="876502"/>
              <a:ext cx="1631650" cy="318229"/>
            </a:xfrm>
            <a:prstGeom prst="rect">
              <a:avLst/>
            </a:prstGeom>
            <a:noFill/>
          </p:spPr>
          <p:txBody>
            <a:bodyPr wrap="square" lIns="0" tIns="0" rIns="0" bIns="0">
              <a:spAutoFit/>
            </a:bodyPr>
            <a:lstStyle/>
            <a:p>
              <a:pPr algn="r">
                <a:lnSpc>
                  <a:spcPts val="1300"/>
                </a:lnSpc>
              </a:pPr>
              <a:r>
                <a:rPr lang="en-US" sz="1000" b="1" dirty="0">
                  <a:latin typeface="Open Sans SemiBold" panose="020B0606030504020204" pitchFamily="34" charset="0"/>
                  <a:ea typeface="Open Sans SemiBold" panose="020B0606030504020204" pitchFamily="34" charset="0"/>
                  <a:cs typeface="Open Sans SemiBold" panose="020B0606030504020204" pitchFamily="34" charset="0"/>
                </a:rPr>
                <a:t>UGI International</a:t>
              </a:r>
            </a:p>
            <a:p>
              <a:pPr algn="r">
                <a:lnSpc>
                  <a:spcPts val="1300"/>
                </a:lnSpc>
              </a:pPr>
              <a:r>
                <a:rPr lang="en-US" sz="800" dirty="0">
                  <a:ea typeface="Open Sans SemiBold" panose="020B0606030504020204" pitchFamily="34" charset="0"/>
                  <a:cs typeface="Open Sans SemiBold" panose="020B0606030504020204" pitchFamily="34" charset="0"/>
                </a:rPr>
                <a:t>2 months</a:t>
              </a:r>
            </a:p>
          </p:txBody>
        </p:sp>
        <p:sp>
          <p:nvSpPr>
            <p:cNvPr id="24" name="Oval 148">
              <a:extLst>
                <a:ext uri="{FF2B5EF4-FFF2-40B4-BE49-F238E27FC236}">
                  <a16:creationId xmlns:a16="http://schemas.microsoft.com/office/drawing/2014/main" id="{C8DE14D2-DC7C-7AC1-E0B0-EC96F0F8243E}"/>
                </a:ext>
              </a:extLst>
            </p:cNvPr>
            <p:cNvSpPr/>
            <p:nvPr/>
          </p:nvSpPr>
          <p:spPr bwMode="gray">
            <a:xfrm>
              <a:off x="5922888" y="876245"/>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US"/>
            </a:p>
          </p:txBody>
        </p:sp>
      </p:grpSp>
      <p:sp>
        <p:nvSpPr>
          <p:cNvPr id="25" name="Rounded Rectangle 146">
            <a:extLst>
              <a:ext uri="{FF2B5EF4-FFF2-40B4-BE49-F238E27FC236}">
                <a16:creationId xmlns:a16="http://schemas.microsoft.com/office/drawing/2014/main" id="{82203464-CC30-1A9E-A824-1EA46C1FBD67}"/>
              </a:ext>
            </a:extLst>
          </p:cNvPr>
          <p:cNvSpPr/>
          <p:nvPr/>
        </p:nvSpPr>
        <p:spPr>
          <a:xfrm>
            <a:off x="3809816" y="3668234"/>
            <a:ext cx="879110"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#Salesforce</a:t>
            </a:r>
          </a:p>
        </p:txBody>
      </p:sp>
      <p:grpSp>
        <p:nvGrpSpPr>
          <p:cNvPr id="26" name="Group 140">
            <a:extLst>
              <a:ext uri="{FF2B5EF4-FFF2-40B4-BE49-F238E27FC236}">
                <a16:creationId xmlns:a16="http://schemas.microsoft.com/office/drawing/2014/main" id="{58DBF229-0EBB-410D-D770-9695AF9CFEE1}"/>
              </a:ext>
            </a:extLst>
          </p:cNvPr>
          <p:cNvGrpSpPr/>
          <p:nvPr/>
        </p:nvGrpSpPr>
        <p:grpSpPr>
          <a:xfrm>
            <a:off x="6269335" y="912369"/>
            <a:ext cx="4417547" cy="1201233"/>
            <a:chOff x="5922888" y="876245"/>
            <a:chExt cx="4417547" cy="1201233"/>
          </a:xfrm>
        </p:grpSpPr>
        <p:sp>
          <p:nvSpPr>
            <p:cNvPr id="27" name="TextBox 141">
              <a:extLst>
                <a:ext uri="{FF2B5EF4-FFF2-40B4-BE49-F238E27FC236}">
                  <a16:creationId xmlns:a16="http://schemas.microsoft.com/office/drawing/2014/main" id="{36C7CB46-D025-8327-EE4F-9D7663DEC2C1}"/>
                </a:ext>
              </a:extLst>
            </p:cNvPr>
            <p:cNvSpPr txBox="1"/>
            <p:nvPr/>
          </p:nvSpPr>
          <p:spPr>
            <a:xfrm>
              <a:off x="6125719" y="876502"/>
              <a:ext cx="3211804" cy="318229"/>
            </a:xfrm>
            <a:prstGeom prst="rect">
              <a:avLst/>
            </a:prstGeom>
            <a:noFill/>
          </p:spPr>
          <p:txBody>
            <a:bodyPr wrap="square" lIns="0" tIns="0" rIns="0" bIns="0">
              <a:spAutoFit/>
            </a:bodyPr>
            <a:lstStyle/>
            <a:p>
              <a:pPr>
                <a:lnSpc>
                  <a:spcPts val="1300"/>
                </a:lnSpc>
              </a:pPr>
              <a:r>
                <a:rPr lang="en-US" sz="1000" b="1" dirty="0">
                  <a:latin typeface="Open Sans SemiBold" panose="020B0606030504020204" pitchFamily="34" charset="0"/>
                  <a:ea typeface="Open Sans SemiBold" panose="020B0606030504020204" pitchFamily="34" charset="0"/>
                  <a:cs typeface="Open Sans SemiBold" panose="020B0606030504020204" pitchFamily="34" charset="0"/>
                </a:rPr>
                <a:t>MuleSoft Developer</a:t>
              </a:r>
            </a:p>
            <a:p>
              <a:pPr>
                <a:lnSpc>
                  <a:spcPts val="1300"/>
                </a:lnSpc>
              </a:pPr>
              <a:r>
                <a:rPr lang="en-US" sz="800" dirty="0">
                  <a:ea typeface="Open Sans SemiBold" panose="020B0606030504020204" pitchFamily="34" charset="0"/>
                  <a:cs typeface="Open Sans SemiBold" panose="020B0606030504020204" pitchFamily="34" charset="0"/>
                </a:rPr>
                <a:t>APIs </a:t>
              </a:r>
              <a:r>
                <a:rPr lang="en-US" sz="800" dirty="0" err="1">
                  <a:ea typeface="Open Sans SemiBold" panose="020B0606030504020204" pitchFamily="34" charset="0"/>
                  <a:cs typeface="Open Sans SemiBold" panose="020B0606030504020204" pitchFamily="34" charset="0"/>
                </a:rPr>
                <a:t>developement</a:t>
              </a:r>
              <a:r>
                <a:rPr lang="en-US" sz="800" dirty="0">
                  <a:ea typeface="Open Sans SemiBold" panose="020B0606030504020204" pitchFamily="34" charset="0"/>
                  <a:cs typeface="Open Sans SemiBold" panose="020B0606030504020204" pitchFamily="34" charset="0"/>
                </a:rPr>
                <a:t> using API Led model</a:t>
              </a:r>
            </a:p>
          </p:txBody>
        </p:sp>
        <p:sp>
          <p:nvSpPr>
            <p:cNvPr id="28" name="Rounded Rectangle 142">
              <a:extLst>
                <a:ext uri="{FF2B5EF4-FFF2-40B4-BE49-F238E27FC236}">
                  <a16:creationId xmlns:a16="http://schemas.microsoft.com/office/drawing/2014/main" id="{A820F405-E0EB-5FF3-965A-0B3B8470BFED}"/>
                </a:ext>
              </a:extLst>
            </p:cNvPr>
            <p:cNvSpPr/>
            <p:nvPr/>
          </p:nvSpPr>
          <p:spPr>
            <a:xfrm>
              <a:off x="6133739" y="1883649"/>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#DataWeave code</a:t>
              </a:r>
            </a:p>
          </p:txBody>
        </p:sp>
        <p:sp>
          <p:nvSpPr>
            <p:cNvPr id="29" name="Rounded Rectangle 143">
              <a:extLst>
                <a:ext uri="{FF2B5EF4-FFF2-40B4-BE49-F238E27FC236}">
                  <a16:creationId xmlns:a16="http://schemas.microsoft.com/office/drawing/2014/main" id="{19034D39-EEC0-8D95-01CD-C2CD955383FF}"/>
                </a:ext>
              </a:extLst>
            </p:cNvPr>
            <p:cNvSpPr/>
            <p:nvPr/>
          </p:nvSpPr>
          <p:spPr>
            <a:xfrm>
              <a:off x="7139124" y="1883649"/>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#API Management</a:t>
              </a:r>
            </a:p>
          </p:txBody>
        </p:sp>
        <p:sp>
          <p:nvSpPr>
            <p:cNvPr id="30" name="TextBox 144">
              <a:extLst>
                <a:ext uri="{FF2B5EF4-FFF2-40B4-BE49-F238E27FC236}">
                  <a16:creationId xmlns:a16="http://schemas.microsoft.com/office/drawing/2014/main" id="{5ACC372B-0B7F-53E2-020F-C4F85F2D5C11}"/>
                </a:ext>
              </a:extLst>
            </p:cNvPr>
            <p:cNvSpPr txBox="1"/>
            <p:nvPr/>
          </p:nvSpPr>
          <p:spPr>
            <a:xfrm>
              <a:off x="6133738" y="1284350"/>
              <a:ext cx="3419697" cy="369332"/>
            </a:xfrm>
            <a:prstGeom prst="rect">
              <a:avLst/>
            </a:prstGeom>
            <a:noFill/>
          </p:spPr>
          <p:txBody>
            <a:bodyPr wrap="square" lIns="0" tIns="0" rIns="0" bIns="0">
              <a:spAutoFit/>
            </a:bodyPr>
            <a:lstStyle/>
            <a:p>
              <a:r>
                <a:rPr lang="en-US" sz="800">
                  <a:latin typeface="Open Sans Light" panose="020B0306030504020204" pitchFamily="34" charset="0"/>
                  <a:ea typeface="Open Sans Light" panose="020B0306030504020204" pitchFamily="34" charset="0"/>
                  <a:cs typeface="Open Sans Light" panose="020B0306030504020204" pitchFamily="34" charset="0"/>
                </a:rPr>
                <a:t>Development &amp; deployment of APIs : Experience, Process &amp; System for Boulanger’s use cases</a:t>
              </a:r>
            </a:p>
            <a:p>
              <a:endParaRPr lang="en-US" sz="80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31" name="Straight Connector 52">
              <a:extLst>
                <a:ext uri="{FF2B5EF4-FFF2-40B4-BE49-F238E27FC236}">
                  <a16:creationId xmlns:a16="http://schemas.microsoft.com/office/drawing/2014/main" id="{4DA54D16-8E78-1D7C-D5A6-FB81D86400D5}"/>
                </a:ext>
              </a:extLst>
            </p:cNvPr>
            <p:cNvCxnSpPr>
              <a:cxnSpLocks/>
            </p:cNvCxnSpPr>
            <p:nvPr/>
          </p:nvCxnSpPr>
          <p:spPr>
            <a:xfrm flipV="1">
              <a:off x="5982869" y="876246"/>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Rounded Rectangle 146">
              <a:extLst>
                <a:ext uri="{FF2B5EF4-FFF2-40B4-BE49-F238E27FC236}">
                  <a16:creationId xmlns:a16="http://schemas.microsoft.com/office/drawing/2014/main" id="{9E1B9A31-D797-7257-456B-7BD842ABDF11}"/>
                </a:ext>
              </a:extLst>
            </p:cNvPr>
            <p:cNvSpPr/>
            <p:nvPr/>
          </p:nvSpPr>
          <p:spPr>
            <a:xfrm>
              <a:off x="8248144" y="1883649"/>
              <a:ext cx="743007"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#GitLab CI/CD</a:t>
              </a:r>
            </a:p>
          </p:txBody>
        </p:sp>
        <p:sp>
          <p:nvSpPr>
            <p:cNvPr id="33" name="TextBox 147">
              <a:extLst>
                <a:ext uri="{FF2B5EF4-FFF2-40B4-BE49-F238E27FC236}">
                  <a16:creationId xmlns:a16="http://schemas.microsoft.com/office/drawing/2014/main" id="{2124B972-14D6-BCC4-E1D4-8F000455C69E}"/>
                </a:ext>
              </a:extLst>
            </p:cNvPr>
            <p:cNvSpPr txBox="1"/>
            <p:nvPr/>
          </p:nvSpPr>
          <p:spPr>
            <a:xfrm>
              <a:off x="8708785" y="876502"/>
              <a:ext cx="1631650" cy="318229"/>
            </a:xfrm>
            <a:prstGeom prst="rect">
              <a:avLst/>
            </a:prstGeom>
            <a:noFill/>
          </p:spPr>
          <p:txBody>
            <a:bodyPr wrap="square" lIns="0" tIns="0" rIns="0" bIns="0">
              <a:spAutoFit/>
            </a:bodyPr>
            <a:lstStyle/>
            <a:p>
              <a:pPr algn="r">
                <a:lnSpc>
                  <a:spcPts val="1300"/>
                </a:lnSpc>
              </a:pPr>
              <a:r>
                <a:rPr lang="en-US" sz="1000" b="1">
                  <a:latin typeface="Open Sans SemiBold" panose="020B0606030504020204" pitchFamily="34" charset="0"/>
                  <a:ea typeface="Open Sans SemiBold" panose="020B0606030504020204" pitchFamily="34" charset="0"/>
                  <a:cs typeface="Open Sans SemiBold" panose="020B0606030504020204" pitchFamily="34" charset="0"/>
                </a:rPr>
                <a:t>Boulanger</a:t>
              </a:r>
            </a:p>
            <a:p>
              <a:pPr algn="r">
                <a:lnSpc>
                  <a:spcPts val="1300"/>
                </a:lnSpc>
              </a:pPr>
              <a:r>
                <a:rPr lang="en-US" sz="800">
                  <a:ea typeface="Open Sans SemiBold" panose="020B0606030504020204" pitchFamily="34" charset="0"/>
                  <a:cs typeface="Open Sans SemiBold" panose="020B0606030504020204" pitchFamily="34" charset="0"/>
                </a:rPr>
                <a:t>2 months</a:t>
              </a:r>
            </a:p>
          </p:txBody>
        </p:sp>
        <p:sp>
          <p:nvSpPr>
            <p:cNvPr id="34" name="Oval 148">
              <a:extLst>
                <a:ext uri="{FF2B5EF4-FFF2-40B4-BE49-F238E27FC236}">
                  <a16:creationId xmlns:a16="http://schemas.microsoft.com/office/drawing/2014/main" id="{94FEDAB4-4FF7-4387-838D-FCF29E186DF2}"/>
                </a:ext>
              </a:extLst>
            </p:cNvPr>
            <p:cNvSpPr/>
            <p:nvPr/>
          </p:nvSpPr>
          <p:spPr bwMode="gray">
            <a:xfrm>
              <a:off x="5922888" y="876245"/>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US"/>
            </a:p>
          </p:txBody>
        </p:sp>
      </p:grpSp>
      <p:grpSp>
        <p:nvGrpSpPr>
          <p:cNvPr id="35" name="Group 140">
            <a:extLst>
              <a:ext uri="{FF2B5EF4-FFF2-40B4-BE49-F238E27FC236}">
                <a16:creationId xmlns:a16="http://schemas.microsoft.com/office/drawing/2014/main" id="{5735A9A8-C90C-734F-8BA0-2BB8757B585F}"/>
              </a:ext>
            </a:extLst>
          </p:cNvPr>
          <p:cNvGrpSpPr/>
          <p:nvPr/>
        </p:nvGrpSpPr>
        <p:grpSpPr>
          <a:xfrm>
            <a:off x="532256" y="957901"/>
            <a:ext cx="4417547" cy="1201233"/>
            <a:chOff x="5922888" y="876245"/>
            <a:chExt cx="4417547" cy="1201233"/>
          </a:xfrm>
        </p:grpSpPr>
        <p:sp>
          <p:nvSpPr>
            <p:cNvPr id="36" name="TextBox 141">
              <a:extLst>
                <a:ext uri="{FF2B5EF4-FFF2-40B4-BE49-F238E27FC236}">
                  <a16:creationId xmlns:a16="http://schemas.microsoft.com/office/drawing/2014/main" id="{ADC78FF0-6459-8246-8904-3F08E05193B4}"/>
                </a:ext>
              </a:extLst>
            </p:cNvPr>
            <p:cNvSpPr txBox="1"/>
            <p:nvPr/>
          </p:nvSpPr>
          <p:spPr>
            <a:xfrm>
              <a:off x="6125719" y="876502"/>
              <a:ext cx="3211804" cy="318229"/>
            </a:xfrm>
            <a:prstGeom prst="rect">
              <a:avLst/>
            </a:prstGeom>
            <a:noFill/>
          </p:spPr>
          <p:txBody>
            <a:bodyPr wrap="square" lIns="0" tIns="0" rIns="0" bIns="0">
              <a:spAutoFit/>
            </a:bodyPr>
            <a:lstStyle/>
            <a:p>
              <a:pPr>
                <a:lnSpc>
                  <a:spcPts val="1300"/>
                </a:lnSpc>
              </a:pPr>
              <a:r>
                <a:rPr lang="en-US" sz="1000" b="1" dirty="0">
                  <a:latin typeface="Open Sans SemiBold" panose="020B0606030504020204" pitchFamily="34" charset="0"/>
                  <a:ea typeface="Open Sans SemiBold" panose="020B0606030504020204" pitchFamily="34" charset="0"/>
                  <a:cs typeface="Open Sans SemiBold" panose="020B0606030504020204" pitchFamily="34" charset="0"/>
                </a:rPr>
                <a:t>MuleSoft Lead Developer</a:t>
              </a:r>
            </a:p>
            <a:p>
              <a:pPr>
                <a:lnSpc>
                  <a:spcPts val="1300"/>
                </a:lnSpc>
              </a:pPr>
              <a:r>
                <a:rPr lang="en-US" sz="800" dirty="0">
                  <a:ea typeface="Open Sans SemiBold" panose="020B0606030504020204" pitchFamily="34" charset="0"/>
                  <a:cs typeface="Open Sans SemiBold" panose="020B0606030504020204" pitchFamily="34" charset="0"/>
                </a:rPr>
                <a:t>Design, develop and integrate Mule Apps</a:t>
              </a:r>
            </a:p>
          </p:txBody>
        </p:sp>
        <p:sp>
          <p:nvSpPr>
            <p:cNvPr id="37" name="Rounded Rectangle 142">
              <a:extLst>
                <a:ext uri="{FF2B5EF4-FFF2-40B4-BE49-F238E27FC236}">
                  <a16:creationId xmlns:a16="http://schemas.microsoft.com/office/drawing/2014/main" id="{09FEAB0D-F288-6EB9-D021-52080A7674E8}"/>
                </a:ext>
              </a:extLst>
            </p:cNvPr>
            <p:cNvSpPr/>
            <p:nvPr/>
          </p:nvSpPr>
          <p:spPr>
            <a:xfrm>
              <a:off x="6133739" y="1883649"/>
              <a:ext cx="935041" cy="1931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t>
              </a:r>
              <a:r>
                <a:rPr lang="en-US" sz="700" dirty="0" err="1">
                  <a:solidFill>
                    <a:schemeClr val="tx1"/>
                  </a:solidFill>
                </a:rPr>
                <a:t>CloudHub</a:t>
              </a:r>
              <a:r>
                <a:rPr lang="en-US" sz="700" dirty="0">
                  <a:solidFill>
                    <a:schemeClr val="tx1"/>
                  </a:solidFill>
                </a:rPr>
                <a:t> 2.0</a:t>
              </a:r>
            </a:p>
          </p:txBody>
        </p:sp>
        <p:sp>
          <p:nvSpPr>
            <p:cNvPr id="38" name="Rounded Rectangle 143">
              <a:extLst>
                <a:ext uri="{FF2B5EF4-FFF2-40B4-BE49-F238E27FC236}">
                  <a16:creationId xmlns:a16="http://schemas.microsoft.com/office/drawing/2014/main" id="{DFF31FED-0964-CDE7-8944-EB702BACDC05}"/>
                </a:ext>
              </a:extLst>
            </p:cNvPr>
            <p:cNvSpPr/>
            <p:nvPr/>
          </p:nvSpPr>
          <p:spPr>
            <a:xfrm>
              <a:off x="7139124" y="1883649"/>
              <a:ext cx="1035826" cy="19314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t>
              </a:r>
              <a:r>
                <a:rPr lang="fr-FR" sz="700" dirty="0" err="1">
                  <a:solidFill>
                    <a:schemeClr val="tx1"/>
                  </a:solidFill>
                </a:rPr>
                <a:t>CloudHub</a:t>
              </a:r>
              <a:r>
                <a:rPr lang="fr-FR" sz="700" dirty="0">
                  <a:solidFill>
                    <a:schemeClr val="tx1"/>
                  </a:solidFill>
                </a:rPr>
                <a:t> 2.0 </a:t>
              </a:r>
              <a:endParaRPr lang="en-US" sz="700" dirty="0">
                <a:solidFill>
                  <a:schemeClr val="tx1"/>
                </a:solidFill>
              </a:endParaRPr>
            </a:p>
          </p:txBody>
        </p:sp>
        <p:sp>
          <p:nvSpPr>
            <p:cNvPr id="39" name="TextBox 144">
              <a:extLst>
                <a:ext uri="{FF2B5EF4-FFF2-40B4-BE49-F238E27FC236}">
                  <a16:creationId xmlns:a16="http://schemas.microsoft.com/office/drawing/2014/main" id="{2E09C6A0-BCD4-B03B-0000-8DA814C11309}"/>
                </a:ext>
              </a:extLst>
            </p:cNvPr>
            <p:cNvSpPr txBox="1"/>
            <p:nvPr/>
          </p:nvSpPr>
          <p:spPr>
            <a:xfrm>
              <a:off x="6133738" y="1284350"/>
              <a:ext cx="3419697" cy="615553"/>
            </a:xfrm>
            <a:prstGeom prst="rect">
              <a:avLst/>
            </a:prstGeom>
            <a:noFill/>
          </p:spPr>
          <p:txBody>
            <a:bodyPr wrap="square" lIns="0" tIns="0" rIns="0" bIns="0">
              <a:spAutoFit/>
            </a:bodyPr>
            <a:lstStyle/>
            <a:p>
              <a:r>
                <a:rPr lang="en-US" sz="800" dirty="0">
                  <a:latin typeface="Open Sans Light" panose="020B0306030504020204" pitchFamily="34" charset="0"/>
                  <a:ea typeface="Open Sans Light" panose="020B0306030504020204" pitchFamily="34" charset="0"/>
                  <a:cs typeface="Open Sans Light" panose="020B0306030504020204" pitchFamily="34" charset="0"/>
                </a:rPr>
                <a:t>Design, development &amp; deployment of APIs : Experience, Process &amp; System for ProductLife Group’s use cases</a:t>
              </a:r>
            </a:p>
            <a:p>
              <a:endParaRPr lang="en-US" sz="800" dirty="0">
                <a:latin typeface="Open Sans Light" panose="020B0306030504020204" pitchFamily="34" charset="0"/>
                <a:ea typeface="Open Sans Light" panose="020B0306030504020204" pitchFamily="34" charset="0"/>
                <a:cs typeface="Open Sans Light" panose="020B0306030504020204" pitchFamily="34" charset="0"/>
              </a:endParaRPr>
            </a:p>
            <a:p>
              <a:r>
                <a:rPr lang="en-US" sz="800" dirty="0">
                  <a:latin typeface="Open Sans Light" panose="020B0306030504020204" pitchFamily="34" charset="0"/>
                  <a:ea typeface="Open Sans Light" panose="020B0306030504020204" pitchFamily="34" charset="0"/>
                  <a:cs typeface="Open Sans Light" panose="020B0306030504020204" pitchFamily="34" charset="0"/>
                </a:rPr>
                <a:t>Migration of Mule Apps to Java17 &amp; Integrations with NetSuite ERP</a:t>
              </a:r>
            </a:p>
            <a:p>
              <a:endParaRPr lang="en-US" sz="800" dirty="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40" name="Straight Connector 52">
              <a:extLst>
                <a:ext uri="{FF2B5EF4-FFF2-40B4-BE49-F238E27FC236}">
                  <a16:creationId xmlns:a16="http://schemas.microsoft.com/office/drawing/2014/main" id="{8BF087BA-1C61-9123-9D97-835253F15A71}"/>
                </a:ext>
              </a:extLst>
            </p:cNvPr>
            <p:cNvCxnSpPr>
              <a:cxnSpLocks/>
            </p:cNvCxnSpPr>
            <p:nvPr/>
          </p:nvCxnSpPr>
          <p:spPr>
            <a:xfrm flipV="1">
              <a:off x="5982869" y="876246"/>
              <a:ext cx="0" cy="120123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Rounded Rectangle 146">
              <a:extLst>
                <a:ext uri="{FF2B5EF4-FFF2-40B4-BE49-F238E27FC236}">
                  <a16:creationId xmlns:a16="http://schemas.microsoft.com/office/drawing/2014/main" id="{09FBD3A2-9616-8CA9-EC43-D463320AC7AA}"/>
                </a:ext>
              </a:extLst>
            </p:cNvPr>
            <p:cNvSpPr/>
            <p:nvPr/>
          </p:nvSpPr>
          <p:spPr>
            <a:xfrm>
              <a:off x="8248144" y="1883649"/>
              <a:ext cx="879110"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#Azure DevOps</a:t>
              </a:r>
            </a:p>
          </p:txBody>
        </p:sp>
        <p:sp>
          <p:nvSpPr>
            <p:cNvPr id="42" name="TextBox 147">
              <a:extLst>
                <a:ext uri="{FF2B5EF4-FFF2-40B4-BE49-F238E27FC236}">
                  <a16:creationId xmlns:a16="http://schemas.microsoft.com/office/drawing/2014/main" id="{1F33BD29-FA80-EBE1-B07A-69ECE262AA95}"/>
                </a:ext>
              </a:extLst>
            </p:cNvPr>
            <p:cNvSpPr txBox="1"/>
            <p:nvPr/>
          </p:nvSpPr>
          <p:spPr>
            <a:xfrm>
              <a:off x="8708785" y="876502"/>
              <a:ext cx="1631650" cy="318870"/>
            </a:xfrm>
            <a:prstGeom prst="rect">
              <a:avLst/>
            </a:prstGeom>
            <a:noFill/>
          </p:spPr>
          <p:txBody>
            <a:bodyPr wrap="square" lIns="0" tIns="0" rIns="0" bIns="0">
              <a:spAutoFit/>
            </a:bodyPr>
            <a:lstStyle/>
            <a:p>
              <a:pPr algn="r">
                <a:lnSpc>
                  <a:spcPts val="1300"/>
                </a:lnSpc>
              </a:pPr>
              <a:r>
                <a:rPr lang="fr-FR" sz="1000" b="1" dirty="0" err="1">
                  <a:latin typeface="Open Sans SemiBold" panose="020B0606030504020204" pitchFamily="34" charset="0"/>
                  <a:ea typeface="Open Sans SemiBold" panose="020B0606030504020204" pitchFamily="34" charset="0"/>
                  <a:cs typeface="Open Sans SemiBold" panose="020B0606030504020204" pitchFamily="34" charset="0"/>
                </a:rPr>
                <a:t>ProductLife</a:t>
              </a:r>
              <a:r>
                <a:rPr lang="fr-FR" sz="1000" b="1" dirty="0">
                  <a:latin typeface="Open Sans SemiBold" panose="020B0606030504020204" pitchFamily="34" charset="0"/>
                  <a:ea typeface="Open Sans SemiBold" panose="020B0606030504020204" pitchFamily="34" charset="0"/>
                  <a:cs typeface="Open Sans SemiBold" panose="020B0606030504020204" pitchFamily="34" charset="0"/>
                </a:rPr>
                <a:t> Group</a:t>
              </a:r>
              <a:endParaRPr lang="en-US" sz="1000" b="1" dirty="0">
                <a:latin typeface="Open Sans SemiBold" panose="020B0606030504020204" pitchFamily="34" charset="0"/>
                <a:ea typeface="Open Sans SemiBold" panose="020B0606030504020204" pitchFamily="34" charset="0"/>
                <a:cs typeface="Open Sans SemiBold" panose="020B0606030504020204" pitchFamily="34" charset="0"/>
              </a:endParaRPr>
            </a:p>
            <a:p>
              <a:pPr algn="r">
                <a:lnSpc>
                  <a:spcPts val="1300"/>
                </a:lnSpc>
              </a:pPr>
              <a:r>
                <a:rPr lang="en-US" sz="800" dirty="0">
                  <a:ea typeface="Open Sans SemiBold" panose="020B0606030504020204" pitchFamily="34" charset="0"/>
                  <a:cs typeface="Open Sans SemiBold" panose="020B0606030504020204" pitchFamily="34" charset="0"/>
                </a:rPr>
                <a:t>8 months</a:t>
              </a:r>
            </a:p>
          </p:txBody>
        </p:sp>
        <p:sp>
          <p:nvSpPr>
            <p:cNvPr id="43" name="Oval 148">
              <a:extLst>
                <a:ext uri="{FF2B5EF4-FFF2-40B4-BE49-F238E27FC236}">
                  <a16:creationId xmlns:a16="http://schemas.microsoft.com/office/drawing/2014/main" id="{C247D881-EA0F-BFDC-D2C9-F825E8BCCBB9}"/>
                </a:ext>
              </a:extLst>
            </p:cNvPr>
            <p:cNvSpPr/>
            <p:nvPr/>
          </p:nvSpPr>
          <p:spPr bwMode="gray">
            <a:xfrm>
              <a:off x="5922888" y="876245"/>
              <a:ext cx="119961" cy="119961"/>
            </a:xfrm>
            <a:prstGeom prst="ellipse">
              <a:avLst/>
            </a:prstGeom>
            <a:solidFill>
              <a:schemeClr val="accent3"/>
            </a:solidFill>
            <a:ln w="19050" algn="ctr">
              <a:noFill/>
              <a:miter lim="800000"/>
              <a:headEnd/>
              <a:tailEnd/>
            </a:ln>
          </p:spPr>
          <p:txBody>
            <a:bodyPr wrap="square" lIns="0" tIns="0" rIns="0" bIns="0" rtlCol="0" anchor="ctr"/>
            <a:lstStyle/>
            <a:p>
              <a:pPr algn="ctr"/>
              <a:endParaRPr lang="en-US"/>
            </a:p>
          </p:txBody>
        </p:sp>
      </p:grpSp>
      <p:sp>
        <p:nvSpPr>
          <p:cNvPr id="53" name="Rounded Rectangle 146">
            <a:extLst>
              <a:ext uri="{FF2B5EF4-FFF2-40B4-BE49-F238E27FC236}">
                <a16:creationId xmlns:a16="http://schemas.microsoft.com/office/drawing/2014/main" id="{88850197-B8F3-262B-9005-89A06305D7AF}"/>
              </a:ext>
            </a:extLst>
          </p:cNvPr>
          <p:cNvSpPr/>
          <p:nvPr/>
        </p:nvSpPr>
        <p:spPr>
          <a:xfrm>
            <a:off x="3872667" y="1968664"/>
            <a:ext cx="879110" cy="1931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#Salesforce</a:t>
            </a:r>
          </a:p>
        </p:txBody>
      </p:sp>
    </p:spTree>
    <p:extLst>
      <p:ext uri="{BB962C8B-B14F-4D97-AF65-F5344CB8AC3E}">
        <p14:creationId xmlns:p14="http://schemas.microsoft.com/office/powerpoint/2010/main" val="1412357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6BBFE413087D428BD8EE5DF5897624" ma:contentTypeVersion="28" ma:contentTypeDescription="Crée un document." ma:contentTypeScope="" ma:versionID="05002a5fc6a162fda4fd06f508c8d3ca">
  <xsd:schema xmlns:xsd="http://www.w3.org/2001/XMLSchema" xmlns:xs="http://www.w3.org/2001/XMLSchema" xmlns:p="http://schemas.microsoft.com/office/2006/metadata/properties" xmlns:ns2="219e5075-d7ea-4fe6-b14c-de5cb05f7e51" xmlns:ns3="fa55e756-efee-41bb-bac7-0c7530776ae9" targetNamespace="http://schemas.microsoft.com/office/2006/metadata/properties" ma:root="true" ma:fieldsID="933c307506e40043f25da5447f1b584a" ns2:_="" ns3:_="">
    <xsd:import namespace="219e5075-d7ea-4fe6-b14c-de5cb05f7e51"/>
    <xsd:import namespace="fa55e756-efee-41bb-bac7-0c7530776ae9"/>
    <xsd:element name="properties">
      <xsd:complexType>
        <xsd:sequence>
          <xsd:element name="documentManagement">
            <xsd:complexType>
              <xsd:all>
                <xsd:element ref="ns2:Tribu" minOccurs="0"/>
                <xsd:element ref="ns2:Secteur_x0020_d_x0027_activit_x00e9_" minOccurs="0"/>
                <xsd:element ref="ns2:Methode" minOccurs="0"/>
                <xsd:element ref="ns2:MediaServiceMetadata" minOccurs="0"/>
                <xsd:element ref="ns2:MediaServiceFastMetadata" minOccurs="0"/>
                <xsd:element ref="ns2:MediaServiceAutoTags" minOccurs="0"/>
                <xsd:element ref="ns2:MediaServiceDateTaken"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9e5075-d7ea-4fe6-b14c-de5cb05f7e51" elementFormDefault="qualified">
    <xsd:import namespace="http://schemas.microsoft.com/office/2006/documentManagement/types"/>
    <xsd:import namespace="http://schemas.microsoft.com/office/infopath/2007/PartnerControls"/>
    <xsd:element name="Tribu" ma:index="2" nillable="true" ma:displayName="Tribu" ma:format="Dropdown" ma:internalName="Tribu">
      <xsd:simpleType>
        <xsd:restriction base="dms:Choice">
          <xsd:enumeration value="C&amp;AD - Customer &amp; Applied Design"/>
          <xsd:enumeration value="AM&amp;C - Advertising, Marketing &amp; Commerce"/>
          <xsd:enumeration value="DC - Digital Customer"/>
        </xsd:restriction>
      </xsd:simpleType>
    </xsd:element>
    <xsd:element name="Secteur_x0020_d_x0027_activit_x00e9_" ma:index="3" nillable="true" ma:displayName="Secteur d'activité" ma:format="Dropdown" ma:internalName="Secteur_x0020_d_x0027_activit_x00e9_">
      <xsd:complexType>
        <xsd:complexContent>
          <xsd:extension base="dms:MultiChoice">
            <xsd:sequence>
              <xsd:element name="Value" maxOccurs="unbounded" minOccurs="0" nillable="true">
                <xsd:simpleType>
                  <xsd:restriction base="dms:Choice">
                    <xsd:enumeration value="Consumer"/>
                    <xsd:enumeration value="ER&amp;I"/>
                    <xsd:enumeration value="FSI"/>
                    <xsd:enumeration value="GPS"/>
                    <xsd:enumeration value="LSHC"/>
                    <xsd:enumeration value="TMT"/>
                  </xsd:restriction>
                </xsd:simpleType>
              </xsd:element>
            </xsd:sequence>
          </xsd:extension>
        </xsd:complexContent>
      </xsd:complexType>
    </xsd:element>
    <xsd:element name="Methode" ma:index="4" nillable="true" ma:displayName="Keywords" ma:internalName="Methode">
      <xsd:simpleType>
        <xsd:restriction base="dms:Note">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Balises d’image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55e756-efee-41bb-bac7-0c7530776ae9" elementFormDefault="qualified">
    <xsd:import namespace="http://schemas.microsoft.com/office/2006/documentManagement/types"/>
    <xsd:import namespace="http://schemas.microsoft.com/office/infopath/2007/PartnerControls"/>
    <xsd:element name="SharedWithUsers" ma:index="14"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Partagé avec détails" ma:internalName="SharedWithDetails" ma:readOnly="true">
      <xsd:simpleType>
        <xsd:restriction base="dms:Note">
          <xsd:maxLength value="255"/>
        </xsd:restriction>
      </xsd:simpleType>
    </xsd:element>
    <xsd:element name="TaxCatchAll" ma:index="24" nillable="true" ma:displayName="Taxonomy Catch All Column" ma:hidden="true" ma:list="{8bf2912b-fa46-4289-8967-b88efa97b0eb}" ma:internalName="TaxCatchAll" ma:showField="CatchAllData" ma:web="fa55e756-efee-41bb-bac7-0c7530776a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8"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cteur_x0020_d_x0027_activit_x00e9_ xmlns="219e5075-d7ea-4fe6-b14c-de5cb05f7e51" xsi:nil="true"/>
    <Tribu xmlns="219e5075-d7ea-4fe6-b14c-de5cb05f7e51" xsi:nil="true"/>
    <Methode xmlns="219e5075-d7ea-4fe6-b14c-de5cb05f7e51" xsi:nil="true"/>
    <TaxCatchAll xmlns="fa55e756-efee-41bb-bac7-0c7530776ae9" xsi:nil="true"/>
    <lcf76f155ced4ddcb4097134ff3c332f xmlns="219e5075-d7ea-4fe6-b14c-de5cb05f7e5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9EE7734-8CD2-461D-8422-DF56AA6BB6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9e5075-d7ea-4fe6-b14c-de5cb05f7e51"/>
    <ds:schemaRef ds:uri="fa55e756-efee-41bb-bac7-0c7530776a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542E1B-C031-4380-AF80-C8AA7DDA359E}">
  <ds:schemaRefs>
    <ds:schemaRef ds:uri="http://schemas.microsoft.com/sharepoint/v3/contenttype/forms"/>
  </ds:schemaRefs>
</ds:datastoreItem>
</file>

<file path=customXml/itemProps3.xml><?xml version="1.0" encoding="utf-8"?>
<ds:datastoreItem xmlns:ds="http://schemas.openxmlformats.org/officeDocument/2006/customXml" ds:itemID="{AAED2E92-128B-43F9-A7AD-787039F6B7EA}">
  <ds:schemaRefs>
    <ds:schemaRef ds:uri="219e5075-d7ea-4fe6-b14c-de5cb05f7e51"/>
    <ds:schemaRef ds:uri="fa55e756-efee-41bb-bac7-0c7530776ae9"/>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589256c7-9946-44df-b379-51beb93fd2d9}" enabled="1" method="Privilege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81</TotalTime>
  <Words>1075</Words>
  <Application>Microsoft Macintosh PowerPoint</Application>
  <PresentationFormat>Grand écran</PresentationFormat>
  <Paragraphs>171</Paragraphs>
  <Slides>4</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4</vt:i4>
      </vt:variant>
    </vt:vector>
  </HeadingPairs>
  <TitlesOfParts>
    <vt:vector size="14" baseType="lpstr">
      <vt:lpstr>Arial</vt:lpstr>
      <vt:lpstr>Calibri</vt:lpstr>
      <vt:lpstr>Calibri Light</vt:lpstr>
      <vt:lpstr>Open Sans</vt:lpstr>
      <vt:lpstr>Open Sans Bold</vt:lpstr>
      <vt:lpstr>Open Sans Extrabold</vt:lpstr>
      <vt:lpstr>Open Sans Light</vt:lpstr>
      <vt:lpstr>Open Sans SemiBold</vt:lpstr>
      <vt:lpstr>Verdana</vt:lpstr>
      <vt:lpstr>Office Theme</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Ezahraoui, Jad</dc:creator>
  <cp:lastModifiedBy>EZAHRAOUI Jad</cp:lastModifiedBy>
  <cp:revision>9</cp:revision>
  <dcterms:created xsi:type="dcterms:W3CDTF">2022-05-16T09:54:56Z</dcterms:created>
  <dcterms:modified xsi:type="dcterms:W3CDTF">2025-08-28T13:25:47Z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89256c7-9946-44df-b379-51beb93fd2d9_Enabled">
    <vt:lpwstr>true</vt:lpwstr>
  </property>
  <property fmtid="{D5CDD505-2E9C-101B-9397-08002B2CF9AE}" pid="3" name="MSIP_Label_589256c7-9946-44df-b379-51beb93fd2d9_SetDate">
    <vt:lpwstr>2022-05-16T09:55:09Z</vt:lpwstr>
  </property>
  <property fmtid="{D5CDD505-2E9C-101B-9397-08002B2CF9AE}" pid="4" name="MSIP_Label_589256c7-9946-44df-b379-51beb93fd2d9_Method">
    <vt:lpwstr>Privileged</vt:lpwstr>
  </property>
  <property fmtid="{D5CDD505-2E9C-101B-9397-08002B2CF9AE}" pid="5" name="MSIP_Label_589256c7-9946-44df-b379-51beb93fd2d9_Name">
    <vt:lpwstr>589256c7-9946-44df-b379-51beb93fd2d9</vt:lpwstr>
  </property>
  <property fmtid="{D5CDD505-2E9C-101B-9397-08002B2CF9AE}" pid="6" name="MSIP_Label_589256c7-9946-44df-b379-51beb93fd2d9_SiteId">
    <vt:lpwstr>36da45f1-dd2c-4d1f-af13-5abe46b99921</vt:lpwstr>
  </property>
  <property fmtid="{D5CDD505-2E9C-101B-9397-08002B2CF9AE}" pid="7" name="MSIP_Label_589256c7-9946-44df-b379-51beb93fd2d9_ActionId">
    <vt:lpwstr>8d12db5f-6441-4180-b4eb-b64d57c14b66</vt:lpwstr>
  </property>
  <property fmtid="{D5CDD505-2E9C-101B-9397-08002B2CF9AE}" pid="8" name="MSIP_Label_589256c7-9946-44df-b379-51beb93fd2d9_ContentBits">
    <vt:lpwstr>0</vt:lpwstr>
  </property>
  <property fmtid="{D5CDD505-2E9C-101B-9397-08002B2CF9AE}" pid="9" name="ContentTypeId">
    <vt:lpwstr>0x010100226BBFE413087D428BD8EE5DF5897624</vt:lpwstr>
  </property>
  <property fmtid="{D5CDD505-2E9C-101B-9397-08002B2CF9AE}" pid="10" name="MediaServiceImageTags">
    <vt:lpwstr/>
  </property>
</Properties>
</file>